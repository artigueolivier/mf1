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7"/>
    <p:restoredTop sz="94691"/>
  </p:normalViewPr>
  <p:slideViewPr>
    <p:cSldViewPr snapToGrid="0">
      <p:cViewPr>
        <p:scale>
          <a:sx n="145" d="100"/>
          <a:sy n="145" d="100"/>
        </p:scale>
        <p:origin x="2152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BD1E2-0DF6-D7D2-E928-B83CAF9B1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1DC6CF-6A95-C630-B153-6E3A6F287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7E7FC6-98F3-23D2-1FDB-C1B5C77E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05F4B4-F80C-D5A6-DEE5-DB4BE9B8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C9273B-C749-8967-DEDC-FA27ADE3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26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F4DA2B-DEDF-696D-C974-99210CA8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9C030E-46DA-D6A3-95AF-B03862897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D3A2D3-63D1-E29C-28F4-9E2E9E3D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873A61-D3FC-2D08-7D3C-1D335A52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F67205-D965-88C5-9E7B-177B7F73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90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02AB6-702A-98B5-CDFD-05FB4503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BBDA96-958D-5F26-39C7-7650A7805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72B52D-1D63-3D11-9EBD-BEE25465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0DAC7B-2C31-31C5-285C-FABF035C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DC41B6-8463-7A4A-57E5-F768B6AE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07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FE710D-1EEC-CC5F-F352-CF002617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5E2251-8FC3-07BA-4DAF-AA4794677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3BC843-39CD-D6EC-4B07-C359C4B8B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369B48-D349-FDFD-6838-B4463487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BE736F-CE53-948F-538A-E1373CEA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F24322-D185-F543-F1D7-6969D90B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25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51375-9486-0FD5-7A1B-2E569D396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D013F7-B1A0-7345-B084-27F47CC90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51D70B-4A58-273A-BB89-CDC30F000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D1CC913-ED47-55C0-3785-05CA3E3BD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434955-14D5-CF7E-3728-7F081503B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B42FA32-9427-8601-FD41-AA3D75C0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E22980-4E3B-55A5-9C4F-32428D58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A4F9BD8-150D-A39C-3B48-C876A4B5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3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6BDE7-5283-CEF5-613A-756D603A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803AB9-0F2E-5E5B-4A6C-83D6F8FE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1CFDA9-AD98-B4A7-674F-8EC16A4A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9B6553-46A6-E6BB-78D0-6F31B6E0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88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8618D13-B4D9-A6AF-AF13-AD6C3B09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34FA7A-2F4B-20F7-5F78-156E072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36C1D7-A0E8-69ED-5B12-A9C6627F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0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512922-0C37-AF46-77D9-14BCE82F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FC756A-5CFA-15A5-1BCE-687FA7A58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E1581D-A14D-8695-C1FA-B8A6D761A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C332CE-EFF2-86D6-E5D0-AF0DAEC3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E3888E-7656-4AC8-B04E-39EECF6A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7E0450-4436-45F5-B2BF-4C387052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35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38F221-8469-F061-FFB9-08B6FEAB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59BD3D0-283A-EC9C-283D-D77CB129E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F22CF3-E7EE-4E43-251E-632970769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C85696-3F52-8254-939A-39C93E5C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568924-C53D-A058-3A73-986FD3CD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E23D94-E153-19B6-1272-E37A999E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61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6D2C1C-5B1B-2B13-EF54-E363E286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3FA8D43-6A65-0081-EA36-C2A75737A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6374CC-9339-E2DC-132F-0C8C0F31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34173F-7397-EA2E-A0F3-8385ECEE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F51543-45D0-55AD-2C2A-AD1C31E4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46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CBDB34-E110-A00B-BAF8-E4662A2F2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C064F6-C4D2-A15B-2692-C47AED9A3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B1BDD6-C75E-ED82-3570-A5783088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4488A1-4F8A-6E5E-FEDD-A4553223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CDC91B-4D82-5E8A-2A65-7413EF0E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485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D74591-062F-E1CC-A6E5-D5025C95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75C805-6C5B-C7FD-0977-63C2BAD93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7808E8-F784-D064-475D-8175AFFE4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3F2AA-395A-6947-811D-D09F3687E38F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C8F219-B651-F6D5-246B-29B11D9EF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C3C298-4608-2A4B-2350-AD30E9D2A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50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03830-549B-0500-8765-8DFFA6272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e 61">
            <a:extLst>
              <a:ext uri="{FF2B5EF4-FFF2-40B4-BE49-F238E27FC236}">
                <a16:creationId xmlns:a16="http://schemas.microsoft.com/office/drawing/2014/main" id="{A68003C9-C2BF-2CA6-C839-111C9E83125B}"/>
              </a:ext>
            </a:extLst>
          </p:cNvPr>
          <p:cNvGrpSpPr/>
          <p:nvPr/>
        </p:nvGrpSpPr>
        <p:grpSpPr>
          <a:xfrm>
            <a:off x="3576285" y="3868014"/>
            <a:ext cx="3308526" cy="1443457"/>
            <a:chOff x="3576285" y="3868014"/>
            <a:chExt cx="3308526" cy="1443457"/>
          </a:xfrm>
        </p:grpSpPr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F0700AB9-2D71-BA4C-BC51-7215AF50BC4C}"/>
                </a:ext>
              </a:extLst>
            </p:cNvPr>
            <p:cNvCxnSpPr>
              <a:cxnSpLocks/>
            </p:cNvCxnSpPr>
            <p:nvPr/>
          </p:nvCxnSpPr>
          <p:spPr>
            <a:xfrm>
              <a:off x="3576285" y="4001009"/>
              <a:ext cx="1822369" cy="539562"/>
            </a:xfrm>
            <a:prstGeom prst="line">
              <a:avLst/>
            </a:prstGeom>
            <a:ln w="190500"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B0578C3D-B793-94AE-5082-9215E44C8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314" y="4540571"/>
              <a:ext cx="1660425" cy="611803"/>
            </a:xfrm>
            <a:prstGeom prst="line">
              <a:avLst/>
            </a:prstGeom>
            <a:ln w="190500"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id="{CD6D7029-19A9-945B-6C1D-70CD231757C4}"/>
                </a:ext>
              </a:extLst>
            </p:cNvPr>
            <p:cNvCxnSpPr>
              <a:cxnSpLocks/>
              <a:endCxn id="42" idx="4"/>
            </p:cNvCxnSpPr>
            <p:nvPr/>
          </p:nvCxnSpPr>
          <p:spPr>
            <a:xfrm>
              <a:off x="5412308" y="4510194"/>
              <a:ext cx="1472503" cy="1089"/>
            </a:xfrm>
            <a:prstGeom prst="line">
              <a:avLst/>
            </a:prstGeom>
            <a:ln w="190500"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56">
              <a:extLst>
                <a:ext uri="{FF2B5EF4-FFF2-40B4-BE49-F238E27FC236}">
                  <a16:creationId xmlns:a16="http://schemas.microsoft.com/office/drawing/2014/main" id="{46694905-227A-71A1-DA3A-3E4743F4A3E6}"/>
                </a:ext>
              </a:extLst>
            </p:cNvPr>
            <p:cNvCxnSpPr>
              <a:cxnSpLocks/>
            </p:cNvCxnSpPr>
            <p:nvPr/>
          </p:nvCxnSpPr>
          <p:spPr>
            <a:xfrm>
              <a:off x="6215221" y="3868014"/>
              <a:ext cx="13638" cy="1443457"/>
            </a:xfrm>
            <a:prstGeom prst="line">
              <a:avLst/>
            </a:prstGeom>
            <a:ln w="190500"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A3D1B85D-4161-4F44-EE33-781ED1BFDAAF}"/>
              </a:ext>
            </a:extLst>
          </p:cNvPr>
          <p:cNvGrpSpPr/>
          <p:nvPr/>
        </p:nvGrpSpPr>
        <p:grpSpPr>
          <a:xfrm rot="5400000">
            <a:off x="5337200" y="2172511"/>
            <a:ext cx="1284359" cy="4675367"/>
            <a:chOff x="7848612" y="3775094"/>
            <a:chExt cx="326995" cy="624035"/>
          </a:xfrm>
        </p:grpSpPr>
        <p:sp>
          <p:nvSpPr>
            <p:cNvPr id="42" name="Émoticône 41">
              <a:extLst>
                <a:ext uri="{FF2B5EF4-FFF2-40B4-BE49-F238E27FC236}">
                  <a16:creationId xmlns:a16="http://schemas.microsoft.com/office/drawing/2014/main" id="{BF7B1C32-DFDE-BA3A-4658-07571C71A2EA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6C0CA956-2AD9-C4E6-4BE7-A7D9777D2279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C50598EB-733C-E8A0-C4F5-E373E5C23428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17FE9838-DFEE-F519-9F3F-1FB9C6AC11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7809CF9B-2DAF-E2B4-CEF9-48226C355DD8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1A228C4-3B16-9218-A544-06B6DD6313EF}"/>
              </a:ext>
            </a:extLst>
          </p:cNvPr>
          <p:cNvSpPr/>
          <p:nvPr/>
        </p:nvSpPr>
        <p:spPr>
          <a:xfrm>
            <a:off x="5580984" y="4113484"/>
            <a:ext cx="1135585" cy="598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A7CDCE-89A7-E0C1-E4FA-51C83DE6447C}"/>
              </a:ext>
            </a:extLst>
          </p:cNvPr>
          <p:cNvSpPr txBox="1"/>
          <p:nvPr/>
        </p:nvSpPr>
        <p:spPr>
          <a:xfrm>
            <a:off x="0" y="-5902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Notion de flottabilité et lestage pour pa20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8AAFD17-5DF3-17F7-250A-E5EFFA045983}"/>
              </a:ext>
            </a:extLst>
          </p:cNvPr>
          <p:cNvSpPr txBox="1"/>
          <p:nvPr/>
        </p:nvSpPr>
        <p:spPr>
          <a:xfrm>
            <a:off x="172847" y="461665"/>
            <a:ext cx="1788375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1200" b="1" dirty="0"/>
              <a:t>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Flottabilité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Les états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Un peu de physique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Archimède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Les forces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Lestage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Tests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Calculs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Match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Marseille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 err="1"/>
              <a:t>Hurgada</a:t>
            </a:r>
            <a:endParaRPr lang="fr-FR" sz="1200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C457806-817A-E4B2-EBDC-81A09FE7CB45}"/>
              </a:ext>
            </a:extLst>
          </p:cNvPr>
          <p:cNvCxnSpPr/>
          <p:nvPr/>
        </p:nvCxnSpPr>
        <p:spPr>
          <a:xfrm>
            <a:off x="802264" y="3594628"/>
            <a:ext cx="1506071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2483C54-30A7-E74E-0403-63503D4909DE}"/>
              </a:ext>
            </a:extLst>
          </p:cNvPr>
          <p:cNvCxnSpPr/>
          <p:nvPr/>
        </p:nvCxnSpPr>
        <p:spPr>
          <a:xfrm>
            <a:off x="8958041" y="3651102"/>
            <a:ext cx="15060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E5DB4CD3-78EC-974E-250E-01F03592EF61}"/>
              </a:ext>
            </a:extLst>
          </p:cNvPr>
          <p:cNvCxnSpPr>
            <a:cxnSpLocks/>
          </p:cNvCxnSpPr>
          <p:nvPr/>
        </p:nvCxnSpPr>
        <p:spPr>
          <a:xfrm>
            <a:off x="2732442" y="6511963"/>
            <a:ext cx="595486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5E64DD3-9256-CE4E-112B-E92F8B8C95F0}"/>
              </a:ext>
            </a:extLst>
          </p:cNvPr>
          <p:cNvCxnSpPr>
            <a:cxnSpLocks/>
          </p:cNvCxnSpPr>
          <p:nvPr/>
        </p:nvCxnSpPr>
        <p:spPr>
          <a:xfrm>
            <a:off x="2308335" y="3557519"/>
            <a:ext cx="424107" cy="2954444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2205EB58-6B16-FBBD-3500-4109DABC1283}"/>
              </a:ext>
            </a:extLst>
          </p:cNvPr>
          <p:cNvCxnSpPr>
            <a:cxnSpLocks/>
          </p:cNvCxnSpPr>
          <p:nvPr/>
        </p:nvCxnSpPr>
        <p:spPr>
          <a:xfrm flipV="1">
            <a:off x="8687307" y="3651102"/>
            <a:ext cx="242306" cy="28244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BAB1F122-2638-99AC-1959-FE2B7EFAA309}"/>
              </a:ext>
            </a:extLst>
          </p:cNvPr>
          <p:cNvGrpSpPr/>
          <p:nvPr/>
        </p:nvGrpSpPr>
        <p:grpSpPr>
          <a:xfrm>
            <a:off x="1555299" y="3179393"/>
            <a:ext cx="326995" cy="624035"/>
            <a:chOff x="7848612" y="3775094"/>
            <a:chExt cx="326995" cy="624035"/>
          </a:xfrm>
        </p:grpSpPr>
        <p:sp>
          <p:nvSpPr>
            <p:cNvPr id="22" name="Émoticône 21">
              <a:extLst>
                <a:ext uri="{FF2B5EF4-FFF2-40B4-BE49-F238E27FC236}">
                  <a16:creationId xmlns:a16="http://schemas.microsoft.com/office/drawing/2014/main" id="{E4678DC0-0A49-D986-1D9C-877E1466722F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CA367EF6-C22D-A9CD-550C-1C0B2DAAF67C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799C38DC-D4D1-0110-AE9B-0C87B1DFCE68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9727248C-AD22-3156-5972-0BFF153828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FC563C27-4ED4-5D77-EAAC-968FE90B4442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04F0FC1-A7C3-9770-6C0A-81D303ED5EFF}"/>
              </a:ext>
            </a:extLst>
          </p:cNvPr>
          <p:cNvCxnSpPr>
            <a:cxnSpLocks/>
          </p:cNvCxnSpPr>
          <p:nvPr/>
        </p:nvCxnSpPr>
        <p:spPr>
          <a:xfrm flipH="1">
            <a:off x="1917942" y="3179393"/>
            <a:ext cx="639611" cy="18872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A87B8346-FA4A-8294-AEE3-4124A599A125}"/>
              </a:ext>
            </a:extLst>
          </p:cNvPr>
          <p:cNvSpPr txBox="1"/>
          <p:nvPr/>
        </p:nvSpPr>
        <p:spPr>
          <a:xfrm>
            <a:off x="511705" y="4398012"/>
            <a:ext cx="16409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Flottabilité: Neutre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E5FFFEA-8D64-A2B6-E8E5-9F54258F09D8}"/>
              </a:ext>
            </a:extLst>
          </p:cNvPr>
          <p:cNvGrpSpPr/>
          <p:nvPr/>
        </p:nvGrpSpPr>
        <p:grpSpPr>
          <a:xfrm>
            <a:off x="2925400" y="5950133"/>
            <a:ext cx="516367" cy="408791"/>
            <a:chOff x="2925400" y="5950133"/>
            <a:chExt cx="516367" cy="408791"/>
          </a:xfrm>
          <a:solidFill>
            <a:srgbClr val="C00000"/>
          </a:solidFill>
        </p:grpSpPr>
        <p:sp>
          <p:nvSpPr>
            <p:cNvPr id="33" name="Arc plein 32">
              <a:extLst>
                <a:ext uri="{FF2B5EF4-FFF2-40B4-BE49-F238E27FC236}">
                  <a16:creationId xmlns:a16="http://schemas.microsoft.com/office/drawing/2014/main" id="{449D9569-63EF-22CB-E4C4-9F61D671B7ED}"/>
                </a:ext>
              </a:extLst>
            </p:cNvPr>
            <p:cNvSpPr/>
            <p:nvPr/>
          </p:nvSpPr>
          <p:spPr>
            <a:xfrm rot="10800000">
              <a:off x="2925400" y="5950133"/>
              <a:ext cx="516367" cy="408791"/>
            </a:xfrm>
            <a:prstGeom prst="blockArc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88CF2A-7D21-D69C-DF7A-CFDB14BE6EE0}"/>
                </a:ext>
              </a:extLst>
            </p:cNvPr>
            <p:cNvSpPr/>
            <p:nvPr/>
          </p:nvSpPr>
          <p:spPr>
            <a:xfrm>
              <a:off x="3141234" y="5959745"/>
              <a:ext cx="74624" cy="290456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D1B82F1D-6D60-990F-8D42-CE17E447E987}"/>
              </a:ext>
            </a:extLst>
          </p:cNvPr>
          <p:cNvCxnSpPr>
            <a:cxnSpLocks/>
          </p:cNvCxnSpPr>
          <p:nvPr/>
        </p:nvCxnSpPr>
        <p:spPr>
          <a:xfrm>
            <a:off x="2374870" y="6042991"/>
            <a:ext cx="63413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1D84A58D-D9B4-36BA-63C0-EC22297C4DBA}"/>
              </a:ext>
            </a:extLst>
          </p:cNvPr>
          <p:cNvSpPr txBox="1"/>
          <p:nvPr/>
        </p:nvSpPr>
        <p:spPr>
          <a:xfrm>
            <a:off x="729338" y="5688523"/>
            <a:ext cx="1669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C00000"/>
                </a:solidFill>
              </a:rPr>
              <a:t>Flottabilité: </a:t>
            </a:r>
          </a:p>
          <a:p>
            <a:r>
              <a:rPr lang="fr-FR" sz="1400" dirty="0">
                <a:solidFill>
                  <a:srgbClr val="C00000"/>
                </a:solidFill>
              </a:rPr>
              <a:t>Coule dite négative</a:t>
            </a:r>
          </a:p>
        </p:txBody>
      </p: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063D2FC8-CE93-CC29-8951-E2E009F308A0}"/>
              </a:ext>
            </a:extLst>
          </p:cNvPr>
          <p:cNvCxnSpPr>
            <a:cxnSpLocks/>
          </p:cNvCxnSpPr>
          <p:nvPr/>
        </p:nvCxnSpPr>
        <p:spPr>
          <a:xfrm>
            <a:off x="6822219" y="4532974"/>
            <a:ext cx="0" cy="7784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319CF186-5B1F-4D74-E2C1-62356975C340}"/>
              </a:ext>
            </a:extLst>
          </p:cNvPr>
          <p:cNvCxnSpPr>
            <a:cxnSpLocks/>
          </p:cNvCxnSpPr>
          <p:nvPr/>
        </p:nvCxnSpPr>
        <p:spPr>
          <a:xfrm flipV="1">
            <a:off x="6822219" y="3146591"/>
            <a:ext cx="0" cy="13100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DEFB171-B5D3-437F-FD6C-8649B00DEA59}"/>
              </a:ext>
            </a:extLst>
          </p:cNvPr>
          <p:cNvSpPr/>
          <p:nvPr/>
        </p:nvSpPr>
        <p:spPr>
          <a:xfrm>
            <a:off x="5836562" y="4125950"/>
            <a:ext cx="751085" cy="407024"/>
          </a:xfrm>
          <a:prstGeom prst="rect">
            <a:avLst/>
          </a:prstGeom>
          <a:solidFill>
            <a:schemeClr val="bg1"/>
          </a:solidFill>
          <a:ln w="1143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B5AD9528-524F-72A1-3E5D-28B8DE36E955}"/>
              </a:ext>
            </a:extLst>
          </p:cNvPr>
          <p:cNvCxnSpPr/>
          <p:nvPr/>
        </p:nvCxnSpPr>
        <p:spPr>
          <a:xfrm>
            <a:off x="5917095" y="4540571"/>
            <a:ext cx="0" cy="12877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2A0257F3-429A-575E-943F-B00DD1219046}"/>
              </a:ext>
            </a:extLst>
          </p:cNvPr>
          <p:cNvCxnSpPr>
            <a:cxnSpLocks/>
          </p:cNvCxnSpPr>
          <p:nvPr/>
        </p:nvCxnSpPr>
        <p:spPr>
          <a:xfrm>
            <a:off x="6443207" y="4335162"/>
            <a:ext cx="0" cy="1485547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2DE994CB-8AE1-6DBD-1A50-3D02B8E6656A}"/>
              </a:ext>
            </a:extLst>
          </p:cNvPr>
          <p:cNvCxnSpPr>
            <a:cxnSpLocks/>
          </p:cNvCxnSpPr>
          <p:nvPr/>
        </p:nvCxnSpPr>
        <p:spPr>
          <a:xfrm flipV="1">
            <a:off x="6375872" y="3628103"/>
            <a:ext cx="0" cy="4978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1A3CC3DA-1A11-5182-E977-EDF8C167CB23}"/>
              </a:ext>
            </a:extLst>
          </p:cNvPr>
          <p:cNvSpPr/>
          <p:nvPr/>
        </p:nvSpPr>
        <p:spPr>
          <a:xfrm>
            <a:off x="5335869" y="4367745"/>
            <a:ext cx="165432" cy="3445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26B4A9D9-9412-97DD-E27D-F7BFE9C2ED8B}"/>
              </a:ext>
            </a:extLst>
          </p:cNvPr>
          <p:cNvCxnSpPr>
            <a:cxnSpLocks/>
          </p:cNvCxnSpPr>
          <p:nvPr/>
        </p:nvCxnSpPr>
        <p:spPr>
          <a:xfrm>
            <a:off x="5412308" y="4532973"/>
            <a:ext cx="0" cy="90587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2C238F6C-4B94-9E68-8270-14D28B585078}"/>
              </a:ext>
            </a:extLst>
          </p:cNvPr>
          <p:cNvCxnSpPr>
            <a:cxnSpLocks/>
          </p:cNvCxnSpPr>
          <p:nvPr/>
        </p:nvCxnSpPr>
        <p:spPr>
          <a:xfrm>
            <a:off x="2136369" y="4589742"/>
            <a:ext cx="1969593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ZoneTexte 79">
            <a:extLst>
              <a:ext uri="{FF2B5EF4-FFF2-40B4-BE49-F238E27FC236}">
                <a16:creationId xmlns:a16="http://schemas.microsoft.com/office/drawing/2014/main" id="{620A0334-739E-D40A-EBA2-7CC9D47E0E3B}"/>
              </a:ext>
            </a:extLst>
          </p:cNvPr>
          <p:cNvSpPr txBox="1"/>
          <p:nvPr/>
        </p:nvSpPr>
        <p:spPr>
          <a:xfrm>
            <a:off x="6716569" y="5284961"/>
            <a:ext cx="1335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C00000"/>
                </a:solidFill>
              </a:rPr>
              <a:t>Poids plongeur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4F09225-A988-ACDD-109B-83262984A5A9}"/>
              </a:ext>
            </a:extLst>
          </p:cNvPr>
          <p:cNvSpPr txBox="1"/>
          <p:nvPr/>
        </p:nvSpPr>
        <p:spPr>
          <a:xfrm>
            <a:off x="1990974" y="2878108"/>
            <a:ext cx="2534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Flottabilité: Flotte dite positive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0E8D28F9-417E-A579-0BB2-421BB5B253DA}"/>
              </a:ext>
            </a:extLst>
          </p:cNvPr>
          <p:cNvSpPr txBox="1"/>
          <p:nvPr/>
        </p:nvSpPr>
        <p:spPr>
          <a:xfrm>
            <a:off x="4727744" y="5354868"/>
            <a:ext cx="787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C00000"/>
                </a:solidFill>
              </a:rPr>
              <a:t>Lestage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EF24596C-CED6-5EB5-EDE3-7214A835665E}"/>
              </a:ext>
            </a:extLst>
          </p:cNvPr>
          <p:cNvSpPr txBox="1"/>
          <p:nvPr/>
        </p:nvSpPr>
        <p:spPr>
          <a:xfrm>
            <a:off x="5032496" y="5770362"/>
            <a:ext cx="990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C00000"/>
                </a:solidFill>
              </a:rPr>
              <a:t>Poids bloc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4852211A-F1A5-0FA7-FAB1-9E1790C7DFEB}"/>
              </a:ext>
            </a:extLst>
          </p:cNvPr>
          <p:cNvSpPr txBox="1"/>
          <p:nvPr/>
        </p:nvSpPr>
        <p:spPr>
          <a:xfrm>
            <a:off x="6235357" y="5786421"/>
            <a:ext cx="847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C00000"/>
                </a:solidFill>
              </a:rPr>
              <a:t>Poids air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D01ECBC5-392A-F2C5-1180-4DDD58CAB0F3}"/>
              </a:ext>
            </a:extLst>
          </p:cNvPr>
          <p:cNvSpPr txBox="1"/>
          <p:nvPr/>
        </p:nvSpPr>
        <p:spPr>
          <a:xfrm>
            <a:off x="5864291" y="3318002"/>
            <a:ext cx="778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Volume</a:t>
            </a:r>
          </a:p>
          <a:p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bloc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B050F755-38A5-8392-6A61-731A745F26D4}"/>
              </a:ext>
            </a:extLst>
          </p:cNvPr>
          <p:cNvSpPr txBox="1"/>
          <p:nvPr/>
        </p:nvSpPr>
        <p:spPr>
          <a:xfrm>
            <a:off x="6673207" y="2895861"/>
            <a:ext cx="1501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Volume plongeur</a:t>
            </a:r>
          </a:p>
        </p:txBody>
      </p:sp>
      <p:graphicFrame>
        <p:nvGraphicFramePr>
          <p:cNvPr id="89" name="Tableau 88">
            <a:extLst>
              <a:ext uri="{FF2B5EF4-FFF2-40B4-BE49-F238E27FC236}">
                <a16:creationId xmlns:a16="http://schemas.microsoft.com/office/drawing/2014/main" id="{F6C35A77-53E9-0454-09AA-FE17D115C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610861"/>
              </p:ext>
            </p:extLst>
          </p:nvPr>
        </p:nvGraphicFramePr>
        <p:xfrm>
          <a:off x="8569261" y="523913"/>
          <a:ext cx="344989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462">
                  <a:extLst>
                    <a:ext uri="{9D8B030D-6E8A-4147-A177-3AD203B41FA5}">
                      <a16:colId xmlns:a16="http://schemas.microsoft.com/office/drawing/2014/main" val="3124997968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3298248596"/>
                    </a:ext>
                  </a:extLst>
                </a:gridCol>
                <a:gridCol w="835338">
                  <a:extLst>
                    <a:ext uri="{9D8B030D-6E8A-4147-A177-3AD203B41FA5}">
                      <a16:colId xmlns:a16="http://schemas.microsoft.com/office/drawing/2014/main" val="234338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Descente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Paliers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02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Poids plongeur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3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Volume plongeur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712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Poids bloc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0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Volume bloc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5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Poids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8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Lestage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081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 err="1"/>
                        <a:t>Stab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133829"/>
                  </a:ext>
                </a:extLst>
              </a:tr>
            </a:tbl>
          </a:graphicData>
        </a:graphic>
      </p:graphicFrame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C319656A-982B-1691-D750-BB3FF40AD00F}"/>
              </a:ext>
            </a:extLst>
          </p:cNvPr>
          <p:cNvCxnSpPr>
            <a:cxnSpLocks/>
          </p:cNvCxnSpPr>
          <p:nvPr/>
        </p:nvCxnSpPr>
        <p:spPr>
          <a:xfrm>
            <a:off x="10379870" y="1031379"/>
            <a:ext cx="399574" cy="1324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C22CE011-7A32-03A7-A29C-8CE6C4F3DF96}"/>
              </a:ext>
            </a:extLst>
          </p:cNvPr>
          <p:cNvCxnSpPr>
            <a:cxnSpLocks/>
          </p:cNvCxnSpPr>
          <p:nvPr/>
        </p:nvCxnSpPr>
        <p:spPr>
          <a:xfrm>
            <a:off x="10347638" y="1745104"/>
            <a:ext cx="399574" cy="1324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D09F17AF-BD33-D9CD-1E49-A1FB5087643F}"/>
              </a:ext>
            </a:extLst>
          </p:cNvPr>
          <p:cNvCxnSpPr>
            <a:cxnSpLocks/>
          </p:cNvCxnSpPr>
          <p:nvPr/>
        </p:nvCxnSpPr>
        <p:spPr>
          <a:xfrm>
            <a:off x="10347637" y="2493039"/>
            <a:ext cx="399574" cy="132432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193E78B3-8EAD-1D49-506A-1DFF3712E1D2}"/>
              </a:ext>
            </a:extLst>
          </p:cNvPr>
          <p:cNvCxnSpPr>
            <a:cxnSpLocks/>
          </p:cNvCxnSpPr>
          <p:nvPr/>
        </p:nvCxnSpPr>
        <p:spPr>
          <a:xfrm>
            <a:off x="10322465" y="2850632"/>
            <a:ext cx="399574" cy="1324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>
            <a:extLst>
              <a:ext uri="{FF2B5EF4-FFF2-40B4-BE49-F238E27FC236}">
                <a16:creationId xmlns:a16="http://schemas.microsoft.com/office/drawing/2014/main" id="{CF292DB4-9E28-5AAA-F509-2933CCF847E0}"/>
              </a:ext>
            </a:extLst>
          </p:cNvPr>
          <p:cNvCxnSpPr>
            <a:cxnSpLocks/>
          </p:cNvCxnSpPr>
          <p:nvPr/>
        </p:nvCxnSpPr>
        <p:spPr>
          <a:xfrm>
            <a:off x="11497036" y="1018722"/>
            <a:ext cx="399574" cy="1324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D7D0CDB1-ADAF-7DD7-8DF8-B83E4893A6D5}"/>
              </a:ext>
            </a:extLst>
          </p:cNvPr>
          <p:cNvCxnSpPr>
            <a:cxnSpLocks/>
          </p:cNvCxnSpPr>
          <p:nvPr/>
        </p:nvCxnSpPr>
        <p:spPr>
          <a:xfrm>
            <a:off x="11500187" y="1775449"/>
            <a:ext cx="399574" cy="1324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6D4356CE-6680-6A82-F67D-9865C496AA4E}"/>
              </a:ext>
            </a:extLst>
          </p:cNvPr>
          <p:cNvCxnSpPr>
            <a:cxnSpLocks/>
          </p:cNvCxnSpPr>
          <p:nvPr/>
        </p:nvCxnSpPr>
        <p:spPr>
          <a:xfrm>
            <a:off x="11500187" y="2850632"/>
            <a:ext cx="399574" cy="1324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avec flèche 101">
            <a:extLst>
              <a:ext uri="{FF2B5EF4-FFF2-40B4-BE49-F238E27FC236}">
                <a16:creationId xmlns:a16="http://schemas.microsoft.com/office/drawing/2014/main" id="{0CF7161E-7C9A-692A-9779-DD8444199525}"/>
              </a:ext>
            </a:extLst>
          </p:cNvPr>
          <p:cNvCxnSpPr>
            <a:cxnSpLocks/>
          </p:cNvCxnSpPr>
          <p:nvPr/>
        </p:nvCxnSpPr>
        <p:spPr>
          <a:xfrm flipV="1">
            <a:off x="10344487" y="1346046"/>
            <a:ext cx="402725" cy="16193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avec flèche 104">
            <a:extLst>
              <a:ext uri="{FF2B5EF4-FFF2-40B4-BE49-F238E27FC236}">
                <a16:creationId xmlns:a16="http://schemas.microsoft.com/office/drawing/2014/main" id="{8CB994FD-6C09-6853-76B3-FF3D6EC46067}"/>
              </a:ext>
            </a:extLst>
          </p:cNvPr>
          <p:cNvCxnSpPr>
            <a:cxnSpLocks/>
          </p:cNvCxnSpPr>
          <p:nvPr/>
        </p:nvCxnSpPr>
        <p:spPr>
          <a:xfrm flipV="1">
            <a:off x="11497036" y="1406642"/>
            <a:ext cx="402725" cy="16193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avec flèche 105">
            <a:extLst>
              <a:ext uri="{FF2B5EF4-FFF2-40B4-BE49-F238E27FC236}">
                <a16:creationId xmlns:a16="http://schemas.microsoft.com/office/drawing/2014/main" id="{CFB53552-438C-9A44-3419-83C5B619DA26}"/>
              </a:ext>
            </a:extLst>
          </p:cNvPr>
          <p:cNvCxnSpPr>
            <a:cxnSpLocks/>
          </p:cNvCxnSpPr>
          <p:nvPr/>
        </p:nvCxnSpPr>
        <p:spPr>
          <a:xfrm flipV="1">
            <a:off x="10344486" y="2125476"/>
            <a:ext cx="402725" cy="16193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DCD8AB5E-F170-5BCA-8CD8-7EAFDE135CD2}"/>
              </a:ext>
            </a:extLst>
          </p:cNvPr>
          <p:cNvCxnSpPr>
            <a:cxnSpLocks/>
          </p:cNvCxnSpPr>
          <p:nvPr/>
        </p:nvCxnSpPr>
        <p:spPr>
          <a:xfrm flipV="1">
            <a:off x="11497036" y="2045374"/>
            <a:ext cx="402725" cy="16193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ZoneTexte 107">
            <a:extLst>
              <a:ext uri="{FF2B5EF4-FFF2-40B4-BE49-F238E27FC236}">
                <a16:creationId xmlns:a16="http://schemas.microsoft.com/office/drawing/2014/main" id="{567A9E2D-25A5-D7F6-BFBF-B64F7705D008}"/>
              </a:ext>
            </a:extLst>
          </p:cNvPr>
          <p:cNvSpPr txBox="1"/>
          <p:nvPr/>
        </p:nvSpPr>
        <p:spPr>
          <a:xfrm>
            <a:off x="2188519" y="649786"/>
            <a:ext cx="290184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Archimède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400" dirty="0"/>
              <a:t>Tout corps plongé dans un fluide subit une force verticale, dirigée vers le haut, et dont l'intensité est égale au poids du volume de fluide déplacé.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400" dirty="0"/>
              <a:t>Eau douce: 1l =&gt; 1kg</a:t>
            </a:r>
          </a:p>
        </p:txBody>
      </p:sp>
      <p:graphicFrame>
        <p:nvGraphicFramePr>
          <p:cNvPr id="109" name="Tableau 108">
            <a:extLst>
              <a:ext uri="{FF2B5EF4-FFF2-40B4-BE49-F238E27FC236}">
                <a16:creationId xmlns:a16="http://schemas.microsoft.com/office/drawing/2014/main" id="{04C1DB4B-6D06-934C-FA54-88CF80FCE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834740"/>
              </p:ext>
            </p:extLst>
          </p:nvPr>
        </p:nvGraphicFramePr>
        <p:xfrm>
          <a:off x="9490237" y="3801601"/>
          <a:ext cx="26196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162">
                  <a:extLst>
                    <a:ext uri="{9D8B030D-6E8A-4147-A177-3AD203B41FA5}">
                      <a16:colId xmlns:a16="http://schemas.microsoft.com/office/drawing/2014/main" val="3124997968"/>
                    </a:ext>
                  </a:extLst>
                </a:gridCol>
                <a:gridCol w="1134464">
                  <a:extLst>
                    <a:ext uri="{9D8B030D-6E8A-4147-A177-3AD203B41FA5}">
                      <a16:colId xmlns:a16="http://schemas.microsoft.com/office/drawing/2014/main" val="3298248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Densité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02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Combinaison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546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Eau douce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3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Mer Medi.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1,027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712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Mer rouge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1,035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0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2,7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5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Acier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7,8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8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Plomb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11,2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081898"/>
                  </a:ext>
                </a:extLst>
              </a:tr>
            </a:tbl>
          </a:graphicData>
        </a:graphic>
      </p:graphicFrame>
      <p:graphicFrame>
        <p:nvGraphicFramePr>
          <p:cNvPr id="110" name="Tableau 109">
            <a:extLst>
              <a:ext uri="{FF2B5EF4-FFF2-40B4-BE49-F238E27FC236}">
                <a16:creationId xmlns:a16="http://schemas.microsoft.com/office/drawing/2014/main" id="{ABDA7A1D-18D1-6CB8-AED5-D444518DA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369456"/>
              </p:ext>
            </p:extLst>
          </p:nvPr>
        </p:nvGraphicFramePr>
        <p:xfrm>
          <a:off x="5525125" y="529286"/>
          <a:ext cx="26093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061">
                  <a:extLst>
                    <a:ext uri="{9D8B030D-6E8A-4147-A177-3AD203B41FA5}">
                      <a16:colId xmlns:a16="http://schemas.microsoft.com/office/drawing/2014/main" val="3124997968"/>
                    </a:ext>
                  </a:extLst>
                </a:gridCol>
                <a:gridCol w="924233">
                  <a:extLst>
                    <a:ext uri="{9D8B030D-6E8A-4147-A177-3AD203B41FA5}">
                      <a16:colId xmlns:a16="http://schemas.microsoft.com/office/drawing/2014/main" val="3298248596"/>
                    </a:ext>
                  </a:extLst>
                </a:gridCol>
                <a:gridCol w="812077">
                  <a:extLst>
                    <a:ext uri="{9D8B030D-6E8A-4147-A177-3AD203B41FA5}">
                      <a16:colId xmlns:a16="http://schemas.microsoft.com/office/drawing/2014/main" val="234338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Marseille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err="1"/>
                        <a:t>Hurgada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02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3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Combi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712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Poids bloc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0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Lestage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58049"/>
                  </a:ext>
                </a:extLst>
              </a:tr>
            </a:tbl>
          </a:graphicData>
        </a:graphic>
      </p:graphicFrame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13A521E2-0CE9-A02D-212C-BBB0CDD832C5}"/>
              </a:ext>
            </a:extLst>
          </p:cNvPr>
          <p:cNvCxnSpPr>
            <a:cxnSpLocks/>
          </p:cNvCxnSpPr>
          <p:nvPr/>
        </p:nvCxnSpPr>
        <p:spPr>
          <a:xfrm flipV="1">
            <a:off x="5646562" y="3254980"/>
            <a:ext cx="0" cy="13100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ZoneTexte 114">
            <a:extLst>
              <a:ext uri="{FF2B5EF4-FFF2-40B4-BE49-F238E27FC236}">
                <a16:creationId xmlns:a16="http://schemas.microsoft.com/office/drawing/2014/main" id="{8BDCABBD-FF53-318B-E114-73E68E4F78B8}"/>
              </a:ext>
            </a:extLst>
          </p:cNvPr>
          <p:cNvSpPr txBox="1"/>
          <p:nvPr/>
        </p:nvSpPr>
        <p:spPr>
          <a:xfrm>
            <a:off x="4497658" y="3207736"/>
            <a:ext cx="1154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Volume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stab</a:t>
            </a:r>
            <a:endParaRPr lang="fr-FR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0266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8607</TotalTime>
  <Words>148</Words>
  <Application>Microsoft Macintosh PowerPoint</Application>
  <PresentationFormat>Grand écran</PresentationFormat>
  <Paragraphs>80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24</cp:revision>
  <dcterms:created xsi:type="dcterms:W3CDTF">2025-11-23T17:54:36Z</dcterms:created>
  <dcterms:modified xsi:type="dcterms:W3CDTF">2025-11-29T17:21:37Z</dcterms:modified>
</cp:coreProperties>
</file>
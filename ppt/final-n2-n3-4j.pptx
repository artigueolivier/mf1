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719"/>
  </p:normalViewPr>
  <p:slideViewPr>
    <p:cSldViewPr snapToGrid="0">
      <p:cViewPr varScale="1">
        <p:scale>
          <a:sx n="94" d="100"/>
          <a:sy n="94" d="100"/>
        </p:scale>
        <p:origin x="14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C65D0C-A002-F3D5-E594-5E4D021E1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1EDF3BA-CB8A-2AB9-ED5E-07EDD8AD3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57BFBB-9D1E-97BC-B174-9A98FD143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3D1A75-3B7C-CD1D-A0E5-137B05020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8E91AB-9607-5C8C-9700-41610E7D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1595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70063D-FF18-FD76-4AA5-5A0C2AE4D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C39970-6761-72A0-5F8E-10938BE8D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306E1E-EA4C-5199-6242-ADEB4EFB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5B687D-50AC-2B88-ECD7-22E03E791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99B315-93A3-57A6-BFD7-BD4D1242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51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24D6F3-44C0-4109-2420-831D0AF87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F3467B-2E8D-2CBE-BE30-D20C8F1C7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F9BA6C-1D30-EC54-AF74-2FE747FC7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B6C443-73C8-9490-E182-B380FBE5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E173AB-2510-8F81-7604-FA3200C87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52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E44980-B2B6-0964-FEE3-085742CA8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734D2D-F7F2-3E21-29DD-C7049CBBC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81D2337-9A04-BF3C-943B-99E82E7E0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654537-C59F-AC1E-2E51-B3B9C8DE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58DF4A-4981-A50A-51EA-CDBF8C2D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53111F-1F89-2E11-8F5E-66F8972D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6213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E6F1D5-9B05-D1A6-C2D2-63B01A106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F6BF77-77F0-5FD2-2CF3-123600CE7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5E3CF57-5BEA-B037-A39E-BB8A1D86B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C38264D-5D00-FA52-9F2F-CC43D06292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C9A1C4C-1447-CCEC-7CE7-16A04A6DB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0E4F0D0-CA25-CE68-637C-BB117C479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D200884-5E11-03CB-43BE-0A55C940F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B9F9891-75F8-9205-7156-28D3781F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478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DE5018-9F96-92CA-4804-E50E0AA71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9CB447D-A8B6-5BAF-0008-FCB31991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CA45D3F-3618-E4E5-673E-000C6E93D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A40424D-FF31-EA36-364B-55BB5917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4176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54F1480-97DE-4726-76BF-111175B3A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B5F96DB-B26B-2F14-162F-760855D56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4CD15ED-D0AF-DEA5-B9AF-E882E327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8074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3A8C10-2524-EBF0-1AE4-A0DB86258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430D42-031E-A20A-B4F2-405DAED91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89FE258-FDAC-5942-592A-DC7323577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97EEB0E-3285-8BC0-AC1A-0271DA62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BBA5D5-DA12-FD72-444E-8CBEB66F0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C38C27-8FEE-D332-9B93-13D570D7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5230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2A6178-311B-7B4B-0929-9AFBC045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D338498-80DF-78A2-4815-A0B4CBB17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4CB9B6A-3CF2-3454-798E-B736050B5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31F8DD-2EBB-F8C1-CF57-A8321F72A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05A24A-ADFB-BE91-2CAA-E021E31B2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5E012B-F433-B3FC-A823-B3B4F3B19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452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5192F8-F5F6-9D33-A578-34BABC6B0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AF673DF-9218-F53E-4FB0-C167F3C63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5B13D10-369F-EDC9-DCBA-A5AAFFB3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E2FE66-6E65-4248-F9DE-8574695CA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6D1367-9157-3C44-6748-03295BAA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134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253431-1D7F-4FBC-EE86-3CF093F5F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6D9E860-5E6B-CA65-A05C-BC1D61010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7FBF42-8A45-3F2E-2B59-E6D8D7615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6C50-423B-6143-8AFF-74658B7394EB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B3AF98-1642-4A42-24A7-27543E200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A8A736-747E-7F05-E011-BFA06060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726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13B3FDA-6244-69B2-1BEF-1874C3889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03F3B1-7E33-7C37-B986-3A42DABBF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54777B-D857-CE4C-D818-E72C16677B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716C50-423B-6143-8AFF-74658B7394EB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0AA92A-474F-0FA7-C2AF-348A5EC18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8668D7-5F91-B350-8D90-972EBF4BB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1463A-D3D8-2A46-B1DC-87F80A5159F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6121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6CBC548-0B18-88D0-1FFC-F17DA38A62DE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dirty="0"/>
              <a:t>Vous êtes chargés d’organiser une sortie technique de 4 jours de fin de formation </a:t>
            </a:r>
          </a:p>
          <a:p>
            <a:pPr algn="ctr"/>
            <a:r>
              <a:rPr lang="fr-FR" sz="2000" dirty="0"/>
              <a:t>pour 6 plongeurs N2 et 4 plongeurs N3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793D6787-10F3-93CC-182E-C651FB58B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012410"/>
              </p:ext>
            </p:extLst>
          </p:nvPr>
        </p:nvGraphicFramePr>
        <p:xfrm>
          <a:off x="214688" y="5483109"/>
          <a:ext cx="4675584" cy="1173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914">
                  <a:extLst>
                    <a:ext uri="{9D8B030D-6E8A-4147-A177-3AD203B41FA5}">
                      <a16:colId xmlns:a16="http://schemas.microsoft.com/office/drawing/2014/main" val="3849268790"/>
                    </a:ext>
                  </a:extLst>
                </a:gridCol>
                <a:gridCol w="993791">
                  <a:extLst>
                    <a:ext uri="{9D8B030D-6E8A-4147-A177-3AD203B41FA5}">
                      <a16:colId xmlns:a16="http://schemas.microsoft.com/office/drawing/2014/main" val="1017348453"/>
                    </a:ext>
                  </a:extLst>
                </a:gridCol>
                <a:gridCol w="984176">
                  <a:extLst>
                    <a:ext uri="{9D8B030D-6E8A-4147-A177-3AD203B41FA5}">
                      <a16:colId xmlns:a16="http://schemas.microsoft.com/office/drawing/2014/main" val="553144019"/>
                    </a:ext>
                  </a:extLst>
                </a:gridCol>
                <a:gridCol w="981759">
                  <a:extLst>
                    <a:ext uri="{9D8B030D-6E8A-4147-A177-3AD203B41FA5}">
                      <a16:colId xmlns:a16="http://schemas.microsoft.com/office/drawing/2014/main" val="764055174"/>
                    </a:ext>
                  </a:extLst>
                </a:gridCol>
                <a:gridCol w="795944">
                  <a:extLst>
                    <a:ext uri="{9D8B030D-6E8A-4147-A177-3AD203B41FA5}">
                      <a16:colId xmlns:a16="http://schemas.microsoft.com/office/drawing/2014/main" val="2468205222"/>
                    </a:ext>
                  </a:extLst>
                </a:gridCol>
              </a:tblGrid>
              <a:tr h="391324">
                <a:tc>
                  <a:txBody>
                    <a:bodyPr/>
                    <a:lstStyle/>
                    <a:p>
                      <a:r>
                        <a:rPr lang="fr-FR" sz="1800" dirty="0"/>
                        <a:t>Mon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Prépa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Assist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bloc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137397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200" dirty="0"/>
                        <a:t>3 x 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6 x 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12l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701315"/>
                  </a:ext>
                </a:extLst>
              </a:tr>
              <a:tr h="391324">
                <a:tc>
                  <a:txBody>
                    <a:bodyPr/>
                    <a:lstStyle/>
                    <a:p>
                      <a:r>
                        <a:rPr lang="fr-FR" sz="1200" dirty="0"/>
                        <a:t>2 x 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4 x 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40m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15l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16013"/>
                  </a:ext>
                </a:extLst>
              </a:tr>
            </a:tbl>
          </a:graphicData>
        </a:graphic>
      </p:graphicFrame>
      <p:grpSp>
        <p:nvGrpSpPr>
          <p:cNvPr id="40" name="Groupe 39">
            <a:extLst>
              <a:ext uri="{FF2B5EF4-FFF2-40B4-BE49-F238E27FC236}">
                <a16:creationId xmlns:a16="http://schemas.microsoft.com/office/drawing/2014/main" id="{BA85D71E-5335-FC53-ED53-2C5ED25D70F2}"/>
              </a:ext>
            </a:extLst>
          </p:cNvPr>
          <p:cNvGrpSpPr/>
          <p:nvPr/>
        </p:nvGrpSpPr>
        <p:grpSpPr>
          <a:xfrm>
            <a:off x="214688" y="964902"/>
            <a:ext cx="10026574" cy="1038930"/>
            <a:chOff x="714214" y="964559"/>
            <a:chExt cx="10026574" cy="1038930"/>
          </a:xfrm>
        </p:grpSpPr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6F8ABADE-33DF-F846-4C9A-FAFFC067B593}"/>
                </a:ext>
              </a:extLst>
            </p:cNvPr>
            <p:cNvCxnSpPr>
              <a:cxnSpLocks/>
            </p:cNvCxnSpPr>
            <p:nvPr/>
          </p:nvCxnSpPr>
          <p:spPr>
            <a:xfrm>
              <a:off x="714214" y="1675379"/>
              <a:ext cx="10026574" cy="0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F5FAD2-DA6D-46B5-AEFC-7CDEAEF36819}"/>
                </a:ext>
              </a:extLst>
            </p:cNvPr>
            <p:cNvSpPr/>
            <p:nvPr/>
          </p:nvSpPr>
          <p:spPr>
            <a:xfrm>
              <a:off x="857534" y="1364786"/>
              <a:ext cx="1298812" cy="614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Début </a:t>
              </a:r>
              <a:r>
                <a:rPr lang="fr-FR" dirty="0" err="1">
                  <a:solidFill>
                    <a:schemeClr val="tx1"/>
                  </a:solidFill>
                </a:rPr>
                <a:t>pisc</a:t>
              </a:r>
              <a:r>
                <a:rPr lang="fr-FR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4D005F82-A7FF-2A57-1B27-52B1C7580E33}"/>
                </a:ext>
              </a:extLst>
            </p:cNvPr>
            <p:cNvSpPr txBox="1"/>
            <p:nvPr/>
          </p:nvSpPr>
          <p:spPr>
            <a:xfrm>
              <a:off x="857534" y="1005559"/>
              <a:ext cx="6158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Oct.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248255A-0910-92BB-B6DD-A7BA3974BF9C}"/>
                </a:ext>
              </a:extLst>
            </p:cNvPr>
            <p:cNvSpPr/>
            <p:nvPr/>
          </p:nvSpPr>
          <p:spPr>
            <a:xfrm>
              <a:off x="2438180" y="1374891"/>
              <a:ext cx="1298812" cy="614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8 Fosses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CAC4B92-BB17-D34A-9234-F630A521D7F4}"/>
                </a:ext>
              </a:extLst>
            </p:cNvPr>
            <p:cNvSpPr/>
            <p:nvPr/>
          </p:nvSpPr>
          <p:spPr>
            <a:xfrm>
              <a:off x="4018826" y="1374891"/>
              <a:ext cx="1298812" cy="614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Val. Théo.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3A631AF9-A921-63DE-1B44-2FE5B260A357}"/>
                </a:ext>
              </a:extLst>
            </p:cNvPr>
            <p:cNvSpPr txBox="1"/>
            <p:nvPr/>
          </p:nvSpPr>
          <p:spPr>
            <a:xfrm>
              <a:off x="3970855" y="992402"/>
              <a:ext cx="5470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Avr.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C6F7AB-ADDA-516A-6956-2A289056ADFB}"/>
                </a:ext>
              </a:extLst>
            </p:cNvPr>
            <p:cNvSpPr/>
            <p:nvPr/>
          </p:nvSpPr>
          <p:spPr>
            <a:xfrm>
              <a:off x="5575552" y="1374891"/>
              <a:ext cx="1298812" cy="614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Week-end</a:t>
              </a:r>
            </a:p>
            <a:p>
              <a:pPr algn="ctr"/>
              <a:r>
                <a:rPr lang="fr-FR" dirty="0">
                  <a:solidFill>
                    <a:schemeClr val="tx1"/>
                  </a:solidFill>
                </a:rPr>
                <a:t>technique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C5597B61-7743-65F0-A1A1-C807D789FD56}"/>
                </a:ext>
              </a:extLst>
            </p:cNvPr>
            <p:cNvSpPr txBox="1"/>
            <p:nvPr/>
          </p:nvSpPr>
          <p:spPr>
            <a:xfrm>
              <a:off x="5575552" y="964559"/>
              <a:ext cx="8755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Mi-mai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2126C24-3AEE-709B-11E2-7A0964DEF322}"/>
                </a:ext>
              </a:extLst>
            </p:cNvPr>
            <p:cNvSpPr/>
            <p:nvPr/>
          </p:nvSpPr>
          <p:spPr>
            <a:xfrm>
              <a:off x="7132278" y="1374891"/>
              <a:ext cx="483173" cy="6141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1</a:t>
              </a:r>
            </a:p>
            <a:p>
              <a:pPr algn="ctr"/>
              <a:r>
                <a:rPr lang="fr-FR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8C3099E-58C3-9B2D-1704-56F6D7FEC142}"/>
                </a:ext>
              </a:extLst>
            </p:cNvPr>
            <p:cNvSpPr/>
            <p:nvPr/>
          </p:nvSpPr>
          <p:spPr>
            <a:xfrm>
              <a:off x="7625873" y="1377163"/>
              <a:ext cx="483173" cy="6141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3</a:t>
              </a:r>
            </a:p>
            <a:p>
              <a:pPr algn="ctr"/>
              <a:r>
                <a:rPr lang="fr-FR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97BB6DE-BCA1-7600-858F-E45E723792CD}"/>
                </a:ext>
              </a:extLst>
            </p:cNvPr>
            <p:cNvSpPr/>
            <p:nvPr/>
          </p:nvSpPr>
          <p:spPr>
            <a:xfrm>
              <a:off x="8125373" y="1387083"/>
              <a:ext cx="483173" cy="6141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5</a:t>
              </a:r>
            </a:p>
            <a:p>
              <a:pPr algn="ctr"/>
              <a:r>
                <a:rPr lang="fr-FR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A9B479-0F56-B051-C10B-02501D33CDFD}"/>
                </a:ext>
              </a:extLst>
            </p:cNvPr>
            <p:cNvSpPr/>
            <p:nvPr/>
          </p:nvSpPr>
          <p:spPr>
            <a:xfrm>
              <a:off x="8618968" y="1389355"/>
              <a:ext cx="483173" cy="6141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7</a:t>
              </a:r>
            </a:p>
            <a:p>
              <a:pPr algn="ctr"/>
              <a:r>
                <a:rPr lang="fr-FR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6E9C7A13-B276-4F26-7F1A-8BD5B4363EC3}"/>
                </a:ext>
              </a:extLst>
            </p:cNvPr>
            <p:cNvSpPr txBox="1"/>
            <p:nvPr/>
          </p:nvSpPr>
          <p:spPr>
            <a:xfrm>
              <a:off x="7064994" y="992402"/>
              <a:ext cx="22276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Juin: Sort. Technique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4F2BC0D0-ECBB-DF0F-9D84-97EA11BCB7A4}"/>
                </a:ext>
              </a:extLst>
            </p:cNvPr>
            <p:cNvSpPr txBox="1"/>
            <p:nvPr/>
          </p:nvSpPr>
          <p:spPr>
            <a:xfrm>
              <a:off x="2389385" y="999359"/>
              <a:ext cx="12529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Now</a:t>
              </a:r>
              <a:r>
                <a:rPr lang="fr-FR" dirty="0"/>
                <a:t>. – Avr.</a:t>
              </a:r>
            </a:p>
          </p:txBody>
        </p:sp>
      </p:grp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C38BDA67-39C3-D34D-FDAE-188E653E86BA}"/>
              </a:ext>
            </a:extLst>
          </p:cNvPr>
          <p:cNvCxnSpPr>
            <a:cxnSpLocks/>
          </p:cNvCxnSpPr>
          <p:nvPr/>
        </p:nvCxnSpPr>
        <p:spPr>
          <a:xfrm>
            <a:off x="6632752" y="2074363"/>
            <a:ext cx="13742" cy="45264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8F5AF4E-6E1E-79FD-115A-7F13FEFBA89D}"/>
              </a:ext>
            </a:extLst>
          </p:cNvPr>
          <p:cNvSpPr/>
          <p:nvPr/>
        </p:nvSpPr>
        <p:spPr>
          <a:xfrm>
            <a:off x="6645069" y="2357753"/>
            <a:ext cx="2492483" cy="360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Petit déjeuner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8BC56BC-EEAF-E1A9-E6D8-52C037905AB8}"/>
              </a:ext>
            </a:extLst>
          </p:cNvPr>
          <p:cNvSpPr/>
          <p:nvPr/>
        </p:nvSpPr>
        <p:spPr>
          <a:xfrm>
            <a:off x="6651508" y="2724168"/>
            <a:ext cx="2492483" cy="360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RDV Bateau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767156-6271-D057-99E0-A7505F006D2A}"/>
              </a:ext>
            </a:extLst>
          </p:cNvPr>
          <p:cNvSpPr/>
          <p:nvPr/>
        </p:nvSpPr>
        <p:spPr>
          <a:xfrm>
            <a:off x="6651508" y="3106361"/>
            <a:ext cx="2492483" cy="781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Plongée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2EB8CC-F134-9022-EF76-225AB2F10676}"/>
              </a:ext>
            </a:extLst>
          </p:cNvPr>
          <p:cNvSpPr/>
          <p:nvPr/>
        </p:nvSpPr>
        <p:spPr>
          <a:xfrm>
            <a:off x="6651508" y="3887805"/>
            <a:ext cx="2492483" cy="360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Debrief moniteur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94CC04-C8B5-DC53-ECFA-4BB6ADFF8CCD}"/>
              </a:ext>
            </a:extLst>
          </p:cNvPr>
          <p:cNvSpPr/>
          <p:nvPr/>
        </p:nvSpPr>
        <p:spPr>
          <a:xfrm>
            <a:off x="6651508" y="4258456"/>
            <a:ext cx="2492483" cy="360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Repas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CFABFB-9274-9874-2441-C510C00AC5D6}"/>
              </a:ext>
            </a:extLst>
          </p:cNvPr>
          <p:cNvSpPr/>
          <p:nvPr/>
        </p:nvSpPr>
        <p:spPr>
          <a:xfrm>
            <a:off x="6651508" y="4960262"/>
            <a:ext cx="2492483" cy="7814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Plongée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517125-859D-06A5-D740-06C10FAEB104}"/>
              </a:ext>
            </a:extLst>
          </p:cNvPr>
          <p:cNvSpPr/>
          <p:nvPr/>
        </p:nvSpPr>
        <p:spPr>
          <a:xfrm>
            <a:off x="6645069" y="4618788"/>
            <a:ext cx="2492483" cy="360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RDV Bateau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B1A90FF-CB38-B4AA-085F-0499468EFAA4}"/>
              </a:ext>
            </a:extLst>
          </p:cNvPr>
          <p:cNvSpPr/>
          <p:nvPr/>
        </p:nvSpPr>
        <p:spPr>
          <a:xfrm>
            <a:off x="6645069" y="5741706"/>
            <a:ext cx="2492483" cy="360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Debrief moniteur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BD7807-618B-B5DD-0652-BB5007F9C2D9}"/>
              </a:ext>
            </a:extLst>
          </p:cNvPr>
          <p:cNvSpPr/>
          <p:nvPr/>
        </p:nvSpPr>
        <p:spPr>
          <a:xfrm>
            <a:off x="6645068" y="6115728"/>
            <a:ext cx="2492483" cy="360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Repas</a:t>
            </a:r>
          </a:p>
        </p:txBody>
      </p:sp>
      <p:sp>
        <p:nvSpPr>
          <p:cNvPr id="42" name="Accolade ouvrante 41">
            <a:extLst>
              <a:ext uri="{FF2B5EF4-FFF2-40B4-BE49-F238E27FC236}">
                <a16:creationId xmlns:a16="http://schemas.microsoft.com/office/drawing/2014/main" id="{BC003647-56B0-DF12-900A-603E94C97B02}"/>
              </a:ext>
            </a:extLst>
          </p:cNvPr>
          <p:cNvSpPr/>
          <p:nvPr/>
        </p:nvSpPr>
        <p:spPr>
          <a:xfrm>
            <a:off x="9484718" y="3505186"/>
            <a:ext cx="473124" cy="1977917"/>
          </a:xfrm>
          <a:prstGeom prst="leftBrace">
            <a:avLst>
              <a:gd name="adj1" fmla="val 3321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Accolade ouvrante 42">
            <a:extLst>
              <a:ext uri="{FF2B5EF4-FFF2-40B4-BE49-F238E27FC236}">
                <a16:creationId xmlns:a16="http://schemas.microsoft.com/office/drawing/2014/main" id="{BC383D97-B6AD-CE92-BC54-23018787EDC8}"/>
              </a:ext>
            </a:extLst>
          </p:cNvPr>
          <p:cNvSpPr/>
          <p:nvPr/>
        </p:nvSpPr>
        <p:spPr>
          <a:xfrm>
            <a:off x="10608668" y="2599818"/>
            <a:ext cx="473124" cy="1789292"/>
          </a:xfrm>
          <a:prstGeom prst="leftBrace">
            <a:avLst>
              <a:gd name="adj1" fmla="val 3321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Accolade ouvrante 43">
            <a:extLst>
              <a:ext uri="{FF2B5EF4-FFF2-40B4-BE49-F238E27FC236}">
                <a16:creationId xmlns:a16="http://schemas.microsoft.com/office/drawing/2014/main" id="{24C36F34-4760-2AC1-192B-E6B52A395FBE}"/>
              </a:ext>
            </a:extLst>
          </p:cNvPr>
          <p:cNvSpPr/>
          <p:nvPr/>
        </p:nvSpPr>
        <p:spPr>
          <a:xfrm>
            <a:off x="10608668" y="4578042"/>
            <a:ext cx="473124" cy="1789292"/>
          </a:xfrm>
          <a:prstGeom prst="leftBrace">
            <a:avLst>
              <a:gd name="adj1" fmla="val 33219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3CB33382-4844-0FF5-40A8-731D48524696}"/>
              </a:ext>
            </a:extLst>
          </p:cNvPr>
          <p:cNvSpPr txBox="1"/>
          <p:nvPr/>
        </p:nvSpPr>
        <p:spPr>
          <a:xfrm>
            <a:off x="9988628" y="3244334"/>
            <a:ext cx="790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Zones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A804103-AAE0-D9D3-9298-91B75004D65F}"/>
              </a:ext>
            </a:extLst>
          </p:cNvPr>
          <p:cNvSpPr txBox="1"/>
          <p:nvPr/>
        </p:nvSpPr>
        <p:spPr>
          <a:xfrm>
            <a:off x="9909707" y="5302703"/>
            <a:ext cx="677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Sites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E3AACFCB-5D8E-66FB-D8C5-45AA77943F0E}"/>
              </a:ext>
            </a:extLst>
          </p:cNvPr>
          <p:cNvSpPr txBox="1"/>
          <p:nvPr/>
        </p:nvSpPr>
        <p:spPr>
          <a:xfrm>
            <a:off x="10995168" y="3071077"/>
            <a:ext cx="6286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20m</a:t>
            </a:r>
          </a:p>
          <a:p>
            <a:endParaRPr lang="fr-FR" dirty="0"/>
          </a:p>
          <a:p>
            <a:r>
              <a:rPr lang="fr-FR" dirty="0"/>
              <a:t>40m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48669E7-FEA8-D902-0A5C-453A67E04FC4}"/>
              </a:ext>
            </a:extLst>
          </p:cNvPr>
          <p:cNvSpPr txBox="1"/>
          <p:nvPr/>
        </p:nvSpPr>
        <p:spPr>
          <a:xfrm>
            <a:off x="10911156" y="4675703"/>
            <a:ext cx="12583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Patates</a:t>
            </a:r>
          </a:p>
          <a:p>
            <a:r>
              <a:rPr lang="fr-FR" dirty="0"/>
              <a:t>Tombant</a:t>
            </a:r>
          </a:p>
          <a:p>
            <a:r>
              <a:rPr lang="fr-FR" dirty="0"/>
              <a:t>Sec</a:t>
            </a:r>
          </a:p>
          <a:p>
            <a:r>
              <a:rPr lang="fr-FR" dirty="0"/>
              <a:t>Epaves</a:t>
            </a:r>
          </a:p>
          <a:p>
            <a:r>
              <a:rPr lang="fr-FR" dirty="0"/>
              <a:t>Dérivantes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748F8D60-32B1-9253-9B5E-62961C809B2C}"/>
              </a:ext>
            </a:extLst>
          </p:cNvPr>
          <p:cNvSpPr txBox="1"/>
          <p:nvPr/>
        </p:nvSpPr>
        <p:spPr>
          <a:xfrm>
            <a:off x="358009" y="2292908"/>
            <a:ext cx="2879458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Objectifs selon référents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IPD (2x2 par plongeurs)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Planification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Orientation / Evolution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Autonomie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Gestion </a:t>
            </a:r>
            <a:r>
              <a:rPr lang="fr-FR" sz="1200" dirty="0" err="1"/>
              <a:t>desaturation</a:t>
            </a:r>
            <a:endParaRPr lang="fr-FR" sz="1200" dirty="0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A173D3E5-0E39-B6CB-2B44-6AA7781D8098}"/>
              </a:ext>
            </a:extLst>
          </p:cNvPr>
          <p:cNvSpPr txBox="1"/>
          <p:nvPr/>
        </p:nvSpPr>
        <p:spPr>
          <a:xfrm>
            <a:off x="3453406" y="2302586"/>
            <a:ext cx="2879458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Déjà validé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VDM / REC (N2)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Capelé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/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9897AA51-000E-B4FA-4C72-4D42A6562A44}"/>
              </a:ext>
            </a:extLst>
          </p:cNvPr>
          <p:cNvCxnSpPr>
            <a:stCxn id="31" idx="3"/>
            <a:endCxn id="42" idx="1"/>
          </p:cNvCxnSpPr>
          <p:nvPr/>
        </p:nvCxnSpPr>
        <p:spPr>
          <a:xfrm>
            <a:off x="9143991" y="3497083"/>
            <a:ext cx="340727" cy="9970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60F65CD-A65A-EB83-F5D8-EEB7E6866B74}"/>
              </a:ext>
            </a:extLst>
          </p:cNvPr>
          <p:cNvCxnSpPr>
            <a:cxnSpLocks/>
            <a:stCxn id="34" idx="3"/>
            <a:endCxn id="42" idx="1"/>
          </p:cNvCxnSpPr>
          <p:nvPr/>
        </p:nvCxnSpPr>
        <p:spPr>
          <a:xfrm flipV="1">
            <a:off x="9143991" y="4494145"/>
            <a:ext cx="340727" cy="8568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37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F839D48-6082-8C19-5E83-209AD9DCC824}"/>
              </a:ext>
            </a:extLst>
          </p:cNvPr>
          <p:cNvSpPr txBox="1"/>
          <p:nvPr/>
        </p:nvSpPr>
        <p:spPr>
          <a:xfrm>
            <a:off x="318917" y="183043"/>
            <a:ext cx="3502456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dirty="0"/>
              <a:t>Barge alu, bloc 12l double sortie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dirty="0"/>
              <a:t>Poss: CDS 322-78-1 et 322-78-2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Moyen de communication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Eau douce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 err="1"/>
              <a:t>Bavu</a:t>
            </a:r>
            <a:r>
              <a:rPr lang="fr-FR" sz="1600" dirty="0"/>
              <a:t> + 3 </a:t>
            </a:r>
            <a:r>
              <a:rPr lang="fr-FR" sz="1600" dirty="0" err="1"/>
              <a:t>mask</a:t>
            </a:r>
            <a:r>
              <a:rPr lang="fr-FR" sz="1600" dirty="0"/>
              <a:t> de 3 tailles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Mask haute concentration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Ensemble oxygénothérapie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Couverture isotherme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Fiches d’évacuation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4A476DD-181B-A34A-F47E-244472F433DC}"/>
              </a:ext>
            </a:extLst>
          </p:cNvPr>
          <p:cNvSpPr txBox="1"/>
          <p:nvPr/>
        </p:nvSpPr>
        <p:spPr>
          <a:xfrm>
            <a:off x="4344772" y="183043"/>
            <a:ext cx="3502456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dirty="0"/>
              <a:t>Plongée yoyo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5min à 1/2 profondeur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1 min à 6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5 min à 3-5m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2E0E1AA-499F-2770-669A-033B065BE518}"/>
              </a:ext>
            </a:extLst>
          </p:cNvPr>
          <p:cNvSpPr txBox="1"/>
          <p:nvPr/>
        </p:nvSpPr>
        <p:spPr>
          <a:xfrm>
            <a:off x="318917" y="3078643"/>
            <a:ext cx="3502456" cy="28007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dirty="0"/>
              <a:t>N2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Mise à l’eau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Gestion matériel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Capelé 250m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REC 10m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Déplacement propre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Planification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Autonomie / Orientation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Gestion </a:t>
            </a:r>
            <a:r>
              <a:rPr lang="fr-FR" sz="1600" dirty="0" err="1"/>
              <a:t>desaturation</a:t>
            </a:r>
            <a:endParaRPr lang="fr-FR" sz="16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IPD 20m  2 x 2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VDM à 20m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89956A0-343A-1AB4-DF95-59BBA57DD3F2}"/>
              </a:ext>
            </a:extLst>
          </p:cNvPr>
          <p:cNvSpPr txBox="1"/>
          <p:nvPr/>
        </p:nvSpPr>
        <p:spPr>
          <a:xfrm>
            <a:off x="4344772" y="3078642"/>
            <a:ext cx="3502456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dirty="0"/>
              <a:t>N3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Capelé 300m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Planification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Autonomie / Orientation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Gestion </a:t>
            </a:r>
            <a:r>
              <a:rPr lang="fr-FR" sz="1600" dirty="0" err="1"/>
              <a:t>desaturation</a:t>
            </a:r>
            <a:endParaRPr lang="fr-FR" sz="16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sz="1600" dirty="0"/>
              <a:t>IPD 40m 2 x 2</a:t>
            </a:r>
          </a:p>
        </p:txBody>
      </p:sp>
    </p:spTree>
    <p:extLst>
      <p:ext uri="{BB962C8B-B14F-4D97-AF65-F5344CB8AC3E}">
        <p14:creationId xmlns:p14="http://schemas.microsoft.com/office/powerpoint/2010/main" val="185901456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9908</TotalTime>
  <Words>215</Words>
  <Application>Microsoft Macintosh PowerPoint</Application>
  <PresentationFormat>Grand écran</PresentationFormat>
  <Paragraphs>93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8</cp:revision>
  <dcterms:created xsi:type="dcterms:W3CDTF">2026-04-01T16:09:18Z</dcterms:created>
  <dcterms:modified xsi:type="dcterms:W3CDTF">2026-04-09T15:53:25Z</dcterms:modified>
</cp:coreProperties>
</file>
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9" r:id="rId2"/>
    <p:sldId id="260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74"/>
    <p:restoredTop sz="85069"/>
  </p:normalViewPr>
  <p:slideViewPr>
    <p:cSldViewPr snapToGrid="0">
      <p:cViewPr varScale="1">
        <p:scale>
          <a:sx n="113" d="100"/>
          <a:sy n="113" d="100"/>
        </p:scale>
        <p:origin x="3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661FFD-40AA-5C4C-9980-E99720D2E9B3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FB71B7-5211-2B41-BD96-CBFFC54010A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5531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FB71B7-5211-2B41-BD96-CBFFC54010AF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356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069AC15-2F9E-7AB0-EB23-9306ABCD8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F920C97-0C70-354C-787B-04C3801D24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A507B7-8A62-C1D5-9B00-EE6CD9638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A25723-02D6-FC5E-57CB-49DA3A19F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682D840-0379-1615-D920-3F5A58A90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167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CB22B6A-A053-E4E5-B1F9-00A4B9CF2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E533891-CE9E-6AE8-970D-1D0DC2114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C60D288-1011-17C6-BAB5-1E43FE7EE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DE4B6F-50B3-989C-A0D9-4263E344E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3646D1-2D97-AF97-85EF-9EEDA7E93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0498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CE76B1-9240-F342-D50E-EEFDC7A717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32B4472-0E90-8F4C-A39F-C26DF8FC1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B4542C2-7F72-0CDF-FC19-8EECAEAFE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8F26E37-3213-92BD-1D34-4447AFCC4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6BFD40-EC3B-0046-EC0A-817259524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74655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E371EC-FAB2-CB3C-B5ED-CB46DC3C6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33270E4-01F7-285B-EEE0-BA619B52E7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93439DB-7674-469A-69ED-DE07C3CC48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543B70F-0190-EA6A-B04B-56BD43C05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B01FC1F-1720-D812-1006-9180AFD81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97AAF23-9BB5-D601-E025-9468874F2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2122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3EFC5E-063F-5A64-F3BF-596990537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AF91DFD-BDCC-DB93-5F0C-9B7DB59DD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A5F3B64-8354-81FC-838E-6DCD580F8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062BC3B-4E78-E4E9-CE9D-735F40C2B0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90B8A41-F448-FB07-2D0E-C6AE8FDAA2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584554-76F3-7C7B-5EFD-47FD02E49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0B6D519B-50FE-B808-93BE-6E9CB894F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B1D269D-642A-703F-326E-A191EFC90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977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79E2CF-7ED7-59E7-78F6-41E74B984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52359E8-ADE2-C5B6-1B2F-C12531B3C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96DBC21-79FF-B1A7-728A-2A2865B52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76F6051-ED27-9D12-E32F-72D4B4FC9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1588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E9C047B-1105-576E-BB5F-E3C74B891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97F1442-0E91-19A1-0A23-000C8C19A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265620F-BE9A-FBB6-A6B6-270A9415A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52878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0631F50-4F8F-8617-18E7-D03CDB678B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890FAA9-AA21-1505-D58A-319C64A72A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54F6815-D71C-F3B0-2C27-DFD7D0E8E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6341961-D7B8-A4DD-F9C6-DC9F56D30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9D8F1E-454F-877A-8AA1-E2AF524EF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41CB8F-695A-F4D3-6096-E7842D702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7053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453551-3194-6A78-F9EB-6F6AC6D57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A1755E6-4BF5-43C9-697E-5450002250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5513E2B-98CC-490A-8177-32E56F78B0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2EE05CE-CC7F-FCD2-3D38-70CA1A989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3AD8C10-A04D-6738-BE3B-919401A2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034F2F1-9D94-49BD-2594-D9A00AF7D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6171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F6BD3B-4501-31BF-1147-CB7A59CAC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E391CF0-E05F-6846-247F-1667ED45A5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CE3197D-17BB-671A-91F1-E195A58B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EE5A5D-9006-CFEA-3814-A9ADF2B75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9577A93-3B3D-EED0-A871-92CA7E111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8897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955FB91-A790-4D0E-FC11-72136AAC75E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AE46840-BBB0-91BC-F1E9-CF3BB3C1A3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107BDC8-288E-F60C-D7E3-6F79C7FB7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9D1564F-0EAB-21F9-8061-C8C84B2BF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FF30C1A-25A0-5BEF-AA63-9A0F25024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49423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17D0CF59-DB30-DAA5-B277-BB642DA1E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D14CE7B-D5CB-F92C-4FFD-410FD8D12A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368F307-E163-90F9-E60B-8BA0EAA329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162964-48FF-B442-ADB9-E9DB1215FFC5}" type="datetimeFigureOut">
              <a:rPr lang="fr-FR" smtClean="0"/>
              <a:t>18/01/2026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4C8767-DAC1-ADC6-D4C3-D7A047B3A9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07C143-938B-F217-2EF4-972C5DD5AF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1B955D-3F29-3D44-8890-49D35BF3EF1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460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au 3">
            <a:extLst>
              <a:ext uri="{FF2B5EF4-FFF2-40B4-BE49-F238E27FC236}">
                <a16:creationId xmlns:a16="http://schemas.microsoft.com/office/drawing/2014/main" id="{2109600A-93DD-1FEE-F592-1F036BE54C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1853825"/>
              </p:ext>
            </p:extLst>
          </p:nvPr>
        </p:nvGraphicFramePr>
        <p:xfrm>
          <a:off x="7625784" y="728350"/>
          <a:ext cx="4321383" cy="51494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4579">
                  <a:extLst>
                    <a:ext uri="{9D8B030D-6E8A-4147-A177-3AD203B41FA5}">
                      <a16:colId xmlns:a16="http://schemas.microsoft.com/office/drawing/2014/main" val="1224792426"/>
                    </a:ext>
                  </a:extLst>
                </a:gridCol>
                <a:gridCol w="1945999">
                  <a:extLst>
                    <a:ext uri="{9D8B030D-6E8A-4147-A177-3AD203B41FA5}">
                      <a16:colId xmlns:a16="http://schemas.microsoft.com/office/drawing/2014/main" val="348916069"/>
                    </a:ext>
                  </a:extLst>
                </a:gridCol>
                <a:gridCol w="1590805">
                  <a:extLst>
                    <a:ext uri="{9D8B030D-6E8A-4147-A177-3AD203B41FA5}">
                      <a16:colId xmlns:a16="http://schemas.microsoft.com/office/drawing/2014/main" val="1524678273"/>
                    </a:ext>
                  </a:extLst>
                </a:gridCol>
              </a:tblGrid>
              <a:tr h="421351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Jour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600" dirty="0"/>
                        <a:t>Jour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4259806"/>
                  </a:ext>
                </a:extLst>
              </a:tr>
              <a:tr h="316013">
                <a:tc>
                  <a:txBody>
                    <a:bodyPr/>
                    <a:lstStyle/>
                    <a:p>
                      <a:r>
                        <a:rPr lang="fr-FR" sz="1200" dirty="0"/>
                        <a:t>7h30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Petit déjeuner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Petit déjeuner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9987163"/>
                  </a:ext>
                </a:extLst>
              </a:tr>
              <a:tr h="1432469">
                <a:tc>
                  <a:txBody>
                    <a:bodyPr/>
                    <a:lstStyle/>
                    <a:p>
                      <a:r>
                        <a:rPr lang="fr-FR" sz="1200" dirty="0"/>
                        <a:t>9h00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Plongée 1</a:t>
                      </a:r>
                    </a:p>
                    <a:p>
                      <a:pPr algn="ctr"/>
                      <a:r>
                        <a:rPr lang="fr-FR" sz="1200" dirty="0">
                          <a:solidFill>
                            <a:schemeClr val="accent1"/>
                          </a:solidFill>
                        </a:rPr>
                        <a:t>25m </a:t>
                      </a:r>
                    </a:p>
                    <a:p>
                      <a:pPr algn="ctr"/>
                      <a:endParaRPr lang="fr-FR" sz="1200" dirty="0">
                        <a:solidFill>
                          <a:schemeClr val="accent1"/>
                        </a:solidFill>
                      </a:endParaRPr>
                    </a:p>
                    <a:p>
                      <a:r>
                        <a:rPr lang="fr-FR" sz="1200" dirty="0"/>
                        <a:t>DTMR</a:t>
                      </a:r>
                    </a:p>
                    <a:p>
                      <a:r>
                        <a:rPr lang="fr-FR" sz="1200" dirty="0"/>
                        <a:t>Evaluation</a:t>
                      </a:r>
                    </a:p>
                    <a:p>
                      <a:r>
                        <a:rPr lang="fr-FR" sz="1200" dirty="0"/>
                        <a:t>initiale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Plongée 3</a:t>
                      </a:r>
                    </a:p>
                    <a:p>
                      <a:pPr algn="ctr"/>
                      <a:r>
                        <a:rPr lang="fr-FR" sz="1200" dirty="0">
                          <a:solidFill>
                            <a:schemeClr val="accent1"/>
                          </a:solidFill>
                        </a:rPr>
                        <a:t>25m</a:t>
                      </a:r>
                    </a:p>
                    <a:p>
                      <a:pPr algn="ctr"/>
                      <a:endParaRPr lang="fr-FR" sz="1200" dirty="0">
                        <a:solidFill>
                          <a:schemeClr val="accent1"/>
                        </a:solidFill>
                      </a:endParaRPr>
                    </a:p>
                    <a:p>
                      <a:pPr algn="l"/>
                      <a:r>
                        <a:rPr lang="fr-FR" sz="1200" dirty="0"/>
                        <a:t>DTMR</a:t>
                      </a:r>
                    </a:p>
                    <a:p>
                      <a:pPr algn="l"/>
                      <a:r>
                        <a:rPr lang="fr-FR" sz="1200" dirty="0"/>
                        <a:t>maitrise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336253"/>
                  </a:ext>
                </a:extLst>
              </a:tr>
              <a:tr h="316013">
                <a:tc>
                  <a:txBody>
                    <a:bodyPr/>
                    <a:lstStyle/>
                    <a:p>
                      <a:r>
                        <a:rPr lang="fr-FR" sz="1200" dirty="0"/>
                        <a:t>11h30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Debrief moniteur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89005258"/>
                  </a:ext>
                </a:extLst>
              </a:tr>
              <a:tr h="316013">
                <a:tc>
                  <a:txBody>
                    <a:bodyPr/>
                    <a:lstStyle/>
                    <a:p>
                      <a:r>
                        <a:rPr lang="fr-FR" sz="1200" dirty="0"/>
                        <a:t>12h00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Repas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Repas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9465631"/>
                  </a:ext>
                </a:extLst>
              </a:tr>
              <a:tr h="1599730">
                <a:tc>
                  <a:txBody>
                    <a:bodyPr/>
                    <a:lstStyle/>
                    <a:p>
                      <a:r>
                        <a:rPr lang="fr-FR" sz="1200" dirty="0"/>
                        <a:t>14h30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Plongée 2</a:t>
                      </a:r>
                    </a:p>
                    <a:p>
                      <a:pPr algn="ctr"/>
                      <a:r>
                        <a:rPr lang="fr-FR" sz="1200" dirty="0">
                          <a:solidFill>
                            <a:schemeClr val="accent1"/>
                          </a:solidFill>
                        </a:rPr>
                        <a:t>25m </a:t>
                      </a:r>
                    </a:p>
                    <a:p>
                      <a:pPr algn="ctr"/>
                      <a:endParaRPr lang="fr-FR" sz="1200" dirty="0">
                        <a:solidFill>
                          <a:schemeClr val="accent1"/>
                        </a:solidFill>
                      </a:endParaRPr>
                    </a:p>
                    <a:p>
                      <a:r>
                        <a:rPr lang="fr-FR" sz="1200" dirty="0"/>
                        <a:t>DTMR</a:t>
                      </a:r>
                    </a:p>
                    <a:p>
                      <a:r>
                        <a:rPr lang="fr-FR" sz="1200" dirty="0"/>
                        <a:t>perfectionnement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Plongée 4</a:t>
                      </a:r>
                    </a:p>
                    <a:p>
                      <a:pPr algn="ctr"/>
                      <a:r>
                        <a:rPr lang="fr-FR" sz="120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25m</a:t>
                      </a:r>
                    </a:p>
                    <a:p>
                      <a:pPr algn="ctr"/>
                      <a:endParaRPr lang="fr-FR" sz="1200" dirty="0">
                        <a:solidFill>
                          <a:schemeClr val="accent1">
                            <a:lumMod val="75000"/>
                          </a:schemeClr>
                        </a:solidFill>
                      </a:endParaRPr>
                    </a:p>
                    <a:p>
                      <a:pPr algn="l"/>
                      <a:r>
                        <a:rPr lang="fr-FR" sz="1200" dirty="0"/>
                        <a:t>DTMR</a:t>
                      </a:r>
                    </a:p>
                    <a:p>
                      <a:pPr algn="l"/>
                      <a:r>
                        <a:rPr lang="fr-FR" sz="1200" dirty="0"/>
                        <a:t>Evaluation finale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1650527"/>
                  </a:ext>
                </a:extLst>
              </a:tr>
              <a:tr h="373954">
                <a:tc>
                  <a:txBody>
                    <a:bodyPr/>
                    <a:lstStyle/>
                    <a:p>
                      <a:r>
                        <a:rPr lang="fr-FR" sz="1200" dirty="0"/>
                        <a:t>17h30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Debrief moniteurs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5640843"/>
                  </a:ext>
                </a:extLst>
              </a:tr>
              <a:tr h="373954">
                <a:tc>
                  <a:txBody>
                    <a:bodyPr/>
                    <a:lstStyle/>
                    <a:p>
                      <a:r>
                        <a:rPr lang="fr-FR" sz="1200" dirty="0"/>
                        <a:t>19h30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200" dirty="0"/>
                        <a:t>Repas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200" dirty="0"/>
                        <a:t>Retour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3839430"/>
                  </a:ext>
                </a:extLst>
              </a:tr>
            </a:tbl>
          </a:graphicData>
        </a:graphic>
      </p:graphicFrame>
      <p:sp>
        <p:nvSpPr>
          <p:cNvPr id="2" name="ZoneTexte 1">
            <a:extLst>
              <a:ext uri="{FF2B5EF4-FFF2-40B4-BE49-F238E27FC236}">
                <a16:creationId xmlns:a16="http://schemas.microsoft.com/office/drawing/2014/main" id="{5D0E774A-3B90-136A-9BC6-60A604DD09CB}"/>
              </a:ext>
            </a:extLst>
          </p:cNvPr>
          <p:cNvSpPr txBox="1"/>
          <p:nvPr/>
        </p:nvSpPr>
        <p:spPr>
          <a:xfrm>
            <a:off x="0" y="46903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Stage de 2 jours en mer  pour </a:t>
            </a:r>
            <a:r>
              <a:rPr lang="fr-FR" dirty="0" err="1"/>
              <a:t>prepa</a:t>
            </a:r>
            <a:r>
              <a:rPr lang="fr-FR" dirty="0"/>
              <a:t> 3 GP N4 en fin de formation, préparation à l’épreuve de DTMR de 25m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AB42E386-3486-54DD-0A6F-D435B0D2EA6C}"/>
              </a:ext>
            </a:extLst>
          </p:cNvPr>
          <p:cNvSpPr txBox="1"/>
          <p:nvPr/>
        </p:nvSpPr>
        <p:spPr>
          <a:xfrm>
            <a:off x="126422" y="2487973"/>
            <a:ext cx="5007707" cy="233910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DTMR de 25m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Départ pleine eau 25m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Vitesse de remontée constante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10-12m / minute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Arrêt entre 6 et 8m avec 360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Sortie du parachute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Gestion de la désaturation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Au moins 1min à 6m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Fin épreuve en surface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BB4EF9CB-F7F5-A7BB-D648-48AF30ED95AA}"/>
              </a:ext>
            </a:extLst>
          </p:cNvPr>
          <p:cNvSpPr txBox="1"/>
          <p:nvPr/>
        </p:nvSpPr>
        <p:spPr>
          <a:xfrm>
            <a:off x="134342" y="497176"/>
            <a:ext cx="5026593" cy="184665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Participants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3 Prépa GP N4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Adultes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En fin de formation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Sortie en mer récente pour l’IPD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Moniteurs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2 E3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3E7B5AC-0DED-5B02-25D4-022D6D95079E}"/>
              </a:ext>
            </a:extLst>
          </p:cNvPr>
          <p:cNvSpPr txBox="1"/>
          <p:nvPr/>
        </p:nvSpPr>
        <p:spPr>
          <a:xfrm>
            <a:off x="152467" y="4928163"/>
            <a:ext cx="4981662" cy="1754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fr-FR" dirty="0"/>
              <a:t>Palanquées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Composition adaptée pour chaque plongée</a:t>
            </a:r>
          </a:p>
          <a:p>
            <a:r>
              <a:rPr lang="fr-FR" dirty="0"/>
              <a:t>Sécurité / Préconisation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3 remontées maximum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dirty="0"/>
              <a:t>Protocole suite à plongées yoyo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dirty="0"/>
              <a:t>5min à ½, 1min à 6m et 5 min à 3m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71B36CB1-DF1A-AD8B-2B5A-6D155FDD5792}"/>
              </a:ext>
            </a:extLst>
          </p:cNvPr>
          <p:cNvSpPr txBox="1"/>
          <p:nvPr/>
        </p:nvSpPr>
        <p:spPr>
          <a:xfrm>
            <a:off x="5399079" y="2918860"/>
            <a:ext cx="2029979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Add</a:t>
            </a:r>
            <a:r>
              <a:rPr lang="fr-FR" dirty="0"/>
              <a:t> </a:t>
            </a:r>
          </a:p>
          <a:p>
            <a:r>
              <a:rPr lang="fr-FR" dirty="0"/>
              <a:t>timeline</a:t>
            </a:r>
          </a:p>
          <a:p>
            <a:r>
              <a:rPr lang="fr-FR" dirty="0"/>
              <a:t>Profile de plongée</a:t>
            </a:r>
          </a:p>
          <a:p>
            <a:endParaRPr lang="fr-FR" dirty="0"/>
          </a:p>
          <a:p>
            <a:r>
              <a:rPr lang="fr-FR" dirty="0"/>
              <a:t>Préciser</a:t>
            </a:r>
          </a:p>
          <a:p>
            <a:r>
              <a:rPr lang="fr-FR" dirty="0"/>
              <a:t>Les sous objectifs</a:t>
            </a:r>
          </a:p>
          <a:p>
            <a:endParaRPr lang="fr-FR" dirty="0"/>
          </a:p>
          <a:p>
            <a:r>
              <a:rPr lang="fr-FR" dirty="0"/>
              <a:t>Stabilisation</a:t>
            </a:r>
          </a:p>
          <a:p>
            <a:r>
              <a:rPr lang="fr-FR" dirty="0"/>
              <a:t>Vit. Remonté</a:t>
            </a:r>
          </a:p>
          <a:p>
            <a:r>
              <a:rPr lang="fr-FR" dirty="0"/>
              <a:t>Gestion parachute</a:t>
            </a:r>
          </a:p>
          <a:p>
            <a:r>
              <a:rPr lang="fr-FR"/>
              <a:t>Zone 6 – 8m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4699360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>
            <a:extLst>
              <a:ext uri="{FF2B5EF4-FFF2-40B4-BE49-F238E27FC236}">
                <a16:creationId xmlns:a16="http://schemas.microsoft.com/office/drawing/2014/main" id="{0B5E1135-1A42-DEEE-75B4-E14BCE869EA9}"/>
              </a:ext>
            </a:extLst>
          </p:cNvPr>
          <p:cNvSpPr txBox="1"/>
          <p:nvPr/>
        </p:nvSpPr>
        <p:spPr>
          <a:xfrm>
            <a:off x="128229" y="736358"/>
            <a:ext cx="5195334" cy="455509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Présentation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Séjour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2 jours sur place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3 jours avec le voyage de la veille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En mer méditerranée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Bateau: Barge avec deux échelles à l’arrière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Objet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Préparation à l’épreuve de DTMR de 25m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Pour 3 prépa GP N4 (fin de formation)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Lieu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Hôtel,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5 min bateau / club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Repas: hôtel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Transport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Train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Voiture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Ma position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E3 / DP du séjour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76831BEB-1731-45C3-3685-3825998EEE89}"/>
              </a:ext>
            </a:extLst>
          </p:cNvPr>
          <p:cNvSpPr txBox="1"/>
          <p:nvPr/>
        </p:nvSpPr>
        <p:spPr>
          <a:xfrm>
            <a:off x="5936541" y="736358"/>
            <a:ext cx="2309350" cy="40626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fr-FR" b="1" dirty="0"/>
              <a:t>Présentation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Séjour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Objet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Lieu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Transport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Participants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Déroulement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Vendredi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Voyage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Accueil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Matériel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Samedi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formation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fr-FR" sz="1600" dirty="0"/>
              <a:t>Dimanche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Formation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fr-FR" sz="1600" dirty="0"/>
              <a:t>retour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66FFD4C0-0A88-3D88-3DFE-D637ADE0466F}"/>
              </a:ext>
            </a:extLst>
          </p:cNvPr>
          <p:cNvSpPr txBox="1"/>
          <p:nvPr/>
        </p:nvSpPr>
        <p:spPr>
          <a:xfrm>
            <a:off x="0" y="46903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Informations diverses non écrites</a:t>
            </a:r>
          </a:p>
        </p:txBody>
      </p:sp>
    </p:spTree>
    <p:extLst>
      <p:ext uri="{BB962C8B-B14F-4D97-AF65-F5344CB8AC3E}">
        <p14:creationId xmlns:p14="http://schemas.microsoft.com/office/powerpoint/2010/main" val="187626007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37338</TotalTime>
  <Words>256</Words>
  <Application>Microsoft Macintosh PowerPoint</Application>
  <PresentationFormat>Grand écran</PresentationFormat>
  <Paragraphs>108</Paragraphs>
  <Slides>2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Thème Office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Olivier Artigue</dc:creator>
  <cp:lastModifiedBy>Olivier Artigue</cp:lastModifiedBy>
  <cp:revision>39</cp:revision>
  <dcterms:created xsi:type="dcterms:W3CDTF">2025-09-29T11:28:50Z</dcterms:created>
  <dcterms:modified xsi:type="dcterms:W3CDTF">2026-02-05T20:26:18Z</dcterms:modified>
</cp:coreProperties>
</file>
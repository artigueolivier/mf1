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9" r:id="rId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33"/>
    <p:restoredTop sz="84867"/>
  </p:normalViewPr>
  <p:slideViewPr>
    <p:cSldViewPr snapToGrid="0">
      <p:cViewPr varScale="1">
        <p:scale>
          <a:sx n="111" d="100"/>
          <a:sy n="111" d="100"/>
        </p:scale>
        <p:origin x="232" y="336"/>
      </p:cViewPr>
      <p:guideLst/>
    </p:cSldViewPr>
  </p:slideViewPr>
  <p:notesTextViewPr>
    <p:cViewPr>
      <p:scale>
        <a:sx n="1" d="1"/>
        <a:sy n="1" d="1"/>
      </p:scale>
      <p:origin x="0" y="-1208"/>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661FFD-40AA-5C4C-9980-E99720D2E9B3}" type="datetimeFigureOut">
              <a:rPr lang="fr-FR" smtClean="0"/>
              <a:t>14/10/2025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FB71B7-5211-2B41-BD96-CBFFC54010AF}" type="slidenum">
              <a:rPr lang="fr-FR" smtClean="0"/>
              <a:t>‹N°›</a:t>
            </a:fld>
            <a:endParaRPr lang="fr-FR"/>
          </a:p>
        </p:txBody>
      </p:sp>
    </p:spTree>
    <p:extLst>
      <p:ext uri="{BB962C8B-B14F-4D97-AF65-F5344CB8AC3E}">
        <p14:creationId xmlns:p14="http://schemas.microsoft.com/office/powerpoint/2010/main" val="3855531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Bienvenu à cette présentation du séjour de préparation N3. L’objectif de ce séjour est de permettre à 4 N3 ayant effectué 8 fosses à 20m d’effectuer 8 plongées de préparation au N3. Chaque moniteur aura la charge de 2 N3. Nous sommes lundi, vendredi nous prendrons le TGV pour rejoindre la côte. Le club local est situé à proximité de notre hôtel où nous prendrons l’ensemble des repas et petit déjeuners. Quant au bateau, il se trouve à 5 minutes de notre hôtel. Le club assure le transfert entre la gare TGV et notre hôtel grâce à un minibus. Vendredi après notre installation à l’hôtel, nous irons au local du club pour y déposer et/ou récupérer notre matériel de plongée. On rangera notre matériel dans une caisse marquée de notre nom. Le but est d’être samedi au bateau pour 9h00 avec son matériel pour équiper son bloc et s’équiper avant de prendre la mer pour 20 minutes. Entre samedi et mardi, nous effectuerons 8 plongées. Celles de samedi se feront sur 30 mètres tandis que les suivantes seront sur 40 mètres. Comme vous pouvez le voir, nous avons un bloc commun à toutes les plongées qui sont concentre les éléments les plus importants pour un N3: Compréhension DP, Planification, orientation et parachute. La première plongée sera l’occasion de vérifier et ajuster le lestage. Vous noterez qu'à partir de dimanche, nous travaillerons l'IPD. Les petites étoiles indiquent la progression. Une étoile correspond à démarrage jusqu'à 30m. Deux étoiles correspond à une remontée jusqu'à 20m. Vous l'aurez compris trois étoiles correspond à une remontée jusqu'à 5m. J'en profite pour rappeler que nous sommes limités à 80m de remontée par plongée. Cela signifie que mardi, une seule IPD pourra être effectuée par plongée. Durant ce séjour, nous allons plonger sur quatre types de site: Tombant, épave, cône ou piton rocheux et enfin des ensembles de patates. Ainsi, il sera possible de travailler différentes planification et stratégie d'orientation à partir des informations communiquées par le DP. Enfin, concernant le retour par TGV de mercredi matin, le départ de l'hôtel est prévu à 9h00. A présent je vais revenir sur le déroulement des journées de plongée. Le petit déjeuner sera accessible à partir de 7h30. Nous devrons être avec notre caisse de matériel sur le quai à proximité du bateau pour 9h00. La première palanquée s'</a:t>
            </a:r>
            <a:r>
              <a:rPr lang="fr-FR" dirty="0" err="1"/>
              <a:t>imergera</a:t>
            </a:r>
            <a:r>
              <a:rPr lang="fr-FR" dirty="0"/>
              <a:t> vers 10h00. Le retour au port est prévu en général pour 11h30. Le repas, un buffet, sera accessible à partir de midi. Le rendez-vous au bateau pour l'après-midi est fixé à 14h30. Au retour, à 17h30 les moniteurs se retrouveront entre eux pour un debrief. Pour les niveaux N3, c'est quartier libre jusqu'à 19h30, l'heure du repas. Le soir, il s'agit d'un menu classique entrée, plat, dessert. Le soir vers 21h00, nous proposerons des ateliers d'une durée de 45 minutes maximum. La participation se fait sur la base du </a:t>
            </a:r>
            <a:r>
              <a:rPr lang="fr-FR" dirty="0" err="1"/>
              <a:t>volontaria</a:t>
            </a:r>
            <a:r>
              <a:rPr lang="fr-FR" dirty="0"/>
              <a:t>. La liste des sujets sera déterminé en fonction des besoins et demandes. Cependant, on peut dès à présent en prévoir un sur le matelotage. Enfin je termine cette présentation avec quelques informations complémentaires: La température de l'eau est à 23 degrés et la météo s'annonce </a:t>
            </a:r>
            <a:r>
              <a:rPr lang="fr-FR" dirty="0" err="1"/>
              <a:t>ensoleilée</a:t>
            </a:r>
            <a:r>
              <a:rPr lang="fr-FR" dirty="0"/>
              <a:t> et sans vent. La visibilité sous l'eau est excellente.</a:t>
            </a:r>
          </a:p>
        </p:txBody>
      </p:sp>
      <p:sp>
        <p:nvSpPr>
          <p:cNvPr id="4" name="Espace réservé du numéro de diapositive 3"/>
          <p:cNvSpPr>
            <a:spLocks noGrp="1"/>
          </p:cNvSpPr>
          <p:nvPr>
            <p:ph type="sldNum" sz="quarter" idx="5"/>
          </p:nvPr>
        </p:nvSpPr>
        <p:spPr/>
        <p:txBody>
          <a:bodyPr/>
          <a:lstStyle/>
          <a:p>
            <a:fld id="{34FB71B7-5211-2B41-BD96-CBFFC54010AF}" type="slidenum">
              <a:rPr lang="fr-FR" smtClean="0"/>
              <a:t>1</a:t>
            </a:fld>
            <a:endParaRPr lang="fr-FR"/>
          </a:p>
        </p:txBody>
      </p:sp>
    </p:spTree>
    <p:extLst>
      <p:ext uri="{BB962C8B-B14F-4D97-AF65-F5344CB8AC3E}">
        <p14:creationId xmlns:p14="http://schemas.microsoft.com/office/powerpoint/2010/main" val="26535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69AC15-2F9E-7AB0-EB23-9306ABCD872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F920C97-0C70-354C-787B-04C3801D24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EA507B7-8A62-C1D5-9B00-EE6CD96388C1}"/>
              </a:ext>
            </a:extLst>
          </p:cNvPr>
          <p:cNvSpPr>
            <a:spLocks noGrp="1"/>
          </p:cNvSpPr>
          <p:nvPr>
            <p:ph type="dt" sz="half" idx="10"/>
          </p:nvPr>
        </p:nvSpPr>
        <p:spPr/>
        <p:txBody>
          <a:bodyPr/>
          <a:lstStyle/>
          <a:p>
            <a:fld id="{A2162964-48FF-B442-ADB9-E9DB1215FFC5}" type="datetimeFigureOut">
              <a:rPr lang="fr-FR" smtClean="0"/>
              <a:t>14/10/2025</a:t>
            </a:fld>
            <a:endParaRPr lang="fr-FR"/>
          </a:p>
        </p:txBody>
      </p:sp>
      <p:sp>
        <p:nvSpPr>
          <p:cNvPr id="5" name="Espace réservé du pied de page 4">
            <a:extLst>
              <a:ext uri="{FF2B5EF4-FFF2-40B4-BE49-F238E27FC236}">
                <a16:creationId xmlns:a16="http://schemas.microsoft.com/office/drawing/2014/main" id="{4FA25723-02D6-FC5E-57CB-49DA3A19F44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682D840-0379-1615-D920-3F5A58A90EEA}"/>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135167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B22B6A-A053-E4E5-B1F9-00A4B9CF2BD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E533891-CE9E-6AE8-970D-1D0DC2114C7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C60D288-1011-17C6-BAB5-1E43FE7EE7BF}"/>
              </a:ext>
            </a:extLst>
          </p:cNvPr>
          <p:cNvSpPr>
            <a:spLocks noGrp="1"/>
          </p:cNvSpPr>
          <p:nvPr>
            <p:ph type="dt" sz="half" idx="10"/>
          </p:nvPr>
        </p:nvSpPr>
        <p:spPr/>
        <p:txBody>
          <a:bodyPr/>
          <a:lstStyle/>
          <a:p>
            <a:fld id="{A2162964-48FF-B442-ADB9-E9DB1215FFC5}" type="datetimeFigureOut">
              <a:rPr lang="fr-FR" smtClean="0"/>
              <a:t>14/10/2025</a:t>
            </a:fld>
            <a:endParaRPr lang="fr-FR"/>
          </a:p>
        </p:txBody>
      </p:sp>
      <p:sp>
        <p:nvSpPr>
          <p:cNvPr id="5" name="Espace réservé du pied de page 4">
            <a:extLst>
              <a:ext uri="{FF2B5EF4-FFF2-40B4-BE49-F238E27FC236}">
                <a16:creationId xmlns:a16="http://schemas.microsoft.com/office/drawing/2014/main" id="{0FDE4B6F-50B3-989C-A0D9-4263E344E98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D3646D1-2D97-AF97-85EF-9EEDA7E93975}"/>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3220498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CE76B1-9240-F342-D50E-EEFDC7A7170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32B4472-0E90-8F4C-A39F-C26DF8FC1D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B4542C2-7F72-0CDF-FC19-8EECAEAFE336}"/>
              </a:ext>
            </a:extLst>
          </p:cNvPr>
          <p:cNvSpPr>
            <a:spLocks noGrp="1"/>
          </p:cNvSpPr>
          <p:nvPr>
            <p:ph type="dt" sz="half" idx="10"/>
          </p:nvPr>
        </p:nvSpPr>
        <p:spPr/>
        <p:txBody>
          <a:bodyPr/>
          <a:lstStyle/>
          <a:p>
            <a:fld id="{A2162964-48FF-B442-ADB9-E9DB1215FFC5}" type="datetimeFigureOut">
              <a:rPr lang="fr-FR" smtClean="0"/>
              <a:t>14/10/2025</a:t>
            </a:fld>
            <a:endParaRPr lang="fr-FR"/>
          </a:p>
        </p:txBody>
      </p:sp>
      <p:sp>
        <p:nvSpPr>
          <p:cNvPr id="5" name="Espace réservé du pied de page 4">
            <a:extLst>
              <a:ext uri="{FF2B5EF4-FFF2-40B4-BE49-F238E27FC236}">
                <a16:creationId xmlns:a16="http://schemas.microsoft.com/office/drawing/2014/main" id="{D8F26E37-3213-92BD-1D34-4447AFCC48B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B6BFD40-EC3B-0046-EC0A-8172595247DA}"/>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1327465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E371EC-FAB2-CB3C-B5ED-CB46DC3C636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33270E4-01F7-285B-EEE0-BA619B52E7F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F93439DB-7674-469A-69ED-DE07C3CC483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543B70F-0190-EA6A-B04B-56BD43C056A7}"/>
              </a:ext>
            </a:extLst>
          </p:cNvPr>
          <p:cNvSpPr>
            <a:spLocks noGrp="1"/>
          </p:cNvSpPr>
          <p:nvPr>
            <p:ph type="dt" sz="half" idx="10"/>
          </p:nvPr>
        </p:nvSpPr>
        <p:spPr/>
        <p:txBody>
          <a:bodyPr/>
          <a:lstStyle/>
          <a:p>
            <a:fld id="{A2162964-48FF-B442-ADB9-E9DB1215FFC5}" type="datetimeFigureOut">
              <a:rPr lang="fr-FR" smtClean="0"/>
              <a:t>14/10/2025</a:t>
            </a:fld>
            <a:endParaRPr lang="fr-FR"/>
          </a:p>
        </p:txBody>
      </p:sp>
      <p:sp>
        <p:nvSpPr>
          <p:cNvPr id="6" name="Espace réservé du pied de page 5">
            <a:extLst>
              <a:ext uri="{FF2B5EF4-FFF2-40B4-BE49-F238E27FC236}">
                <a16:creationId xmlns:a16="http://schemas.microsoft.com/office/drawing/2014/main" id="{1B01FC1F-1720-D812-1006-9180AFD81F2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97AAF23-9BB5-D601-E025-9468874F2687}"/>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1632122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3EFC5E-063F-5A64-F3BF-59699053759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AF91DFD-BDCC-DB93-5F0C-9B7DB59DD9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A5F3B64-8354-81FC-838E-6DCD580F898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062BC3B-4E78-E4E9-CE9D-735F40C2B0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90B8A41-F448-FB07-2D0E-C6AE8FDAA2B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6584554-76F3-7C7B-5EFD-47FD02E4971D}"/>
              </a:ext>
            </a:extLst>
          </p:cNvPr>
          <p:cNvSpPr>
            <a:spLocks noGrp="1"/>
          </p:cNvSpPr>
          <p:nvPr>
            <p:ph type="dt" sz="half" idx="10"/>
          </p:nvPr>
        </p:nvSpPr>
        <p:spPr/>
        <p:txBody>
          <a:bodyPr/>
          <a:lstStyle/>
          <a:p>
            <a:fld id="{A2162964-48FF-B442-ADB9-E9DB1215FFC5}" type="datetimeFigureOut">
              <a:rPr lang="fr-FR" smtClean="0"/>
              <a:t>14/10/2025</a:t>
            </a:fld>
            <a:endParaRPr lang="fr-FR"/>
          </a:p>
        </p:txBody>
      </p:sp>
      <p:sp>
        <p:nvSpPr>
          <p:cNvPr id="8" name="Espace réservé du pied de page 7">
            <a:extLst>
              <a:ext uri="{FF2B5EF4-FFF2-40B4-BE49-F238E27FC236}">
                <a16:creationId xmlns:a16="http://schemas.microsoft.com/office/drawing/2014/main" id="{0B6D519B-50FE-B808-93BE-6E9CB894F6D9}"/>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B1D269D-642A-703F-326E-A191EFC907F9}"/>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262977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79E2CF-7ED7-59E7-78F6-41E74B98408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352359E8-ADE2-C5B6-1B2F-C12531B3CBB9}"/>
              </a:ext>
            </a:extLst>
          </p:cNvPr>
          <p:cNvSpPr>
            <a:spLocks noGrp="1"/>
          </p:cNvSpPr>
          <p:nvPr>
            <p:ph type="dt" sz="half" idx="10"/>
          </p:nvPr>
        </p:nvSpPr>
        <p:spPr/>
        <p:txBody>
          <a:bodyPr/>
          <a:lstStyle/>
          <a:p>
            <a:fld id="{A2162964-48FF-B442-ADB9-E9DB1215FFC5}" type="datetimeFigureOut">
              <a:rPr lang="fr-FR" smtClean="0"/>
              <a:t>14/10/2025</a:t>
            </a:fld>
            <a:endParaRPr lang="fr-FR"/>
          </a:p>
        </p:txBody>
      </p:sp>
      <p:sp>
        <p:nvSpPr>
          <p:cNvPr id="4" name="Espace réservé du pied de page 3">
            <a:extLst>
              <a:ext uri="{FF2B5EF4-FFF2-40B4-BE49-F238E27FC236}">
                <a16:creationId xmlns:a16="http://schemas.microsoft.com/office/drawing/2014/main" id="{E96DBC21-79FF-B1A7-728A-2A2865B52B8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76F6051-ED27-9D12-E32F-72D4B4FC95A1}"/>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3631588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E9C047B-1105-576E-BB5F-E3C74B891D26}"/>
              </a:ext>
            </a:extLst>
          </p:cNvPr>
          <p:cNvSpPr>
            <a:spLocks noGrp="1"/>
          </p:cNvSpPr>
          <p:nvPr>
            <p:ph type="dt" sz="half" idx="10"/>
          </p:nvPr>
        </p:nvSpPr>
        <p:spPr/>
        <p:txBody>
          <a:bodyPr/>
          <a:lstStyle/>
          <a:p>
            <a:fld id="{A2162964-48FF-B442-ADB9-E9DB1215FFC5}" type="datetimeFigureOut">
              <a:rPr lang="fr-FR" smtClean="0"/>
              <a:t>14/10/2025</a:t>
            </a:fld>
            <a:endParaRPr lang="fr-FR"/>
          </a:p>
        </p:txBody>
      </p:sp>
      <p:sp>
        <p:nvSpPr>
          <p:cNvPr id="3" name="Espace réservé du pied de page 2">
            <a:extLst>
              <a:ext uri="{FF2B5EF4-FFF2-40B4-BE49-F238E27FC236}">
                <a16:creationId xmlns:a16="http://schemas.microsoft.com/office/drawing/2014/main" id="{B97F1442-0E91-19A1-0A23-000C8C19AF6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D265620F-BE9A-FBB6-A6B6-270A9415A22E}"/>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2065287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631F50-4F8F-8617-18E7-D03CDB678BC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C890FAA9-AA21-1505-D58A-319C64A72A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54F6815-D71C-F3B0-2C27-DFD7D0E8EF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6341961-D7B8-A4DD-F9C6-DC9F56D30FFB}"/>
              </a:ext>
            </a:extLst>
          </p:cNvPr>
          <p:cNvSpPr>
            <a:spLocks noGrp="1"/>
          </p:cNvSpPr>
          <p:nvPr>
            <p:ph type="dt" sz="half" idx="10"/>
          </p:nvPr>
        </p:nvSpPr>
        <p:spPr/>
        <p:txBody>
          <a:bodyPr/>
          <a:lstStyle/>
          <a:p>
            <a:fld id="{A2162964-48FF-B442-ADB9-E9DB1215FFC5}" type="datetimeFigureOut">
              <a:rPr lang="fr-FR" smtClean="0"/>
              <a:t>14/10/2025</a:t>
            </a:fld>
            <a:endParaRPr lang="fr-FR"/>
          </a:p>
        </p:txBody>
      </p:sp>
      <p:sp>
        <p:nvSpPr>
          <p:cNvPr id="6" name="Espace réservé du pied de page 5">
            <a:extLst>
              <a:ext uri="{FF2B5EF4-FFF2-40B4-BE49-F238E27FC236}">
                <a16:creationId xmlns:a16="http://schemas.microsoft.com/office/drawing/2014/main" id="{249D8F1E-454F-877A-8AA1-E2AF524EFE7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E41CB8F-695A-F4D3-6096-E7842D702809}"/>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3507053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453551-3194-6A78-F9EB-6F6AC6D570F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A1755E6-4BF5-43C9-697E-5450002250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5513E2B-98CC-490A-8177-32E56F78B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2EE05CE-CC7F-FCD2-3D38-70CA1A98979E}"/>
              </a:ext>
            </a:extLst>
          </p:cNvPr>
          <p:cNvSpPr>
            <a:spLocks noGrp="1"/>
          </p:cNvSpPr>
          <p:nvPr>
            <p:ph type="dt" sz="half" idx="10"/>
          </p:nvPr>
        </p:nvSpPr>
        <p:spPr/>
        <p:txBody>
          <a:bodyPr/>
          <a:lstStyle/>
          <a:p>
            <a:fld id="{A2162964-48FF-B442-ADB9-E9DB1215FFC5}" type="datetimeFigureOut">
              <a:rPr lang="fr-FR" smtClean="0"/>
              <a:t>14/10/2025</a:t>
            </a:fld>
            <a:endParaRPr lang="fr-FR"/>
          </a:p>
        </p:txBody>
      </p:sp>
      <p:sp>
        <p:nvSpPr>
          <p:cNvPr id="6" name="Espace réservé du pied de page 5">
            <a:extLst>
              <a:ext uri="{FF2B5EF4-FFF2-40B4-BE49-F238E27FC236}">
                <a16:creationId xmlns:a16="http://schemas.microsoft.com/office/drawing/2014/main" id="{83AD8C10-A04D-6738-BE3B-919401A2BA1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34F2F1-9D94-49BD-2594-D9A00AF7DECF}"/>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1456171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F6BD3B-4501-31BF-1147-CB7A59CACB3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E391CF0-E05F-6846-247F-1667ED45A57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CE3197D-17BB-671A-91F1-E195A58B3F7C}"/>
              </a:ext>
            </a:extLst>
          </p:cNvPr>
          <p:cNvSpPr>
            <a:spLocks noGrp="1"/>
          </p:cNvSpPr>
          <p:nvPr>
            <p:ph type="dt" sz="half" idx="10"/>
          </p:nvPr>
        </p:nvSpPr>
        <p:spPr/>
        <p:txBody>
          <a:bodyPr/>
          <a:lstStyle/>
          <a:p>
            <a:fld id="{A2162964-48FF-B442-ADB9-E9DB1215FFC5}" type="datetimeFigureOut">
              <a:rPr lang="fr-FR" smtClean="0"/>
              <a:t>14/10/2025</a:t>
            </a:fld>
            <a:endParaRPr lang="fr-FR"/>
          </a:p>
        </p:txBody>
      </p:sp>
      <p:sp>
        <p:nvSpPr>
          <p:cNvPr id="5" name="Espace réservé du pied de page 4">
            <a:extLst>
              <a:ext uri="{FF2B5EF4-FFF2-40B4-BE49-F238E27FC236}">
                <a16:creationId xmlns:a16="http://schemas.microsoft.com/office/drawing/2014/main" id="{75EE5A5D-9006-CFEA-3814-A9ADF2B7563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577A93-3B3D-EED0-A871-92CA7E111B2E}"/>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1948897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955FB91-A790-4D0E-FC11-72136AAC75E0}"/>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AE46840-BBB0-91BC-F1E9-CF3BB3C1A30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107BDC8-288E-F60C-D7E3-6F79C7FB76B1}"/>
              </a:ext>
            </a:extLst>
          </p:cNvPr>
          <p:cNvSpPr>
            <a:spLocks noGrp="1"/>
          </p:cNvSpPr>
          <p:nvPr>
            <p:ph type="dt" sz="half" idx="10"/>
          </p:nvPr>
        </p:nvSpPr>
        <p:spPr/>
        <p:txBody>
          <a:bodyPr/>
          <a:lstStyle/>
          <a:p>
            <a:fld id="{A2162964-48FF-B442-ADB9-E9DB1215FFC5}" type="datetimeFigureOut">
              <a:rPr lang="fr-FR" smtClean="0"/>
              <a:t>14/10/2025</a:t>
            </a:fld>
            <a:endParaRPr lang="fr-FR"/>
          </a:p>
        </p:txBody>
      </p:sp>
      <p:sp>
        <p:nvSpPr>
          <p:cNvPr id="5" name="Espace réservé du pied de page 4">
            <a:extLst>
              <a:ext uri="{FF2B5EF4-FFF2-40B4-BE49-F238E27FC236}">
                <a16:creationId xmlns:a16="http://schemas.microsoft.com/office/drawing/2014/main" id="{99D1564F-0EAB-21F9-8061-C8C84B2BF4F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FF30C1A-25A0-5BEF-AA63-9A0F250243C2}"/>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2049423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7D0CF59-DB30-DAA5-B277-BB642DA1E5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ED14CE7B-D5CB-F92C-4FFD-410FD8D12A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368F307-E163-90F9-E60B-8BA0EAA329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162964-48FF-B442-ADB9-E9DB1215FFC5}" type="datetimeFigureOut">
              <a:rPr lang="fr-FR" smtClean="0"/>
              <a:t>14/10/2025</a:t>
            </a:fld>
            <a:endParaRPr lang="fr-FR"/>
          </a:p>
        </p:txBody>
      </p:sp>
      <p:sp>
        <p:nvSpPr>
          <p:cNvPr id="5" name="Espace réservé du pied de page 4">
            <a:extLst>
              <a:ext uri="{FF2B5EF4-FFF2-40B4-BE49-F238E27FC236}">
                <a16:creationId xmlns:a16="http://schemas.microsoft.com/office/drawing/2014/main" id="{094C8767-DAC1-ADC6-D4C3-D7A047B3A9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007C143-938B-F217-2EF4-972C5DD5AF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1B955D-3F29-3D44-8890-49D35BF3EF10}" type="slidenum">
              <a:rPr lang="fr-FR" smtClean="0"/>
              <a:t>‹N°›</a:t>
            </a:fld>
            <a:endParaRPr lang="fr-FR"/>
          </a:p>
        </p:txBody>
      </p:sp>
    </p:spTree>
    <p:extLst>
      <p:ext uri="{BB962C8B-B14F-4D97-AF65-F5344CB8AC3E}">
        <p14:creationId xmlns:p14="http://schemas.microsoft.com/office/powerpoint/2010/main" val="3654602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a:extLst>
              <a:ext uri="{FF2B5EF4-FFF2-40B4-BE49-F238E27FC236}">
                <a16:creationId xmlns:a16="http://schemas.microsoft.com/office/drawing/2014/main" id="{2109600A-93DD-1FEE-F592-1F036BE54CDB}"/>
              </a:ext>
            </a:extLst>
          </p:cNvPr>
          <p:cNvGraphicFramePr>
            <a:graphicFrameLocks noGrp="1"/>
          </p:cNvGraphicFramePr>
          <p:nvPr>
            <p:extLst>
              <p:ext uri="{D42A27DB-BD31-4B8C-83A1-F6EECF244321}">
                <p14:modId xmlns:p14="http://schemas.microsoft.com/office/powerpoint/2010/main" val="3924481982"/>
              </p:ext>
            </p:extLst>
          </p:nvPr>
        </p:nvGraphicFramePr>
        <p:xfrm>
          <a:off x="4887020" y="542126"/>
          <a:ext cx="6062631" cy="4872650"/>
        </p:xfrm>
        <a:graphic>
          <a:graphicData uri="http://schemas.openxmlformats.org/drawingml/2006/table">
            <a:tbl>
              <a:tblPr firstRow="1" bandRow="1">
                <a:tableStyleId>{5C22544A-7EE6-4342-B048-85BDC9FD1C3A}</a:tableStyleId>
              </a:tblPr>
              <a:tblGrid>
                <a:gridCol w="896760">
                  <a:extLst>
                    <a:ext uri="{9D8B030D-6E8A-4147-A177-3AD203B41FA5}">
                      <a16:colId xmlns:a16="http://schemas.microsoft.com/office/drawing/2014/main" val="1224792426"/>
                    </a:ext>
                  </a:extLst>
                </a:gridCol>
                <a:gridCol w="1213690">
                  <a:extLst>
                    <a:ext uri="{9D8B030D-6E8A-4147-A177-3AD203B41FA5}">
                      <a16:colId xmlns:a16="http://schemas.microsoft.com/office/drawing/2014/main" val="348916069"/>
                    </a:ext>
                  </a:extLst>
                </a:gridCol>
                <a:gridCol w="1280729">
                  <a:extLst>
                    <a:ext uri="{9D8B030D-6E8A-4147-A177-3AD203B41FA5}">
                      <a16:colId xmlns:a16="http://schemas.microsoft.com/office/drawing/2014/main" val="1962881342"/>
                    </a:ext>
                  </a:extLst>
                </a:gridCol>
                <a:gridCol w="1280729">
                  <a:extLst>
                    <a:ext uri="{9D8B030D-6E8A-4147-A177-3AD203B41FA5}">
                      <a16:colId xmlns:a16="http://schemas.microsoft.com/office/drawing/2014/main" val="963310050"/>
                    </a:ext>
                  </a:extLst>
                </a:gridCol>
                <a:gridCol w="1390723">
                  <a:extLst>
                    <a:ext uri="{9D8B030D-6E8A-4147-A177-3AD203B41FA5}">
                      <a16:colId xmlns:a16="http://schemas.microsoft.com/office/drawing/2014/main" val="2255952462"/>
                    </a:ext>
                  </a:extLst>
                </a:gridCol>
              </a:tblGrid>
              <a:tr h="457348">
                <a:tc>
                  <a:txBody>
                    <a:bodyPr/>
                    <a:lstStyle/>
                    <a:p>
                      <a:endParaRPr lang="fr-FR" dirty="0"/>
                    </a:p>
                  </a:txBody>
                  <a:tcPr/>
                </a:tc>
                <a:tc>
                  <a:txBody>
                    <a:bodyPr/>
                    <a:lstStyle/>
                    <a:p>
                      <a:pPr algn="ctr"/>
                      <a:r>
                        <a:rPr lang="fr-FR" dirty="0"/>
                        <a:t>Samedi</a:t>
                      </a:r>
                    </a:p>
                  </a:txBody>
                  <a:tcPr/>
                </a:tc>
                <a:tc>
                  <a:txBody>
                    <a:bodyPr/>
                    <a:lstStyle/>
                    <a:p>
                      <a:pPr algn="ctr"/>
                      <a:r>
                        <a:rPr lang="fr-FR" dirty="0"/>
                        <a:t>Dimanche</a:t>
                      </a:r>
                    </a:p>
                  </a:txBody>
                  <a:tcPr/>
                </a:tc>
                <a:tc>
                  <a:txBody>
                    <a:bodyPr/>
                    <a:lstStyle/>
                    <a:p>
                      <a:pPr algn="ctr"/>
                      <a:r>
                        <a:rPr lang="fr-FR" dirty="0"/>
                        <a:t>Lundi</a:t>
                      </a:r>
                    </a:p>
                  </a:txBody>
                  <a:tcPr/>
                </a:tc>
                <a:tc>
                  <a:txBody>
                    <a:bodyPr/>
                    <a:lstStyle/>
                    <a:p>
                      <a:pPr algn="ctr"/>
                      <a:r>
                        <a:rPr lang="fr-FR" dirty="0"/>
                        <a:t>Mardi</a:t>
                      </a:r>
                    </a:p>
                  </a:txBody>
                  <a:tcPr/>
                </a:tc>
                <a:extLst>
                  <a:ext uri="{0D108BD9-81ED-4DB2-BD59-A6C34878D82A}">
                    <a16:rowId xmlns:a16="http://schemas.microsoft.com/office/drawing/2014/main" val="1324259806"/>
                  </a:ext>
                </a:extLst>
              </a:tr>
              <a:tr h="205592">
                <a:tc>
                  <a:txBody>
                    <a:bodyPr/>
                    <a:lstStyle/>
                    <a:p>
                      <a:r>
                        <a:rPr lang="fr-FR" sz="1400" dirty="0"/>
                        <a:t>7h30</a:t>
                      </a:r>
                    </a:p>
                  </a:txBody>
                  <a:tcPr/>
                </a:tc>
                <a:tc>
                  <a:txBody>
                    <a:bodyPr/>
                    <a:lstStyle/>
                    <a:p>
                      <a:r>
                        <a:rPr lang="fr-FR" sz="1400" dirty="0"/>
                        <a:t>Petit déjeuner</a:t>
                      </a:r>
                    </a:p>
                  </a:txBody>
                  <a:tcPr/>
                </a:tc>
                <a:tc>
                  <a:txBody>
                    <a:bodyPr/>
                    <a:lstStyle/>
                    <a:p>
                      <a:endParaRPr lang="fr-FR" sz="1400" dirty="0"/>
                    </a:p>
                  </a:txBody>
                  <a:tcPr/>
                </a:tc>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949987163"/>
                  </a:ext>
                </a:extLst>
              </a:tr>
              <a:tr h="1442893">
                <a:tc>
                  <a:txBody>
                    <a:bodyPr/>
                    <a:lstStyle/>
                    <a:p>
                      <a:r>
                        <a:rPr lang="fr-FR" sz="1400" dirty="0"/>
                        <a:t>9h00</a:t>
                      </a:r>
                    </a:p>
                  </a:txBody>
                  <a:tcPr/>
                </a:tc>
                <a:tc>
                  <a:txBody>
                    <a:bodyPr/>
                    <a:lstStyle/>
                    <a:p>
                      <a:pPr algn="ctr"/>
                      <a:r>
                        <a:rPr lang="fr-FR" sz="1400" dirty="0"/>
                        <a:t>Plongée 1</a:t>
                      </a:r>
                    </a:p>
                    <a:p>
                      <a:pPr algn="ctr"/>
                      <a:r>
                        <a:rPr lang="fr-FR" sz="1400" dirty="0"/>
                        <a:t>30m</a:t>
                      </a:r>
                    </a:p>
                    <a:p>
                      <a:r>
                        <a:rPr lang="fr-FR" sz="1400" dirty="0"/>
                        <a:t>B.C</a:t>
                      </a:r>
                    </a:p>
                    <a:p>
                      <a:r>
                        <a:rPr lang="fr-FR" sz="1400" dirty="0"/>
                        <a:t>(sans parachute)</a:t>
                      </a:r>
                    </a:p>
                    <a:p>
                      <a:r>
                        <a:rPr lang="fr-FR" sz="1400" dirty="0"/>
                        <a:t>Lestage</a:t>
                      </a:r>
                    </a:p>
                  </a:txBody>
                  <a:tcPr/>
                </a:tc>
                <a:tc>
                  <a:txBody>
                    <a:bodyPr/>
                    <a:lstStyle/>
                    <a:p>
                      <a:pPr algn="ctr"/>
                      <a:r>
                        <a:rPr lang="fr-FR" sz="1400" dirty="0"/>
                        <a:t>Plongée 3</a:t>
                      </a:r>
                    </a:p>
                    <a:p>
                      <a:pPr algn="ctr"/>
                      <a:r>
                        <a:rPr lang="fr-FR" sz="1400" dirty="0"/>
                        <a:t>40m</a:t>
                      </a:r>
                    </a:p>
                    <a:p>
                      <a:r>
                        <a:rPr lang="fr-FR" sz="1400" dirty="0"/>
                        <a:t>B.C</a:t>
                      </a:r>
                    </a:p>
                    <a:p>
                      <a:r>
                        <a:rPr lang="fr-FR" sz="1400" dirty="0"/>
                        <a:t>IPD*</a:t>
                      </a:r>
                    </a:p>
                    <a:p>
                      <a:endParaRPr lang="fr-FR" sz="1400" dirty="0"/>
                    </a:p>
                  </a:txBody>
                  <a:tcPr/>
                </a:tc>
                <a:tc>
                  <a:txBody>
                    <a:bodyPr/>
                    <a:lstStyle/>
                    <a:p>
                      <a:pPr algn="ctr"/>
                      <a:r>
                        <a:rPr lang="fr-FR" sz="1400" dirty="0"/>
                        <a:t>Plongée 5</a:t>
                      </a:r>
                    </a:p>
                    <a:p>
                      <a:pPr algn="ctr"/>
                      <a:r>
                        <a:rPr lang="fr-FR" sz="1400" dirty="0"/>
                        <a:t>40m</a:t>
                      </a:r>
                    </a:p>
                    <a:p>
                      <a:r>
                        <a:rPr lang="fr-FR" sz="1400" dirty="0"/>
                        <a:t>B.C</a:t>
                      </a:r>
                    </a:p>
                    <a:p>
                      <a:r>
                        <a:rPr lang="fr-FR" sz="1400" dirty="0"/>
                        <a:t>IPD**</a:t>
                      </a:r>
                    </a:p>
                    <a:p>
                      <a:endParaRPr lang="fr-FR" sz="1400" dirty="0"/>
                    </a:p>
                  </a:txBody>
                  <a:tcPr/>
                </a:tc>
                <a:tc>
                  <a:txBody>
                    <a:bodyPr/>
                    <a:lstStyle/>
                    <a:p>
                      <a:pPr algn="ctr"/>
                      <a:r>
                        <a:rPr lang="fr-FR" sz="1400" dirty="0"/>
                        <a:t>Plongée 7</a:t>
                      </a:r>
                    </a:p>
                    <a:p>
                      <a:pPr algn="ctr"/>
                      <a:r>
                        <a:rPr lang="fr-FR" sz="1400" dirty="0"/>
                        <a:t>40m</a:t>
                      </a:r>
                    </a:p>
                    <a:p>
                      <a:r>
                        <a:rPr lang="fr-FR" sz="1400" dirty="0"/>
                        <a:t>B.C</a:t>
                      </a:r>
                    </a:p>
                    <a:p>
                      <a:r>
                        <a:rPr lang="fr-FR" sz="1400" dirty="0"/>
                        <a:t>IPD***</a:t>
                      </a:r>
                    </a:p>
                    <a:p>
                      <a:endParaRPr lang="fr-FR" sz="1400" dirty="0"/>
                    </a:p>
                  </a:txBody>
                  <a:tcPr/>
                </a:tc>
                <a:extLst>
                  <a:ext uri="{0D108BD9-81ED-4DB2-BD59-A6C34878D82A}">
                    <a16:rowId xmlns:a16="http://schemas.microsoft.com/office/drawing/2014/main" val="1490336253"/>
                  </a:ext>
                </a:extLst>
              </a:tr>
              <a:tr h="246239">
                <a:tc>
                  <a:txBody>
                    <a:bodyPr/>
                    <a:lstStyle/>
                    <a:p>
                      <a:r>
                        <a:rPr lang="fr-FR" sz="1400" dirty="0"/>
                        <a:t>12h00</a:t>
                      </a:r>
                    </a:p>
                  </a:txBody>
                  <a:tcPr/>
                </a:tc>
                <a:tc>
                  <a:txBody>
                    <a:bodyPr/>
                    <a:lstStyle/>
                    <a:p>
                      <a:r>
                        <a:rPr lang="fr-FR" sz="1400" dirty="0"/>
                        <a:t>Repas</a:t>
                      </a:r>
                    </a:p>
                  </a:txBody>
                  <a:tcPr/>
                </a:tc>
                <a:tc>
                  <a:txBody>
                    <a:bodyPr/>
                    <a:lstStyle/>
                    <a:p>
                      <a:endParaRPr lang="fr-FR" sz="1400" dirty="0"/>
                    </a:p>
                  </a:txBody>
                  <a:tcPr/>
                </a:tc>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2729465631"/>
                  </a:ext>
                </a:extLst>
              </a:tr>
              <a:tr h="1306673">
                <a:tc>
                  <a:txBody>
                    <a:bodyPr/>
                    <a:lstStyle/>
                    <a:p>
                      <a:r>
                        <a:rPr lang="fr-FR" sz="1400" dirty="0"/>
                        <a:t>14h30</a:t>
                      </a:r>
                    </a:p>
                  </a:txBody>
                  <a:tcPr/>
                </a:tc>
                <a:tc>
                  <a:txBody>
                    <a:bodyPr/>
                    <a:lstStyle/>
                    <a:p>
                      <a:pPr algn="ctr"/>
                      <a:r>
                        <a:rPr lang="fr-FR" sz="1400" dirty="0"/>
                        <a:t>Plongée 2</a:t>
                      </a:r>
                    </a:p>
                    <a:p>
                      <a:pPr algn="ctr"/>
                      <a:r>
                        <a:rPr lang="fr-FR" sz="1400" dirty="0"/>
                        <a:t>30m</a:t>
                      </a:r>
                    </a:p>
                    <a:p>
                      <a:r>
                        <a:rPr lang="fr-FR" sz="1400" dirty="0"/>
                        <a:t>B.C.</a:t>
                      </a:r>
                    </a:p>
                    <a:p>
                      <a:endParaRPr lang="fr-FR" sz="1400" dirty="0"/>
                    </a:p>
                  </a:txBody>
                  <a:tcPr/>
                </a:tc>
                <a:tc>
                  <a:txBody>
                    <a:bodyPr/>
                    <a:lstStyle/>
                    <a:p>
                      <a:pPr algn="ctr"/>
                      <a:r>
                        <a:rPr lang="fr-FR" sz="1400" dirty="0"/>
                        <a:t>Plongée 4</a:t>
                      </a:r>
                    </a:p>
                    <a:p>
                      <a:pPr algn="ctr"/>
                      <a:r>
                        <a:rPr lang="fr-FR" sz="1400" dirty="0"/>
                        <a:t>40m</a:t>
                      </a:r>
                    </a:p>
                    <a:p>
                      <a:r>
                        <a:rPr lang="fr-FR" sz="1400" dirty="0"/>
                        <a:t>B.C</a:t>
                      </a:r>
                    </a:p>
                    <a:p>
                      <a:r>
                        <a:rPr lang="fr-FR" sz="1400" dirty="0"/>
                        <a:t>IPD*</a:t>
                      </a:r>
                    </a:p>
                    <a:p>
                      <a:endParaRPr lang="fr-FR" sz="1400" dirty="0"/>
                    </a:p>
                  </a:txBody>
                  <a:tcPr/>
                </a:tc>
                <a:tc>
                  <a:txBody>
                    <a:bodyPr/>
                    <a:lstStyle/>
                    <a:p>
                      <a:pPr algn="ctr"/>
                      <a:r>
                        <a:rPr lang="fr-FR" sz="1400" dirty="0"/>
                        <a:t>Plongée 6</a:t>
                      </a:r>
                    </a:p>
                    <a:p>
                      <a:pPr algn="ctr"/>
                      <a:r>
                        <a:rPr lang="fr-FR" sz="1400" dirty="0"/>
                        <a:t>40m</a:t>
                      </a:r>
                    </a:p>
                    <a:p>
                      <a:r>
                        <a:rPr lang="fr-FR" sz="1400" dirty="0"/>
                        <a:t>B.C</a:t>
                      </a:r>
                    </a:p>
                    <a:p>
                      <a:r>
                        <a:rPr lang="fr-FR" sz="1400" dirty="0"/>
                        <a:t>IPD**</a:t>
                      </a:r>
                    </a:p>
                    <a:p>
                      <a:endParaRPr lang="fr-FR" sz="1400" dirty="0"/>
                    </a:p>
                  </a:txBody>
                  <a:tcPr/>
                </a:tc>
                <a:tc>
                  <a:txBody>
                    <a:bodyPr/>
                    <a:lstStyle/>
                    <a:p>
                      <a:pPr algn="ctr"/>
                      <a:r>
                        <a:rPr lang="fr-FR" sz="1400" dirty="0"/>
                        <a:t>Plongée 8</a:t>
                      </a:r>
                    </a:p>
                    <a:p>
                      <a:pPr algn="ctr"/>
                      <a:r>
                        <a:rPr lang="fr-FR" sz="1400" dirty="0"/>
                        <a:t>40m</a:t>
                      </a:r>
                    </a:p>
                    <a:p>
                      <a:r>
                        <a:rPr lang="fr-FR" sz="1400" dirty="0"/>
                        <a:t>B.C</a:t>
                      </a:r>
                    </a:p>
                    <a:p>
                      <a:r>
                        <a:rPr lang="fr-FR" sz="1400" dirty="0"/>
                        <a:t>IPD***</a:t>
                      </a:r>
                    </a:p>
                    <a:p>
                      <a:endParaRPr lang="fr-FR" sz="1400" dirty="0"/>
                    </a:p>
                  </a:txBody>
                  <a:tcPr/>
                </a:tc>
                <a:extLst>
                  <a:ext uri="{0D108BD9-81ED-4DB2-BD59-A6C34878D82A}">
                    <a16:rowId xmlns:a16="http://schemas.microsoft.com/office/drawing/2014/main" val="4111650527"/>
                  </a:ext>
                </a:extLst>
              </a:tr>
              <a:tr h="324616">
                <a:tc>
                  <a:txBody>
                    <a:bodyPr/>
                    <a:lstStyle/>
                    <a:p>
                      <a:r>
                        <a:rPr lang="fr-FR" sz="1400" dirty="0"/>
                        <a:t>17h30</a:t>
                      </a:r>
                    </a:p>
                  </a:txBody>
                  <a:tcPr/>
                </a:tc>
                <a:tc>
                  <a:txBody>
                    <a:bodyPr/>
                    <a:lstStyle/>
                    <a:p>
                      <a:r>
                        <a:rPr lang="fr-FR" sz="1400" dirty="0"/>
                        <a:t>Debrief moniteurs</a:t>
                      </a:r>
                    </a:p>
                  </a:txBody>
                  <a:tcPr/>
                </a:tc>
                <a:tc>
                  <a:txBody>
                    <a:bodyPr/>
                    <a:lstStyle/>
                    <a:p>
                      <a:endParaRPr lang="fr-FR" sz="1400" dirty="0"/>
                    </a:p>
                  </a:txBody>
                  <a:tcPr/>
                </a:tc>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2655640843"/>
                  </a:ext>
                </a:extLst>
              </a:tr>
              <a:tr h="324616">
                <a:tc>
                  <a:txBody>
                    <a:bodyPr/>
                    <a:lstStyle/>
                    <a:p>
                      <a:r>
                        <a:rPr lang="fr-FR" sz="1400" dirty="0"/>
                        <a:t>19h30</a:t>
                      </a:r>
                    </a:p>
                  </a:txBody>
                  <a:tcPr/>
                </a:tc>
                <a:tc>
                  <a:txBody>
                    <a:bodyPr/>
                    <a:lstStyle/>
                    <a:p>
                      <a:r>
                        <a:rPr lang="fr-FR" sz="1400" dirty="0"/>
                        <a:t>Repas</a:t>
                      </a:r>
                    </a:p>
                  </a:txBody>
                  <a:tcPr/>
                </a:tc>
                <a:tc>
                  <a:txBody>
                    <a:bodyPr/>
                    <a:lstStyle/>
                    <a:p>
                      <a:endParaRPr lang="fr-FR" sz="1400" dirty="0"/>
                    </a:p>
                  </a:txBody>
                  <a:tcPr/>
                </a:tc>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4083839430"/>
                  </a:ext>
                </a:extLst>
              </a:tr>
            </a:tbl>
          </a:graphicData>
        </a:graphic>
      </p:graphicFrame>
      <p:sp>
        <p:nvSpPr>
          <p:cNvPr id="2" name="ZoneTexte 1">
            <a:extLst>
              <a:ext uri="{FF2B5EF4-FFF2-40B4-BE49-F238E27FC236}">
                <a16:creationId xmlns:a16="http://schemas.microsoft.com/office/drawing/2014/main" id="{5D0E774A-3B90-136A-9BC6-60A604DD09CB}"/>
              </a:ext>
            </a:extLst>
          </p:cNvPr>
          <p:cNvSpPr txBox="1"/>
          <p:nvPr/>
        </p:nvSpPr>
        <p:spPr>
          <a:xfrm>
            <a:off x="0" y="46903"/>
            <a:ext cx="12192000" cy="369332"/>
          </a:xfrm>
          <a:prstGeom prst="rect">
            <a:avLst/>
          </a:prstGeom>
          <a:noFill/>
        </p:spPr>
        <p:txBody>
          <a:bodyPr wrap="square" rtlCol="0">
            <a:spAutoFit/>
          </a:bodyPr>
          <a:lstStyle/>
          <a:p>
            <a:pPr algn="ctr"/>
            <a:r>
              <a:rPr lang="fr-FR" dirty="0"/>
              <a:t>Séjour </a:t>
            </a:r>
            <a:r>
              <a:rPr lang="fr-FR" dirty="0" err="1"/>
              <a:t>Prepa</a:t>
            </a:r>
            <a:r>
              <a:rPr lang="fr-FR" dirty="0"/>
              <a:t> N3 – 4 jours</a:t>
            </a:r>
          </a:p>
        </p:txBody>
      </p:sp>
      <p:sp>
        <p:nvSpPr>
          <p:cNvPr id="3" name="ZoneTexte 2">
            <a:extLst>
              <a:ext uri="{FF2B5EF4-FFF2-40B4-BE49-F238E27FC236}">
                <a16:creationId xmlns:a16="http://schemas.microsoft.com/office/drawing/2014/main" id="{CAB6CC73-A033-E436-635E-C10B6F4B5C53}"/>
              </a:ext>
            </a:extLst>
          </p:cNvPr>
          <p:cNvSpPr txBox="1"/>
          <p:nvPr/>
        </p:nvSpPr>
        <p:spPr>
          <a:xfrm>
            <a:off x="142775" y="2542606"/>
            <a:ext cx="2585066" cy="1107996"/>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fr-FR" b="1" dirty="0"/>
              <a:t>Sites de plongée</a:t>
            </a:r>
          </a:p>
          <a:p>
            <a:pPr marL="285750" indent="-285750">
              <a:buFont typeface="Arial" panose="020B0604020202020204" pitchFamily="34" charset="0"/>
              <a:buChar char="•"/>
            </a:pPr>
            <a:r>
              <a:rPr lang="fr-FR" sz="1600" dirty="0"/>
              <a:t>Eau: 23 degrés</a:t>
            </a:r>
          </a:p>
          <a:p>
            <a:pPr marL="285750" indent="-285750">
              <a:buFont typeface="Arial" panose="020B0604020202020204" pitchFamily="34" charset="0"/>
              <a:buChar char="•"/>
            </a:pPr>
            <a:r>
              <a:rPr lang="fr-FR" sz="1600" dirty="0"/>
              <a:t>Soleil pas de vent</a:t>
            </a:r>
          </a:p>
          <a:p>
            <a:pPr marL="285750" indent="-285750">
              <a:buFont typeface="Arial" panose="020B0604020202020204" pitchFamily="34" charset="0"/>
              <a:buChar char="•"/>
            </a:pPr>
            <a:r>
              <a:rPr lang="fr-FR" sz="1600" dirty="0"/>
              <a:t>Pas de courant</a:t>
            </a:r>
          </a:p>
        </p:txBody>
      </p:sp>
      <p:sp>
        <p:nvSpPr>
          <p:cNvPr id="6" name="Rectangle : coins arrondis 5">
            <a:extLst>
              <a:ext uri="{FF2B5EF4-FFF2-40B4-BE49-F238E27FC236}">
                <a16:creationId xmlns:a16="http://schemas.microsoft.com/office/drawing/2014/main" id="{FF29B90B-E008-FAF6-E1B6-8893D9A4C09F}"/>
              </a:ext>
            </a:extLst>
          </p:cNvPr>
          <p:cNvSpPr/>
          <p:nvPr/>
        </p:nvSpPr>
        <p:spPr>
          <a:xfrm>
            <a:off x="5773963" y="5587961"/>
            <a:ext cx="1189878"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Samedi</a:t>
            </a:r>
          </a:p>
        </p:txBody>
      </p:sp>
      <p:sp>
        <p:nvSpPr>
          <p:cNvPr id="7" name="Rectangle : coins arrondis 6">
            <a:extLst>
              <a:ext uri="{FF2B5EF4-FFF2-40B4-BE49-F238E27FC236}">
                <a16:creationId xmlns:a16="http://schemas.microsoft.com/office/drawing/2014/main" id="{C56A6EE9-9F14-202C-140F-1282DABFF7B4}"/>
              </a:ext>
            </a:extLst>
          </p:cNvPr>
          <p:cNvSpPr/>
          <p:nvPr/>
        </p:nvSpPr>
        <p:spPr>
          <a:xfrm>
            <a:off x="7036982" y="5587960"/>
            <a:ext cx="1219866"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Dimanche</a:t>
            </a:r>
          </a:p>
        </p:txBody>
      </p:sp>
      <p:sp>
        <p:nvSpPr>
          <p:cNvPr id="8" name="Rectangle : coins arrondis 7">
            <a:extLst>
              <a:ext uri="{FF2B5EF4-FFF2-40B4-BE49-F238E27FC236}">
                <a16:creationId xmlns:a16="http://schemas.microsoft.com/office/drawing/2014/main" id="{2E110DA7-1F67-4217-899A-1668713C1C62}"/>
              </a:ext>
            </a:extLst>
          </p:cNvPr>
          <p:cNvSpPr/>
          <p:nvPr/>
        </p:nvSpPr>
        <p:spPr>
          <a:xfrm>
            <a:off x="4321549" y="5587961"/>
            <a:ext cx="1385598"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Vendredi</a:t>
            </a:r>
          </a:p>
        </p:txBody>
      </p:sp>
      <p:sp>
        <p:nvSpPr>
          <p:cNvPr id="9" name="Rectangle : coins arrondis 8">
            <a:extLst>
              <a:ext uri="{FF2B5EF4-FFF2-40B4-BE49-F238E27FC236}">
                <a16:creationId xmlns:a16="http://schemas.microsoft.com/office/drawing/2014/main" id="{61EA7791-6BE2-EBA6-E15D-4BEB788F7152}"/>
              </a:ext>
            </a:extLst>
          </p:cNvPr>
          <p:cNvSpPr/>
          <p:nvPr/>
        </p:nvSpPr>
        <p:spPr>
          <a:xfrm>
            <a:off x="11042248" y="5599788"/>
            <a:ext cx="1012229"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Mercredi</a:t>
            </a:r>
          </a:p>
        </p:txBody>
      </p:sp>
      <p:sp>
        <p:nvSpPr>
          <p:cNvPr id="10" name="Rectangle : coins arrondis 9">
            <a:extLst>
              <a:ext uri="{FF2B5EF4-FFF2-40B4-BE49-F238E27FC236}">
                <a16:creationId xmlns:a16="http://schemas.microsoft.com/office/drawing/2014/main" id="{454CF99E-97F2-E3F5-4485-A6782E77EE8B}"/>
              </a:ext>
            </a:extLst>
          </p:cNvPr>
          <p:cNvSpPr/>
          <p:nvPr/>
        </p:nvSpPr>
        <p:spPr>
          <a:xfrm>
            <a:off x="2356619" y="5599789"/>
            <a:ext cx="1243103"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Lundi</a:t>
            </a:r>
          </a:p>
        </p:txBody>
      </p:sp>
      <p:sp>
        <p:nvSpPr>
          <p:cNvPr id="11" name="ZoneTexte 10">
            <a:extLst>
              <a:ext uri="{FF2B5EF4-FFF2-40B4-BE49-F238E27FC236}">
                <a16:creationId xmlns:a16="http://schemas.microsoft.com/office/drawing/2014/main" id="{35EB7D97-D14D-B1AF-DA1A-AB936983B4F4}"/>
              </a:ext>
            </a:extLst>
          </p:cNvPr>
          <p:cNvSpPr txBox="1"/>
          <p:nvPr/>
        </p:nvSpPr>
        <p:spPr>
          <a:xfrm>
            <a:off x="10979427" y="5946459"/>
            <a:ext cx="1144026" cy="307777"/>
          </a:xfrm>
          <a:prstGeom prst="rect">
            <a:avLst/>
          </a:prstGeom>
          <a:noFill/>
        </p:spPr>
        <p:txBody>
          <a:bodyPr wrap="square" rtlCol="0">
            <a:spAutoFit/>
          </a:bodyPr>
          <a:lstStyle/>
          <a:p>
            <a:r>
              <a:rPr lang="fr-FR" sz="1400" dirty="0"/>
              <a:t>Retour TGV</a:t>
            </a:r>
          </a:p>
        </p:txBody>
      </p:sp>
      <p:sp>
        <p:nvSpPr>
          <p:cNvPr id="12" name="ZoneTexte 11">
            <a:extLst>
              <a:ext uri="{FF2B5EF4-FFF2-40B4-BE49-F238E27FC236}">
                <a16:creationId xmlns:a16="http://schemas.microsoft.com/office/drawing/2014/main" id="{BA9ED153-F957-2F69-E7B1-3A68CE9C5D31}"/>
              </a:ext>
            </a:extLst>
          </p:cNvPr>
          <p:cNvSpPr txBox="1"/>
          <p:nvPr/>
        </p:nvSpPr>
        <p:spPr>
          <a:xfrm>
            <a:off x="2356619" y="5939033"/>
            <a:ext cx="1243103" cy="307777"/>
          </a:xfrm>
          <a:prstGeom prst="rect">
            <a:avLst/>
          </a:prstGeom>
          <a:noFill/>
        </p:spPr>
        <p:txBody>
          <a:bodyPr wrap="square" rtlCol="0">
            <a:spAutoFit/>
          </a:bodyPr>
          <a:lstStyle/>
          <a:p>
            <a:r>
              <a:rPr lang="fr-FR" sz="1400" dirty="0"/>
              <a:t>Présentation</a:t>
            </a:r>
          </a:p>
        </p:txBody>
      </p:sp>
      <p:sp>
        <p:nvSpPr>
          <p:cNvPr id="13" name="ZoneTexte 12">
            <a:extLst>
              <a:ext uri="{FF2B5EF4-FFF2-40B4-BE49-F238E27FC236}">
                <a16:creationId xmlns:a16="http://schemas.microsoft.com/office/drawing/2014/main" id="{BCB30179-9F1F-242C-F77E-FF86BD33F909}"/>
              </a:ext>
            </a:extLst>
          </p:cNvPr>
          <p:cNvSpPr txBox="1"/>
          <p:nvPr/>
        </p:nvSpPr>
        <p:spPr>
          <a:xfrm>
            <a:off x="4242220" y="5893626"/>
            <a:ext cx="1464927" cy="769441"/>
          </a:xfrm>
          <a:prstGeom prst="rect">
            <a:avLst/>
          </a:prstGeom>
          <a:noFill/>
        </p:spPr>
        <p:txBody>
          <a:bodyPr wrap="square" rtlCol="0">
            <a:spAutoFit/>
          </a:bodyPr>
          <a:lstStyle/>
          <a:p>
            <a:pPr marL="285750" indent="-285750">
              <a:buFont typeface="Arial" panose="020B0604020202020204" pitchFamily="34" charset="0"/>
              <a:buChar char="•"/>
            </a:pPr>
            <a:r>
              <a:rPr lang="fr-FR" sz="1400" dirty="0"/>
              <a:t>Aller TGV</a:t>
            </a:r>
          </a:p>
          <a:p>
            <a:pPr marL="285750" indent="-285750">
              <a:buFont typeface="Arial" panose="020B0604020202020204" pitchFamily="34" charset="0"/>
              <a:buChar char="•"/>
            </a:pPr>
            <a:r>
              <a:rPr lang="fr-FR" sz="1400" dirty="0"/>
              <a:t>Installation</a:t>
            </a:r>
          </a:p>
          <a:p>
            <a:pPr marL="285750" indent="-285750">
              <a:buFont typeface="Arial" panose="020B0604020202020204" pitchFamily="34" charset="0"/>
              <a:buChar char="•"/>
            </a:pPr>
            <a:r>
              <a:rPr lang="fr-FR" sz="1400" dirty="0"/>
              <a:t>Matérie</a:t>
            </a:r>
            <a:r>
              <a:rPr lang="fr-FR" sz="1600" dirty="0"/>
              <a:t>l</a:t>
            </a:r>
          </a:p>
        </p:txBody>
      </p:sp>
      <p:sp>
        <p:nvSpPr>
          <p:cNvPr id="14" name="ZoneTexte 13">
            <a:extLst>
              <a:ext uri="{FF2B5EF4-FFF2-40B4-BE49-F238E27FC236}">
                <a16:creationId xmlns:a16="http://schemas.microsoft.com/office/drawing/2014/main" id="{05687229-B2A2-469D-2B2E-0706F0E476CE}"/>
              </a:ext>
            </a:extLst>
          </p:cNvPr>
          <p:cNvSpPr txBox="1"/>
          <p:nvPr/>
        </p:nvSpPr>
        <p:spPr>
          <a:xfrm>
            <a:off x="3576342" y="5040981"/>
            <a:ext cx="814647" cy="1015663"/>
          </a:xfrm>
          <a:prstGeom prst="rect">
            <a:avLst/>
          </a:prstGeom>
          <a:noFill/>
        </p:spPr>
        <p:txBody>
          <a:bodyPr wrap="none" rtlCol="0">
            <a:spAutoFit/>
          </a:bodyPr>
          <a:lstStyle/>
          <a:p>
            <a:r>
              <a:rPr lang="fr-FR" sz="6000" dirty="0"/>
              <a:t>…</a:t>
            </a:r>
          </a:p>
        </p:txBody>
      </p:sp>
      <p:sp>
        <p:nvSpPr>
          <p:cNvPr id="15" name="ZoneTexte 14">
            <a:extLst>
              <a:ext uri="{FF2B5EF4-FFF2-40B4-BE49-F238E27FC236}">
                <a16:creationId xmlns:a16="http://schemas.microsoft.com/office/drawing/2014/main" id="{0F1C91D7-3E1D-96BA-3D14-7B6769FC692A}"/>
              </a:ext>
            </a:extLst>
          </p:cNvPr>
          <p:cNvSpPr txBox="1"/>
          <p:nvPr/>
        </p:nvSpPr>
        <p:spPr>
          <a:xfrm>
            <a:off x="1611421" y="5040981"/>
            <a:ext cx="814647" cy="1015663"/>
          </a:xfrm>
          <a:prstGeom prst="rect">
            <a:avLst/>
          </a:prstGeom>
          <a:noFill/>
        </p:spPr>
        <p:txBody>
          <a:bodyPr wrap="none" rtlCol="0">
            <a:spAutoFit/>
          </a:bodyPr>
          <a:lstStyle/>
          <a:p>
            <a:r>
              <a:rPr lang="fr-FR" sz="6000" dirty="0"/>
              <a:t>…</a:t>
            </a:r>
          </a:p>
        </p:txBody>
      </p:sp>
      <p:sp>
        <p:nvSpPr>
          <p:cNvPr id="16" name="Rectangle : coins arrondis 15">
            <a:extLst>
              <a:ext uri="{FF2B5EF4-FFF2-40B4-BE49-F238E27FC236}">
                <a16:creationId xmlns:a16="http://schemas.microsoft.com/office/drawing/2014/main" id="{9236B619-1E97-DDD7-DE83-03550EA36F82}"/>
              </a:ext>
            </a:extLst>
          </p:cNvPr>
          <p:cNvSpPr/>
          <p:nvPr/>
        </p:nvSpPr>
        <p:spPr>
          <a:xfrm>
            <a:off x="137523" y="5587961"/>
            <a:ext cx="1500159"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1 mois plutôt</a:t>
            </a:r>
          </a:p>
        </p:txBody>
      </p:sp>
      <p:sp>
        <p:nvSpPr>
          <p:cNvPr id="17" name="ZoneTexte 16">
            <a:extLst>
              <a:ext uri="{FF2B5EF4-FFF2-40B4-BE49-F238E27FC236}">
                <a16:creationId xmlns:a16="http://schemas.microsoft.com/office/drawing/2014/main" id="{EBE0DDDD-745F-5278-57CE-8D7C261AFC9B}"/>
              </a:ext>
            </a:extLst>
          </p:cNvPr>
          <p:cNvSpPr txBox="1"/>
          <p:nvPr/>
        </p:nvSpPr>
        <p:spPr>
          <a:xfrm>
            <a:off x="126422" y="5949579"/>
            <a:ext cx="1500160" cy="307777"/>
          </a:xfrm>
          <a:prstGeom prst="rect">
            <a:avLst/>
          </a:prstGeom>
          <a:noFill/>
        </p:spPr>
        <p:txBody>
          <a:bodyPr wrap="square" rtlCol="0">
            <a:spAutoFit/>
          </a:bodyPr>
          <a:lstStyle/>
          <a:p>
            <a:r>
              <a:rPr lang="fr-FR" sz="1400" dirty="0"/>
              <a:t>Administratif</a:t>
            </a:r>
          </a:p>
        </p:txBody>
      </p:sp>
      <p:sp>
        <p:nvSpPr>
          <p:cNvPr id="18" name="ZoneTexte 17">
            <a:extLst>
              <a:ext uri="{FF2B5EF4-FFF2-40B4-BE49-F238E27FC236}">
                <a16:creationId xmlns:a16="http://schemas.microsoft.com/office/drawing/2014/main" id="{73253DDA-E62B-42B9-D822-00A14F07B3BC}"/>
              </a:ext>
            </a:extLst>
          </p:cNvPr>
          <p:cNvSpPr txBox="1"/>
          <p:nvPr/>
        </p:nvSpPr>
        <p:spPr>
          <a:xfrm>
            <a:off x="5725792" y="5922293"/>
            <a:ext cx="1238049" cy="738664"/>
          </a:xfrm>
          <a:prstGeom prst="rect">
            <a:avLst/>
          </a:prstGeom>
          <a:noFill/>
        </p:spPr>
        <p:txBody>
          <a:bodyPr wrap="square" rtlCol="0">
            <a:spAutoFit/>
          </a:bodyPr>
          <a:lstStyle/>
          <a:p>
            <a:r>
              <a:rPr lang="fr-FR" sz="1400" dirty="0"/>
              <a:t>Plongées:</a:t>
            </a:r>
          </a:p>
          <a:p>
            <a:pPr marL="285750" indent="-285750">
              <a:buFont typeface="Arial" panose="020B0604020202020204" pitchFamily="34" charset="0"/>
              <a:buChar char="•"/>
            </a:pPr>
            <a:r>
              <a:rPr lang="fr-FR" sz="1400" dirty="0"/>
              <a:t>Tombant</a:t>
            </a:r>
          </a:p>
          <a:p>
            <a:pPr marL="285750" indent="-285750">
              <a:buFont typeface="Arial" panose="020B0604020202020204" pitchFamily="34" charset="0"/>
              <a:buChar char="•"/>
            </a:pPr>
            <a:r>
              <a:rPr lang="fr-FR" sz="1400" dirty="0"/>
              <a:t>Tombant</a:t>
            </a:r>
          </a:p>
        </p:txBody>
      </p:sp>
      <p:sp>
        <p:nvSpPr>
          <p:cNvPr id="20" name="ZoneTexte 19">
            <a:extLst>
              <a:ext uri="{FF2B5EF4-FFF2-40B4-BE49-F238E27FC236}">
                <a16:creationId xmlns:a16="http://schemas.microsoft.com/office/drawing/2014/main" id="{4168F553-E8FD-1D63-72AA-9D4B9053FA2D}"/>
              </a:ext>
            </a:extLst>
          </p:cNvPr>
          <p:cNvSpPr txBox="1"/>
          <p:nvPr/>
        </p:nvSpPr>
        <p:spPr>
          <a:xfrm>
            <a:off x="137523" y="140360"/>
            <a:ext cx="2585067" cy="1107996"/>
          </a:xfrm>
          <a:prstGeom prst="rect">
            <a:avLst/>
          </a:prstGeom>
          <a:solidFill>
            <a:schemeClr val="accent2">
              <a:lumMod val="20000"/>
              <a:lumOff val="80000"/>
            </a:schemeClr>
          </a:solidFill>
          <a:ln>
            <a:solidFill>
              <a:schemeClr val="accent2">
                <a:lumMod val="75000"/>
              </a:schemeClr>
            </a:solidFill>
          </a:ln>
        </p:spPr>
        <p:txBody>
          <a:bodyPr wrap="square" rtlCol="0">
            <a:spAutoFit/>
          </a:bodyPr>
          <a:lstStyle/>
          <a:p>
            <a:pPr algn="ctr"/>
            <a:r>
              <a:rPr lang="fr-FR" b="1" dirty="0"/>
              <a:t>Contexte</a:t>
            </a:r>
          </a:p>
          <a:p>
            <a:pPr marL="285750" indent="-285750">
              <a:buFont typeface="Arial" panose="020B0604020202020204" pitchFamily="34" charset="0"/>
              <a:buChar char="•"/>
            </a:pPr>
            <a:r>
              <a:rPr lang="fr-FR" sz="1600" dirty="0"/>
              <a:t>4 N3 - 8 fosses à 20m</a:t>
            </a:r>
          </a:p>
          <a:p>
            <a:pPr marL="285750" indent="-285750">
              <a:buFont typeface="Arial" panose="020B0604020202020204" pitchFamily="34" charset="0"/>
              <a:buChar char="•"/>
            </a:pPr>
            <a:r>
              <a:rPr lang="fr-FR" sz="1600" dirty="0"/>
              <a:t>2 E3</a:t>
            </a:r>
          </a:p>
          <a:p>
            <a:pPr marL="285750" indent="-285750">
              <a:buFont typeface="Arial" panose="020B0604020202020204" pitchFamily="34" charset="0"/>
              <a:buChar char="•"/>
            </a:pPr>
            <a:r>
              <a:rPr lang="fr-FR" sz="1600" dirty="0"/>
              <a:t>Théorie validée</a:t>
            </a:r>
          </a:p>
        </p:txBody>
      </p:sp>
      <p:sp>
        <p:nvSpPr>
          <p:cNvPr id="21" name="ZoneTexte 20">
            <a:extLst>
              <a:ext uri="{FF2B5EF4-FFF2-40B4-BE49-F238E27FC236}">
                <a16:creationId xmlns:a16="http://schemas.microsoft.com/office/drawing/2014/main" id="{E43B56B3-EF17-2898-C13A-B43005CF0BF5}"/>
              </a:ext>
            </a:extLst>
          </p:cNvPr>
          <p:cNvSpPr txBox="1"/>
          <p:nvPr/>
        </p:nvSpPr>
        <p:spPr>
          <a:xfrm>
            <a:off x="137523" y="1351489"/>
            <a:ext cx="2585067" cy="1107996"/>
          </a:xfrm>
          <a:prstGeom prst="rect">
            <a:avLst/>
          </a:prstGeom>
          <a:solidFill>
            <a:schemeClr val="accent4">
              <a:lumMod val="20000"/>
              <a:lumOff val="80000"/>
            </a:schemeClr>
          </a:solidFill>
          <a:ln>
            <a:solidFill>
              <a:schemeClr val="accent1">
                <a:lumMod val="75000"/>
              </a:schemeClr>
            </a:solidFill>
          </a:ln>
        </p:spPr>
        <p:txBody>
          <a:bodyPr wrap="square" rtlCol="0">
            <a:spAutoFit/>
          </a:bodyPr>
          <a:lstStyle/>
          <a:p>
            <a:pPr algn="ctr"/>
            <a:r>
              <a:rPr lang="fr-FR" b="1" dirty="0"/>
              <a:t>Logement</a:t>
            </a:r>
          </a:p>
          <a:p>
            <a:pPr marL="285750" indent="-285750">
              <a:buFont typeface="Arial" panose="020B0604020202020204" pitchFamily="34" charset="0"/>
              <a:buChar char="•"/>
            </a:pPr>
            <a:r>
              <a:rPr lang="fr-FR" sz="1600" dirty="0"/>
              <a:t>Hôtel, </a:t>
            </a:r>
          </a:p>
          <a:p>
            <a:pPr marL="285750" indent="-285750">
              <a:buFont typeface="Arial" panose="020B0604020202020204" pitchFamily="34" charset="0"/>
              <a:buChar char="•"/>
            </a:pPr>
            <a:r>
              <a:rPr lang="fr-FR" sz="1600" dirty="0"/>
              <a:t>5 min bateau / club</a:t>
            </a:r>
          </a:p>
          <a:p>
            <a:pPr marL="285750" indent="-285750">
              <a:buFont typeface="Arial" panose="020B0604020202020204" pitchFamily="34" charset="0"/>
              <a:buChar char="•"/>
            </a:pPr>
            <a:r>
              <a:rPr lang="fr-FR" sz="1600" dirty="0"/>
              <a:t>Repas: hôtel</a:t>
            </a:r>
          </a:p>
        </p:txBody>
      </p:sp>
      <p:sp>
        <p:nvSpPr>
          <p:cNvPr id="22" name="ZoneTexte 21">
            <a:extLst>
              <a:ext uri="{FF2B5EF4-FFF2-40B4-BE49-F238E27FC236}">
                <a16:creationId xmlns:a16="http://schemas.microsoft.com/office/drawing/2014/main" id="{AB42E386-3486-54DD-0A6F-D435B0D2EA6C}"/>
              </a:ext>
            </a:extLst>
          </p:cNvPr>
          <p:cNvSpPr txBox="1"/>
          <p:nvPr/>
        </p:nvSpPr>
        <p:spPr>
          <a:xfrm>
            <a:off x="137523" y="3722155"/>
            <a:ext cx="2585066" cy="1354217"/>
          </a:xfrm>
          <a:prstGeom prst="rect">
            <a:avLst/>
          </a:prstGeom>
          <a:solidFill>
            <a:schemeClr val="bg2">
              <a:lumMod val="90000"/>
            </a:schemeClr>
          </a:solidFill>
          <a:ln>
            <a:solidFill>
              <a:schemeClr val="bg2">
                <a:lumMod val="25000"/>
              </a:schemeClr>
            </a:solidFill>
          </a:ln>
        </p:spPr>
        <p:txBody>
          <a:bodyPr wrap="square" rtlCol="0">
            <a:spAutoFit/>
          </a:bodyPr>
          <a:lstStyle/>
          <a:p>
            <a:pPr algn="ctr"/>
            <a:r>
              <a:rPr lang="fr-FR" dirty="0"/>
              <a:t>B.C.</a:t>
            </a:r>
          </a:p>
          <a:p>
            <a:pPr marL="285750" indent="-285750">
              <a:buFont typeface="Arial" panose="020B0604020202020204" pitchFamily="34" charset="0"/>
              <a:buChar char="•"/>
            </a:pPr>
            <a:r>
              <a:rPr lang="fr-FR" sz="1600" dirty="0"/>
              <a:t>Compréhension DP</a:t>
            </a:r>
          </a:p>
          <a:p>
            <a:pPr marL="285750" indent="-285750">
              <a:buFont typeface="Arial" panose="020B0604020202020204" pitchFamily="34" charset="0"/>
              <a:buChar char="•"/>
            </a:pPr>
            <a:r>
              <a:rPr lang="fr-FR" sz="1600" dirty="0"/>
              <a:t>Planification</a:t>
            </a:r>
          </a:p>
          <a:p>
            <a:pPr marL="285750" indent="-285750">
              <a:buFont typeface="Arial" panose="020B0604020202020204" pitchFamily="34" charset="0"/>
              <a:buChar char="•"/>
            </a:pPr>
            <a:r>
              <a:rPr lang="fr-FR" sz="1600" dirty="0"/>
              <a:t>Orientation</a:t>
            </a:r>
          </a:p>
          <a:p>
            <a:pPr marL="285750" indent="-285750">
              <a:buFont typeface="Arial" panose="020B0604020202020204" pitchFamily="34" charset="0"/>
              <a:buChar char="•"/>
            </a:pPr>
            <a:r>
              <a:rPr lang="fr-FR" sz="1600" dirty="0"/>
              <a:t>Parachute</a:t>
            </a:r>
          </a:p>
        </p:txBody>
      </p:sp>
      <p:sp>
        <p:nvSpPr>
          <p:cNvPr id="24" name="Rectangle : coins arrondis 23">
            <a:extLst>
              <a:ext uri="{FF2B5EF4-FFF2-40B4-BE49-F238E27FC236}">
                <a16:creationId xmlns:a16="http://schemas.microsoft.com/office/drawing/2014/main" id="{067CB1A0-CEDE-7D3F-E35A-16BFFF3D9253}"/>
              </a:ext>
            </a:extLst>
          </p:cNvPr>
          <p:cNvSpPr/>
          <p:nvPr/>
        </p:nvSpPr>
        <p:spPr>
          <a:xfrm>
            <a:off x="8312132" y="5589885"/>
            <a:ext cx="1219866"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Lundi</a:t>
            </a:r>
          </a:p>
        </p:txBody>
      </p:sp>
      <p:sp>
        <p:nvSpPr>
          <p:cNvPr id="25" name="Rectangle : coins arrondis 24">
            <a:extLst>
              <a:ext uri="{FF2B5EF4-FFF2-40B4-BE49-F238E27FC236}">
                <a16:creationId xmlns:a16="http://schemas.microsoft.com/office/drawing/2014/main" id="{74609C83-0810-9125-F668-A2760BA6590E}"/>
              </a:ext>
            </a:extLst>
          </p:cNvPr>
          <p:cNvSpPr/>
          <p:nvPr/>
        </p:nvSpPr>
        <p:spPr>
          <a:xfrm>
            <a:off x="9610418" y="5591810"/>
            <a:ext cx="1311133"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Mardi</a:t>
            </a:r>
          </a:p>
        </p:txBody>
      </p:sp>
      <p:cxnSp>
        <p:nvCxnSpPr>
          <p:cNvPr id="27" name="Connecteur droit avec flèche 26">
            <a:extLst>
              <a:ext uri="{FF2B5EF4-FFF2-40B4-BE49-F238E27FC236}">
                <a16:creationId xmlns:a16="http://schemas.microsoft.com/office/drawing/2014/main" id="{B78B5E01-23D3-9B34-E80F-AC41488D036C}"/>
              </a:ext>
            </a:extLst>
          </p:cNvPr>
          <p:cNvCxnSpPr/>
          <p:nvPr/>
        </p:nvCxnSpPr>
        <p:spPr>
          <a:xfrm>
            <a:off x="6817489" y="1226916"/>
            <a:ext cx="348397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onnecteur droit avec flèche 27">
            <a:extLst>
              <a:ext uri="{FF2B5EF4-FFF2-40B4-BE49-F238E27FC236}">
                <a16:creationId xmlns:a16="http://schemas.microsoft.com/office/drawing/2014/main" id="{9C4BD378-EA28-2054-3F7E-12E5C72CCE3E}"/>
              </a:ext>
            </a:extLst>
          </p:cNvPr>
          <p:cNvCxnSpPr/>
          <p:nvPr/>
        </p:nvCxnSpPr>
        <p:spPr>
          <a:xfrm>
            <a:off x="6817489" y="3115519"/>
            <a:ext cx="348397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eur droit avec flèche 28">
            <a:extLst>
              <a:ext uri="{FF2B5EF4-FFF2-40B4-BE49-F238E27FC236}">
                <a16:creationId xmlns:a16="http://schemas.microsoft.com/office/drawing/2014/main" id="{BA85E3BA-CDD8-5754-8CE5-064B1D06C271}"/>
              </a:ext>
            </a:extLst>
          </p:cNvPr>
          <p:cNvCxnSpPr/>
          <p:nvPr/>
        </p:nvCxnSpPr>
        <p:spPr>
          <a:xfrm>
            <a:off x="6817489" y="4853651"/>
            <a:ext cx="348397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Connecteur droit avec flèche 29">
            <a:extLst>
              <a:ext uri="{FF2B5EF4-FFF2-40B4-BE49-F238E27FC236}">
                <a16:creationId xmlns:a16="http://schemas.microsoft.com/office/drawing/2014/main" id="{DE3B651A-7239-F34C-7566-6BCC77F0765F}"/>
              </a:ext>
            </a:extLst>
          </p:cNvPr>
          <p:cNvCxnSpPr/>
          <p:nvPr/>
        </p:nvCxnSpPr>
        <p:spPr>
          <a:xfrm>
            <a:off x="6817489" y="5225970"/>
            <a:ext cx="348397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ZoneTexte 30">
            <a:extLst>
              <a:ext uri="{FF2B5EF4-FFF2-40B4-BE49-F238E27FC236}">
                <a16:creationId xmlns:a16="http://schemas.microsoft.com/office/drawing/2014/main" id="{A628BA3B-FBFF-A199-7015-2A65CECB41E9}"/>
              </a:ext>
            </a:extLst>
          </p:cNvPr>
          <p:cNvSpPr txBox="1"/>
          <p:nvPr/>
        </p:nvSpPr>
        <p:spPr>
          <a:xfrm>
            <a:off x="7012517" y="5947368"/>
            <a:ext cx="1238049" cy="738664"/>
          </a:xfrm>
          <a:prstGeom prst="rect">
            <a:avLst/>
          </a:prstGeom>
          <a:noFill/>
        </p:spPr>
        <p:txBody>
          <a:bodyPr wrap="square" rtlCol="0">
            <a:spAutoFit/>
          </a:bodyPr>
          <a:lstStyle/>
          <a:p>
            <a:r>
              <a:rPr lang="fr-FR" sz="1400" dirty="0"/>
              <a:t>Plongées:</a:t>
            </a:r>
          </a:p>
          <a:p>
            <a:pPr marL="285750" indent="-285750">
              <a:buFont typeface="Arial" panose="020B0604020202020204" pitchFamily="34" charset="0"/>
              <a:buChar char="•"/>
            </a:pPr>
            <a:r>
              <a:rPr lang="fr-FR" sz="1400" dirty="0"/>
              <a:t>Epave</a:t>
            </a:r>
          </a:p>
          <a:p>
            <a:pPr marL="285750" indent="-285750">
              <a:buFont typeface="Arial" panose="020B0604020202020204" pitchFamily="34" charset="0"/>
              <a:buChar char="•"/>
            </a:pPr>
            <a:r>
              <a:rPr lang="fr-FR" sz="1400" dirty="0"/>
              <a:t>Cône</a:t>
            </a:r>
          </a:p>
        </p:txBody>
      </p:sp>
      <p:sp>
        <p:nvSpPr>
          <p:cNvPr id="32" name="ZoneTexte 31">
            <a:extLst>
              <a:ext uri="{FF2B5EF4-FFF2-40B4-BE49-F238E27FC236}">
                <a16:creationId xmlns:a16="http://schemas.microsoft.com/office/drawing/2014/main" id="{BCDD157B-23C0-AF67-6D1F-3A4B9CA765BE}"/>
              </a:ext>
            </a:extLst>
          </p:cNvPr>
          <p:cNvSpPr txBox="1"/>
          <p:nvPr/>
        </p:nvSpPr>
        <p:spPr>
          <a:xfrm>
            <a:off x="9646959" y="5947368"/>
            <a:ext cx="1238049" cy="738664"/>
          </a:xfrm>
          <a:prstGeom prst="rect">
            <a:avLst/>
          </a:prstGeom>
          <a:noFill/>
        </p:spPr>
        <p:txBody>
          <a:bodyPr wrap="square" rtlCol="0">
            <a:spAutoFit/>
          </a:bodyPr>
          <a:lstStyle/>
          <a:p>
            <a:r>
              <a:rPr lang="fr-FR" sz="1400" dirty="0"/>
              <a:t>Plongées:</a:t>
            </a:r>
          </a:p>
          <a:p>
            <a:pPr marL="285750" indent="-285750">
              <a:buFont typeface="Arial" panose="020B0604020202020204" pitchFamily="34" charset="0"/>
              <a:buChar char="•"/>
            </a:pPr>
            <a:r>
              <a:rPr lang="fr-FR" sz="1400" dirty="0"/>
              <a:t>Epave</a:t>
            </a:r>
          </a:p>
          <a:p>
            <a:pPr marL="285750" indent="-285750">
              <a:buFont typeface="Arial" panose="020B0604020202020204" pitchFamily="34" charset="0"/>
              <a:buChar char="•"/>
            </a:pPr>
            <a:r>
              <a:rPr lang="fr-FR" sz="1400" dirty="0"/>
              <a:t>Patates</a:t>
            </a:r>
          </a:p>
        </p:txBody>
      </p:sp>
      <p:sp>
        <p:nvSpPr>
          <p:cNvPr id="33" name="ZoneTexte 32">
            <a:extLst>
              <a:ext uri="{FF2B5EF4-FFF2-40B4-BE49-F238E27FC236}">
                <a16:creationId xmlns:a16="http://schemas.microsoft.com/office/drawing/2014/main" id="{1BB71579-6C21-3357-88A7-0274C034268D}"/>
              </a:ext>
            </a:extLst>
          </p:cNvPr>
          <p:cNvSpPr txBox="1"/>
          <p:nvPr/>
        </p:nvSpPr>
        <p:spPr>
          <a:xfrm>
            <a:off x="8293949" y="5952005"/>
            <a:ext cx="1238049" cy="738664"/>
          </a:xfrm>
          <a:prstGeom prst="rect">
            <a:avLst/>
          </a:prstGeom>
          <a:noFill/>
        </p:spPr>
        <p:txBody>
          <a:bodyPr wrap="square" rtlCol="0">
            <a:spAutoFit/>
          </a:bodyPr>
          <a:lstStyle/>
          <a:p>
            <a:r>
              <a:rPr lang="fr-FR" sz="1400" dirty="0"/>
              <a:t>Plongées:</a:t>
            </a:r>
          </a:p>
          <a:p>
            <a:pPr marL="285750" indent="-285750">
              <a:buFont typeface="Arial" panose="020B0604020202020204" pitchFamily="34" charset="0"/>
              <a:buChar char="•"/>
            </a:pPr>
            <a:r>
              <a:rPr lang="fr-FR" sz="1400" dirty="0"/>
              <a:t>Patates</a:t>
            </a:r>
          </a:p>
          <a:p>
            <a:pPr marL="285750" indent="-285750">
              <a:buFont typeface="Arial" panose="020B0604020202020204" pitchFamily="34" charset="0"/>
              <a:buChar char="•"/>
            </a:pPr>
            <a:r>
              <a:rPr lang="fr-FR" sz="1400" dirty="0"/>
              <a:t>Cône</a:t>
            </a:r>
          </a:p>
        </p:txBody>
      </p:sp>
      <p:sp>
        <p:nvSpPr>
          <p:cNvPr id="34" name="ZoneTexte 33">
            <a:extLst>
              <a:ext uri="{FF2B5EF4-FFF2-40B4-BE49-F238E27FC236}">
                <a16:creationId xmlns:a16="http://schemas.microsoft.com/office/drawing/2014/main" id="{B1D65C85-77FD-CA64-D43D-31A5C265EB99}"/>
              </a:ext>
            </a:extLst>
          </p:cNvPr>
          <p:cNvSpPr txBox="1"/>
          <p:nvPr/>
        </p:nvSpPr>
        <p:spPr>
          <a:xfrm>
            <a:off x="2803187" y="2546266"/>
            <a:ext cx="1855123" cy="615553"/>
          </a:xfrm>
          <a:prstGeom prst="rect">
            <a:avLst/>
          </a:prstGeom>
          <a:solidFill>
            <a:schemeClr val="accent5">
              <a:lumMod val="20000"/>
              <a:lumOff val="80000"/>
            </a:schemeClr>
          </a:solidFill>
          <a:ln>
            <a:solidFill>
              <a:schemeClr val="accent5">
                <a:lumMod val="75000"/>
              </a:schemeClr>
            </a:solidFill>
          </a:ln>
        </p:spPr>
        <p:txBody>
          <a:bodyPr wrap="none" rtlCol="0">
            <a:spAutoFit/>
          </a:bodyPr>
          <a:lstStyle/>
          <a:p>
            <a:pPr algn="ctr"/>
            <a:r>
              <a:rPr lang="fr-FR" b="1" dirty="0"/>
              <a:t>Rappels</a:t>
            </a:r>
          </a:p>
          <a:p>
            <a:r>
              <a:rPr lang="fr-FR" sz="1600" dirty="0"/>
              <a:t>80m max / plongée</a:t>
            </a:r>
          </a:p>
        </p:txBody>
      </p:sp>
      <p:pic>
        <p:nvPicPr>
          <p:cNvPr id="35" name="Bienvenu à cett">
            <a:hlinkClick r:id="" action="ppaction://media"/>
            <a:extLst>
              <a:ext uri="{FF2B5EF4-FFF2-40B4-BE49-F238E27FC236}">
                <a16:creationId xmlns:a16="http://schemas.microsoft.com/office/drawing/2014/main" id="{78786896-58E4-E7FB-4E20-B7796BCE660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108986" y="4188342"/>
            <a:ext cx="812800" cy="812800"/>
          </a:xfrm>
          <a:prstGeom prst="rect">
            <a:avLst/>
          </a:prstGeom>
        </p:spPr>
      </p:pic>
    </p:spTree>
    <p:extLst>
      <p:ext uri="{BB962C8B-B14F-4D97-AF65-F5344CB8AC3E}">
        <p14:creationId xmlns:p14="http://schemas.microsoft.com/office/powerpoint/2010/main" val="2469936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9344"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5"/>
                </p:tgtEl>
              </p:cMediaNode>
            </p:audio>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7706</TotalTime>
  <Words>782</Words>
  <Application>Microsoft Macintosh PowerPoint</Application>
  <PresentationFormat>Grand écran</PresentationFormat>
  <Paragraphs>96</Paragraphs>
  <Slides>1</Slides>
  <Notes>1</Notes>
  <HiddenSlides>0</HiddenSlides>
  <MMClips>1</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vt:i4>
      </vt:variant>
    </vt:vector>
  </HeadingPairs>
  <TitlesOfParts>
    <vt:vector size="5" baseType="lpstr">
      <vt:lpstr>Aptos</vt:lpstr>
      <vt:lpstr>Aptos Display</vt:lpstr>
      <vt:lpstr>Arial</vt:lpstr>
      <vt:lpstr>Thème Office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Olivier Artigue</dc:creator>
  <cp:lastModifiedBy>Olivier Artigue</cp:lastModifiedBy>
  <cp:revision>26</cp:revision>
  <dcterms:created xsi:type="dcterms:W3CDTF">2025-09-29T11:28:50Z</dcterms:created>
  <dcterms:modified xsi:type="dcterms:W3CDTF">2025-10-15T16:38:52Z</dcterms:modified>
</cp:coreProperties>
</file>
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5" r:id="rId3"/>
    <p:sldId id="257" r:id="rId4"/>
    <p:sldId id="264" r:id="rId5"/>
    <p:sldId id="261" r:id="rId6"/>
    <p:sldId id="258" r:id="rId7"/>
    <p:sldId id="259" r:id="rId8"/>
    <p:sldId id="260" r:id="rId9"/>
    <p:sldId id="262" r:id="rId10"/>
    <p:sldId id="263" r:id="rId11"/>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15"/>
    <p:restoredTop sz="94691"/>
  </p:normalViewPr>
  <p:slideViewPr>
    <p:cSldViewPr snapToGrid="0">
      <p:cViewPr>
        <p:scale>
          <a:sx n="170" d="100"/>
          <a:sy n="170" d="100"/>
        </p:scale>
        <p:origin x="224" y="6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B2B2954-693E-3492-D927-A47B6B8F97AD}"/>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98695DCC-82A5-968D-46B2-70C0A497427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15C72FFA-2060-5DAD-D2D1-F166546CFE1F}"/>
              </a:ext>
            </a:extLst>
          </p:cNvPr>
          <p:cNvSpPr>
            <a:spLocks noGrp="1"/>
          </p:cNvSpPr>
          <p:nvPr>
            <p:ph type="dt" sz="half" idx="10"/>
          </p:nvPr>
        </p:nvSpPr>
        <p:spPr/>
        <p:txBody>
          <a:bodyPr/>
          <a:lstStyle/>
          <a:p>
            <a:fld id="{479EC460-D793-0142-85E3-01B2E0242870}"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C079C388-506E-E5BC-7CEB-5721EE5733B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82020B3-E04D-F313-D222-5EC737DD5E45}"/>
              </a:ext>
            </a:extLst>
          </p:cNvPr>
          <p:cNvSpPr>
            <a:spLocks noGrp="1"/>
          </p:cNvSpPr>
          <p:nvPr>
            <p:ph type="sldNum" sz="quarter" idx="12"/>
          </p:nvPr>
        </p:nvSpPr>
        <p:spPr/>
        <p:txBody>
          <a:bodyPr/>
          <a:lstStyle/>
          <a:p>
            <a:fld id="{E44E9EB6-2C6C-8140-AF57-3EC0F38B5C8E}" type="slidenum">
              <a:rPr lang="fr-FR" smtClean="0"/>
              <a:t>‹N°›</a:t>
            </a:fld>
            <a:endParaRPr lang="fr-FR"/>
          </a:p>
        </p:txBody>
      </p:sp>
    </p:spTree>
    <p:extLst>
      <p:ext uri="{BB962C8B-B14F-4D97-AF65-F5344CB8AC3E}">
        <p14:creationId xmlns:p14="http://schemas.microsoft.com/office/powerpoint/2010/main" val="2356007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4D84463-7229-4AE9-7295-C10E276D746E}"/>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BCC06D1C-C18B-C85B-A2D1-D31692F2028C}"/>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D13C8CC-31FF-BE02-1BFC-9A45DFB25165}"/>
              </a:ext>
            </a:extLst>
          </p:cNvPr>
          <p:cNvSpPr>
            <a:spLocks noGrp="1"/>
          </p:cNvSpPr>
          <p:nvPr>
            <p:ph type="dt" sz="half" idx="10"/>
          </p:nvPr>
        </p:nvSpPr>
        <p:spPr/>
        <p:txBody>
          <a:bodyPr/>
          <a:lstStyle/>
          <a:p>
            <a:fld id="{479EC460-D793-0142-85E3-01B2E0242870}"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C47875DE-0D7F-2B57-72F1-EF927E94C59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89BA54B-573A-6A13-40D2-D5A698F83082}"/>
              </a:ext>
            </a:extLst>
          </p:cNvPr>
          <p:cNvSpPr>
            <a:spLocks noGrp="1"/>
          </p:cNvSpPr>
          <p:nvPr>
            <p:ph type="sldNum" sz="quarter" idx="12"/>
          </p:nvPr>
        </p:nvSpPr>
        <p:spPr/>
        <p:txBody>
          <a:bodyPr/>
          <a:lstStyle/>
          <a:p>
            <a:fld id="{E44E9EB6-2C6C-8140-AF57-3EC0F38B5C8E}" type="slidenum">
              <a:rPr lang="fr-FR" smtClean="0"/>
              <a:t>‹N°›</a:t>
            </a:fld>
            <a:endParaRPr lang="fr-FR"/>
          </a:p>
        </p:txBody>
      </p:sp>
    </p:spTree>
    <p:extLst>
      <p:ext uri="{BB962C8B-B14F-4D97-AF65-F5344CB8AC3E}">
        <p14:creationId xmlns:p14="http://schemas.microsoft.com/office/powerpoint/2010/main" val="33453877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52D51DB-7300-320A-57D1-5E6D1E2191A0}"/>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CF31580C-2660-C337-092F-B26634DE6EB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34C5127-4703-46AB-57FC-D7D7BD41E07E}"/>
              </a:ext>
            </a:extLst>
          </p:cNvPr>
          <p:cNvSpPr>
            <a:spLocks noGrp="1"/>
          </p:cNvSpPr>
          <p:nvPr>
            <p:ph type="dt" sz="half" idx="10"/>
          </p:nvPr>
        </p:nvSpPr>
        <p:spPr/>
        <p:txBody>
          <a:bodyPr/>
          <a:lstStyle/>
          <a:p>
            <a:fld id="{479EC460-D793-0142-85E3-01B2E0242870}"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072BD039-47EC-583D-1E32-0ABC9450FD07}"/>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1FFA652-6955-9F95-3153-BD9294D78D32}"/>
              </a:ext>
            </a:extLst>
          </p:cNvPr>
          <p:cNvSpPr>
            <a:spLocks noGrp="1"/>
          </p:cNvSpPr>
          <p:nvPr>
            <p:ph type="sldNum" sz="quarter" idx="12"/>
          </p:nvPr>
        </p:nvSpPr>
        <p:spPr/>
        <p:txBody>
          <a:bodyPr/>
          <a:lstStyle/>
          <a:p>
            <a:fld id="{E44E9EB6-2C6C-8140-AF57-3EC0F38B5C8E}" type="slidenum">
              <a:rPr lang="fr-FR" smtClean="0"/>
              <a:t>‹N°›</a:t>
            </a:fld>
            <a:endParaRPr lang="fr-FR"/>
          </a:p>
        </p:txBody>
      </p:sp>
    </p:spTree>
    <p:extLst>
      <p:ext uri="{BB962C8B-B14F-4D97-AF65-F5344CB8AC3E}">
        <p14:creationId xmlns:p14="http://schemas.microsoft.com/office/powerpoint/2010/main" val="7363100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C828266-E2F9-BF45-60C2-3D300C424D7B}"/>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D439AB8-978A-396B-5ADD-D9A5A2E1C76D}"/>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9BFA41B7-970E-9AFA-8581-5C45ECA98678}"/>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DEAD829A-A6B6-F315-F7A2-96F9134E9D3E}"/>
              </a:ext>
            </a:extLst>
          </p:cNvPr>
          <p:cNvSpPr>
            <a:spLocks noGrp="1"/>
          </p:cNvSpPr>
          <p:nvPr>
            <p:ph type="dt" sz="half" idx="10"/>
          </p:nvPr>
        </p:nvSpPr>
        <p:spPr/>
        <p:txBody>
          <a:bodyPr/>
          <a:lstStyle/>
          <a:p>
            <a:fld id="{479EC460-D793-0142-85E3-01B2E0242870}"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2BCE49B5-28D7-3A17-9D9B-2D2B4A901DA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26B73A19-42A0-B0A4-1BCC-BC19713C67F0}"/>
              </a:ext>
            </a:extLst>
          </p:cNvPr>
          <p:cNvSpPr>
            <a:spLocks noGrp="1"/>
          </p:cNvSpPr>
          <p:nvPr>
            <p:ph type="sldNum" sz="quarter" idx="12"/>
          </p:nvPr>
        </p:nvSpPr>
        <p:spPr/>
        <p:txBody>
          <a:bodyPr/>
          <a:lstStyle/>
          <a:p>
            <a:fld id="{E44E9EB6-2C6C-8140-AF57-3EC0F38B5C8E}" type="slidenum">
              <a:rPr lang="fr-FR" smtClean="0"/>
              <a:t>‹N°›</a:t>
            </a:fld>
            <a:endParaRPr lang="fr-FR"/>
          </a:p>
        </p:txBody>
      </p:sp>
    </p:spTree>
    <p:extLst>
      <p:ext uri="{BB962C8B-B14F-4D97-AF65-F5344CB8AC3E}">
        <p14:creationId xmlns:p14="http://schemas.microsoft.com/office/powerpoint/2010/main" val="42557206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317201-2646-4CD0-7851-EAE12DBF655B}"/>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E161FE4F-EAE7-4EC0-D7DA-7CB45971C6A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466B01E8-2DB1-3CA4-5C41-355180CBADDC}"/>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01B9F158-97EE-D09E-7E4D-87CE5FD6DAB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8B3635A8-1101-4630-84F2-5A8BEF7BD4C4}"/>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4DA7ED28-F37D-2384-FF4E-E9DA09A497F3}"/>
              </a:ext>
            </a:extLst>
          </p:cNvPr>
          <p:cNvSpPr>
            <a:spLocks noGrp="1"/>
          </p:cNvSpPr>
          <p:nvPr>
            <p:ph type="dt" sz="half" idx="10"/>
          </p:nvPr>
        </p:nvSpPr>
        <p:spPr/>
        <p:txBody>
          <a:bodyPr/>
          <a:lstStyle/>
          <a:p>
            <a:fld id="{479EC460-D793-0142-85E3-01B2E0242870}" type="datetimeFigureOut">
              <a:rPr lang="fr-FR" smtClean="0"/>
              <a:t>15/02/2026</a:t>
            </a:fld>
            <a:endParaRPr lang="fr-FR"/>
          </a:p>
        </p:txBody>
      </p:sp>
      <p:sp>
        <p:nvSpPr>
          <p:cNvPr id="8" name="Espace réservé du pied de page 7">
            <a:extLst>
              <a:ext uri="{FF2B5EF4-FFF2-40B4-BE49-F238E27FC236}">
                <a16:creationId xmlns:a16="http://schemas.microsoft.com/office/drawing/2014/main" id="{361C11A5-B933-EBD4-F103-AEA3913E02B9}"/>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40769FE1-A697-AF3B-959F-72D7E572C6AE}"/>
              </a:ext>
            </a:extLst>
          </p:cNvPr>
          <p:cNvSpPr>
            <a:spLocks noGrp="1"/>
          </p:cNvSpPr>
          <p:nvPr>
            <p:ph type="sldNum" sz="quarter" idx="12"/>
          </p:nvPr>
        </p:nvSpPr>
        <p:spPr/>
        <p:txBody>
          <a:bodyPr/>
          <a:lstStyle/>
          <a:p>
            <a:fld id="{E44E9EB6-2C6C-8140-AF57-3EC0F38B5C8E}" type="slidenum">
              <a:rPr lang="fr-FR" smtClean="0"/>
              <a:t>‹N°›</a:t>
            </a:fld>
            <a:endParaRPr lang="fr-FR"/>
          </a:p>
        </p:txBody>
      </p:sp>
    </p:spTree>
    <p:extLst>
      <p:ext uri="{BB962C8B-B14F-4D97-AF65-F5344CB8AC3E}">
        <p14:creationId xmlns:p14="http://schemas.microsoft.com/office/powerpoint/2010/main" val="24924153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15DF6D1-0F9E-04A0-6509-7502ABA4A008}"/>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BDF04452-3B89-652B-AED9-7BE8106B4888}"/>
              </a:ext>
            </a:extLst>
          </p:cNvPr>
          <p:cNvSpPr>
            <a:spLocks noGrp="1"/>
          </p:cNvSpPr>
          <p:nvPr>
            <p:ph type="dt" sz="half" idx="10"/>
          </p:nvPr>
        </p:nvSpPr>
        <p:spPr/>
        <p:txBody>
          <a:bodyPr/>
          <a:lstStyle/>
          <a:p>
            <a:fld id="{479EC460-D793-0142-85E3-01B2E0242870}" type="datetimeFigureOut">
              <a:rPr lang="fr-FR" smtClean="0"/>
              <a:t>15/02/2026</a:t>
            </a:fld>
            <a:endParaRPr lang="fr-FR"/>
          </a:p>
        </p:txBody>
      </p:sp>
      <p:sp>
        <p:nvSpPr>
          <p:cNvPr id="4" name="Espace réservé du pied de page 3">
            <a:extLst>
              <a:ext uri="{FF2B5EF4-FFF2-40B4-BE49-F238E27FC236}">
                <a16:creationId xmlns:a16="http://schemas.microsoft.com/office/drawing/2014/main" id="{7F093F31-933A-8EFC-029A-437CE2D3AE7A}"/>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3ADA7D25-C4E8-4449-5E3B-FF8D4657A116}"/>
              </a:ext>
            </a:extLst>
          </p:cNvPr>
          <p:cNvSpPr>
            <a:spLocks noGrp="1"/>
          </p:cNvSpPr>
          <p:nvPr>
            <p:ph type="sldNum" sz="quarter" idx="12"/>
          </p:nvPr>
        </p:nvSpPr>
        <p:spPr/>
        <p:txBody>
          <a:bodyPr/>
          <a:lstStyle/>
          <a:p>
            <a:fld id="{E44E9EB6-2C6C-8140-AF57-3EC0F38B5C8E}" type="slidenum">
              <a:rPr lang="fr-FR" smtClean="0"/>
              <a:t>‹N°›</a:t>
            </a:fld>
            <a:endParaRPr lang="fr-FR"/>
          </a:p>
        </p:txBody>
      </p:sp>
    </p:spTree>
    <p:extLst>
      <p:ext uri="{BB962C8B-B14F-4D97-AF65-F5344CB8AC3E}">
        <p14:creationId xmlns:p14="http://schemas.microsoft.com/office/powerpoint/2010/main" val="4514360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1E6B589F-08FF-5DB4-CE82-7ACE214610F4}"/>
              </a:ext>
            </a:extLst>
          </p:cNvPr>
          <p:cNvSpPr>
            <a:spLocks noGrp="1"/>
          </p:cNvSpPr>
          <p:nvPr>
            <p:ph type="dt" sz="half" idx="10"/>
          </p:nvPr>
        </p:nvSpPr>
        <p:spPr/>
        <p:txBody>
          <a:bodyPr/>
          <a:lstStyle/>
          <a:p>
            <a:fld id="{479EC460-D793-0142-85E3-01B2E0242870}" type="datetimeFigureOut">
              <a:rPr lang="fr-FR" smtClean="0"/>
              <a:t>15/02/2026</a:t>
            </a:fld>
            <a:endParaRPr lang="fr-FR"/>
          </a:p>
        </p:txBody>
      </p:sp>
      <p:sp>
        <p:nvSpPr>
          <p:cNvPr id="3" name="Espace réservé du pied de page 2">
            <a:extLst>
              <a:ext uri="{FF2B5EF4-FFF2-40B4-BE49-F238E27FC236}">
                <a16:creationId xmlns:a16="http://schemas.microsoft.com/office/drawing/2014/main" id="{5F6C3295-5512-D00F-07B8-6790AA50BF6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C0C3FC57-70C0-037F-26D8-307FFFC5B60B}"/>
              </a:ext>
            </a:extLst>
          </p:cNvPr>
          <p:cNvSpPr>
            <a:spLocks noGrp="1"/>
          </p:cNvSpPr>
          <p:nvPr>
            <p:ph type="sldNum" sz="quarter" idx="12"/>
          </p:nvPr>
        </p:nvSpPr>
        <p:spPr/>
        <p:txBody>
          <a:bodyPr/>
          <a:lstStyle/>
          <a:p>
            <a:fld id="{E44E9EB6-2C6C-8140-AF57-3EC0F38B5C8E}" type="slidenum">
              <a:rPr lang="fr-FR" smtClean="0"/>
              <a:t>‹N°›</a:t>
            </a:fld>
            <a:endParaRPr lang="fr-FR"/>
          </a:p>
        </p:txBody>
      </p:sp>
    </p:spTree>
    <p:extLst>
      <p:ext uri="{BB962C8B-B14F-4D97-AF65-F5344CB8AC3E}">
        <p14:creationId xmlns:p14="http://schemas.microsoft.com/office/powerpoint/2010/main" val="12725365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6EC076C-6397-35CB-AD1C-982A03E47BCC}"/>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47491226-A95A-9847-45E5-4E3DD49FAE2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B983A61A-77F9-D138-7197-FC414CBB47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77DD5E2D-81AF-5C39-1692-16206EE26F94}"/>
              </a:ext>
            </a:extLst>
          </p:cNvPr>
          <p:cNvSpPr>
            <a:spLocks noGrp="1"/>
          </p:cNvSpPr>
          <p:nvPr>
            <p:ph type="dt" sz="half" idx="10"/>
          </p:nvPr>
        </p:nvSpPr>
        <p:spPr/>
        <p:txBody>
          <a:bodyPr/>
          <a:lstStyle/>
          <a:p>
            <a:fld id="{479EC460-D793-0142-85E3-01B2E0242870}"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A06F503B-FB9E-E0A7-2243-DC8B65AE89F3}"/>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2F1EF03E-F860-8431-1BD9-BCAB83E69587}"/>
              </a:ext>
            </a:extLst>
          </p:cNvPr>
          <p:cNvSpPr>
            <a:spLocks noGrp="1"/>
          </p:cNvSpPr>
          <p:nvPr>
            <p:ph type="sldNum" sz="quarter" idx="12"/>
          </p:nvPr>
        </p:nvSpPr>
        <p:spPr/>
        <p:txBody>
          <a:bodyPr/>
          <a:lstStyle/>
          <a:p>
            <a:fld id="{E44E9EB6-2C6C-8140-AF57-3EC0F38B5C8E}" type="slidenum">
              <a:rPr lang="fr-FR" smtClean="0"/>
              <a:t>‹N°›</a:t>
            </a:fld>
            <a:endParaRPr lang="fr-FR"/>
          </a:p>
        </p:txBody>
      </p:sp>
    </p:spTree>
    <p:extLst>
      <p:ext uri="{BB962C8B-B14F-4D97-AF65-F5344CB8AC3E}">
        <p14:creationId xmlns:p14="http://schemas.microsoft.com/office/powerpoint/2010/main" val="1524571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67308C1-1AF9-AD49-E2A5-0665578B507A}"/>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DC021099-2B9F-3C56-5F47-D0D22AC0201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3B854C5A-46BE-3277-9F82-28307638F6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C526CBF2-CC83-733A-17A8-EB4FE2EDA1EA}"/>
              </a:ext>
            </a:extLst>
          </p:cNvPr>
          <p:cNvSpPr>
            <a:spLocks noGrp="1"/>
          </p:cNvSpPr>
          <p:nvPr>
            <p:ph type="dt" sz="half" idx="10"/>
          </p:nvPr>
        </p:nvSpPr>
        <p:spPr/>
        <p:txBody>
          <a:bodyPr/>
          <a:lstStyle/>
          <a:p>
            <a:fld id="{479EC460-D793-0142-85E3-01B2E0242870}"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6D9D96C7-BA50-B186-8588-3C522F5A7301}"/>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17B499D-AD03-26A9-F93A-3C32809DF221}"/>
              </a:ext>
            </a:extLst>
          </p:cNvPr>
          <p:cNvSpPr>
            <a:spLocks noGrp="1"/>
          </p:cNvSpPr>
          <p:nvPr>
            <p:ph type="sldNum" sz="quarter" idx="12"/>
          </p:nvPr>
        </p:nvSpPr>
        <p:spPr/>
        <p:txBody>
          <a:bodyPr/>
          <a:lstStyle/>
          <a:p>
            <a:fld id="{E44E9EB6-2C6C-8140-AF57-3EC0F38B5C8E}" type="slidenum">
              <a:rPr lang="fr-FR" smtClean="0"/>
              <a:t>‹N°›</a:t>
            </a:fld>
            <a:endParaRPr lang="fr-FR"/>
          </a:p>
        </p:txBody>
      </p:sp>
    </p:spTree>
    <p:extLst>
      <p:ext uri="{BB962C8B-B14F-4D97-AF65-F5344CB8AC3E}">
        <p14:creationId xmlns:p14="http://schemas.microsoft.com/office/powerpoint/2010/main" val="18138404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2A52DF4-C6B9-1366-B3A7-DBD2E5028B85}"/>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8E9ADEE9-CB4E-F2F7-C684-55DD6F2CE182}"/>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BA6A5FF6-9EA1-BAF7-F6AE-1DB4FF68CFD8}"/>
              </a:ext>
            </a:extLst>
          </p:cNvPr>
          <p:cNvSpPr>
            <a:spLocks noGrp="1"/>
          </p:cNvSpPr>
          <p:nvPr>
            <p:ph type="dt" sz="half" idx="10"/>
          </p:nvPr>
        </p:nvSpPr>
        <p:spPr/>
        <p:txBody>
          <a:bodyPr/>
          <a:lstStyle/>
          <a:p>
            <a:fld id="{479EC460-D793-0142-85E3-01B2E0242870}"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28D9224E-611F-ABA8-5256-005882201EB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1A8BF05-4B8C-5832-BA2C-F0ACA1A00287}"/>
              </a:ext>
            </a:extLst>
          </p:cNvPr>
          <p:cNvSpPr>
            <a:spLocks noGrp="1"/>
          </p:cNvSpPr>
          <p:nvPr>
            <p:ph type="sldNum" sz="quarter" idx="12"/>
          </p:nvPr>
        </p:nvSpPr>
        <p:spPr/>
        <p:txBody>
          <a:bodyPr/>
          <a:lstStyle/>
          <a:p>
            <a:fld id="{E44E9EB6-2C6C-8140-AF57-3EC0F38B5C8E}" type="slidenum">
              <a:rPr lang="fr-FR" smtClean="0"/>
              <a:t>‹N°›</a:t>
            </a:fld>
            <a:endParaRPr lang="fr-FR"/>
          </a:p>
        </p:txBody>
      </p:sp>
    </p:spTree>
    <p:extLst>
      <p:ext uri="{BB962C8B-B14F-4D97-AF65-F5344CB8AC3E}">
        <p14:creationId xmlns:p14="http://schemas.microsoft.com/office/powerpoint/2010/main" val="1738708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1E524676-94A3-882F-48B0-EFFFF5A21B31}"/>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BD3219B7-5AF7-312E-21BB-4BC037FEC7D5}"/>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C27A761-AA38-D008-C7BB-007D535BA4DB}"/>
              </a:ext>
            </a:extLst>
          </p:cNvPr>
          <p:cNvSpPr>
            <a:spLocks noGrp="1"/>
          </p:cNvSpPr>
          <p:nvPr>
            <p:ph type="dt" sz="half" idx="10"/>
          </p:nvPr>
        </p:nvSpPr>
        <p:spPr/>
        <p:txBody>
          <a:bodyPr/>
          <a:lstStyle/>
          <a:p>
            <a:fld id="{479EC460-D793-0142-85E3-01B2E0242870}"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DD1FF072-B9E4-4B29-BAAF-F10F035AAB4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AEE2D80-D9DE-703E-28F5-70F92392FC6F}"/>
              </a:ext>
            </a:extLst>
          </p:cNvPr>
          <p:cNvSpPr>
            <a:spLocks noGrp="1"/>
          </p:cNvSpPr>
          <p:nvPr>
            <p:ph type="sldNum" sz="quarter" idx="12"/>
          </p:nvPr>
        </p:nvSpPr>
        <p:spPr/>
        <p:txBody>
          <a:bodyPr/>
          <a:lstStyle/>
          <a:p>
            <a:fld id="{E44E9EB6-2C6C-8140-AF57-3EC0F38B5C8E}" type="slidenum">
              <a:rPr lang="fr-FR" smtClean="0"/>
              <a:t>‹N°›</a:t>
            </a:fld>
            <a:endParaRPr lang="fr-FR"/>
          </a:p>
        </p:txBody>
      </p:sp>
    </p:spTree>
    <p:extLst>
      <p:ext uri="{BB962C8B-B14F-4D97-AF65-F5344CB8AC3E}">
        <p14:creationId xmlns:p14="http://schemas.microsoft.com/office/powerpoint/2010/main" val="21077240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2BA34B9F-37C5-9D79-9ED9-34C31FCAE7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9674762B-5E29-AB1F-9463-E408ED1D0E7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76E8E176-06C8-0B54-CB9A-704CA4A86B7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79EC460-D793-0142-85E3-01B2E0242870}"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5BBD273F-2270-6649-0D6C-2C2D9D6231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EF7AC3C0-3B78-DD60-4B68-3143881865A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44E9EB6-2C6C-8140-AF57-3EC0F38B5C8E}" type="slidenum">
              <a:rPr lang="fr-FR" smtClean="0"/>
              <a:t>‹N°›</a:t>
            </a:fld>
            <a:endParaRPr lang="fr-FR"/>
          </a:p>
        </p:txBody>
      </p:sp>
    </p:spTree>
    <p:extLst>
      <p:ext uri="{BB962C8B-B14F-4D97-AF65-F5344CB8AC3E}">
        <p14:creationId xmlns:p14="http://schemas.microsoft.com/office/powerpoint/2010/main" val="3745404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C067A1DA-266F-497E-589A-2D78E5F344CA}"/>
              </a:ext>
            </a:extLst>
          </p:cNvPr>
          <p:cNvSpPr txBox="1"/>
          <p:nvPr/>
        </p:nvSpPr>
        <p:spPr>
          <a:xfrm>
            <a:off x="0" y="0"/>
            <a:ext cx="12191999" cy="1200329"/>
          </a:xfrm>
          <a:prstGeom prst="rect">
            <a:avLst/>
          </a:prstGeom>
          <a:noFill/>
        </p:spPr>
        <p:txBody>
          <a:bodyPr wrap="square" rtlCol="0">
            <a:spAutoFit/>
          </a:bodyPr>
          <a:lstStyle/>
          <a:p>
            <a:pPr algn="ctr"/>
            <a:r>
              <a:rPr lang="fr-FR" sz="2400" dirty="0"/>
              <a:t>Barotraumatisme: </a:t>
            </a:r>
          </a:p>
          <a:p>
            <a:pPr algn="ctr"/>
            <a:endParaRPr lang="fr-FR" sz="2400" dirty="0"/>
          </a:p>
          <a:p>
            <a:pPr algn="ctr"/>
            <a:r>
              <a:rPr lang="fr-FR" sz="2400" dirty="0"/>
              <a:t>Problèmes liés aux variations de pression sur les zones gazeuses</a:t>
            </a:r>
          </a:p>
        </p:txBody>
      </p:sp>
    </p:spTree>
    <p:extLst>
      <p:ext uri="{BB962C8B-B14F-4D97-AF65-F5344CB8AC3E}">
        <p14:creationId xmlns:p14="http://schemas.microsoft.com/office/powerpoint/2010/main" val="30535625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AC5C6-248F-801C-47E7-FF8908BF8A36}"/>
            </a:ext>
          </a:extLst>
        </p:cNvPr>
        <p:cNvGrpSpPr/>
        <p:nvPr/>
      </p:nvGrpSpPr>
      <p:grpSpPr>
        <a:xfrm>
          <a:off x="0" y="0"/>
          <a:ext cx="0" cy="0"/>
          <a:chOff x="0" y="0"/>
          <a:chExt cx="0" cy="0"/>
        </a:xfrm>
      </p:grpSpPr>
      <p:sp>
        <p:nvSpPr>
          <p:cNvPr id="100" name="Rectangle : coins arrondis 99">
            <a:extLst>
              <a:ext uri="{FF2B5EF4-FFF2-40B4-BE49-F238E27FC236}">
                <a16:creationId xmlns:a16="http://schemas.microsoft.com/office/drawing/2014/main" id="{5E6BF254-7291-565B-0F83-ECF9852112E4}"/>
              </a:ext>
            </a:extLst>
          </p:cNvPr>
          <p:cNvSpPr/>
          <p:nvPr/>
        </p:nvSpPr>
        <p:spPr>
          <a:xfrm>
            <a:off x="8785537" y="3929113"/>
            <a:ext cx="2881350" cy="2836735"/>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6" name="Rectangle : coins arrondis 145">
            <a:extLst>
              <a:ext uri="{FF2B5EF4-FFF2-40B4-BE49-F238E27FC236}">
                <a16:creationId xmlns:a16="http://schemas.microsoft.com/office/drawing/2014/main" id="{51DD0DCA-D08C-3C00-BF02-7C307E1878F1}"/>
              </a:ext>
            </a:extLst>
          </p:cNvPr>
          <p:cNvSpPr/>
          <p:nvPr/>
        </p:nvSpPr>
        <p:spPr>
          <a:xfrm>
            <a:off x="10164653" y="3951474"/>
            <a:ext cx="132853" cy="909934"/>
          </a:xfrm>
          <a:prstGeom prst="round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2" name="Rectangle : coins arrondis 41">
            <a:extLst>
              <a:ext uri="{FF2B5EF4-FFF2-40B4-BE49-F238E27FC236}">
                <a16:creationId xmlns:a16="http://schemas.microsoft.com/office/drawing/2014/main" id="{068A3195-1412-2B79-D24A-261189754CC0}"/>
              </a:ext>
            </a:extLst>
          </p:cNvPr>
          <p:cNvSpPr/>
          <p:nvPr/>
        </p:nvSpPr>
        <p:spPr>
          <a:xfrm>
            <a:off x="4711870" y="3918859"/>
            <a:ext cx="2881350" cy="2836735"/>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0" name="Rectangle : coins arrondis 89">
            <a:extLst>
              <a:ext uri="{FF2B5EF4-FFF2-40B4-BE49-F238E27FC236}">
                <a16:creationId xmlns:a16="http://schemas.microsoft.com/office/drawing/2014/main" id="{9FF5A9B6-71FD-30E2-379C-B63E6F010601}"/>
              </a:ext>
            </a:extLst>
          </p:cNvPr>
          <p:cNvSpPr/>
          <p:nvPr/>
        </p:nvSpPr>
        <p:spPr>
          <a:xfrm>
            <a:off x="6056474" y="3947026"/>
            <a:ext cx="132853" cy="909934"/>
          </a:xfrm>
          <a:prstGeom prst="round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6" name="Rectangle : coins arrondis 45">
            <a:extLst>
              <a:ext uri="{FF2B5EF4-FFF2-40B4-BE49-F238E27FC236}">
                <a16:creationId xmlns:a16="http://schemas.microsoft.com/office/drawing/2014/main" id="{60AA1827-B3EF-0FA3-4B11-006FA850B496}"/>
              </a:ext>
            </a:extLst>
          </p:cNvPr>
          <p:cNvSpPr/>
          <p:nvPr/>
        </p:nvSpPr>
        <p:spPr>
          <a:xfrm>
            <a:off x="582453" y="3921572"/>
            <a:ext cx="2881350" cy="2836735"/>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168FCEAE-CE97-40C2-BBBD-35C927D653B1}"/>
              </a:ext>
            </a:extLst>
          </p:cNvPr>
          <p:cNvSpPr/>
          <p:nvPr/>
        </p:nvSpPr>
        <p:spPr>
          <a:xfrm>
            <a:off x="3285293" y="1192931"/>
            <a:ext cx="564983" cy="1373164"/>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Ellipse 20">
            <a:extLst>
              <a:ext uri="{FF2B5EF4-FFF2-40B4-BE49-F238E27FC236}">
                <a16:creationId xmlns:a16="http://schemas.microsoft.com/office/drawing/2014/main" id="{931550C7-9894-BA80-9101-E6DC873DD3B4}"/>
              </a:ext>
            </a:extLst>
          </p:cNvPr>
          <p:cNvSpPr/>
          <p:nvPr/>
        </p:nvSpPr>
        <p:spPr>
          <a:xfrm>
            <a:off x="208258" y="1235330"/>
            <a:ext cx="613929" cy="1373164"/>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F76C6C9B-DF15-D0A8-A092-6E2231CC369D}"/>
              </a:ext>
            </a:extLst>
          </p:cNvPr>
          <p:cNvSpPr txBox="1"/>
          <p:nvPr/>
        </p:nvSpPr>
        <p:spPr>
          <a:xfrm>
            <a:off x="0" y="7504"/>
            <a:ext cx="12192000" cy="461665"/>
          </a:xfrm>
          <a:prstGeom prst="rect">
            <a:avLst/>
          </a:prstGeom>
          <a:noFill/>
        </p:spPr>
        <p:txBody>
          <a:bodyPr wrap="square" rtlCol="0">
            <a:spAutoFit/>
          </a:bodyPr>
          <a:lstStyle/>
          <a:p>
            <a:pPr algn="ctr"/>
            <a:r>
              <a:rPr lang="fr-FR" sz="2400" dirty="0"/>
              <a:t>Barotraumatisme: Bonhomme</a:t>
            </a:r>
          </a:p>
        </p:txBody>
      </p:sp>
      <p:sp>
        <p:nvSpPr>
          <p:cNvPr id="6" name="Ellipse 5">
            <a:extLst>
              <a:ext uri="{FF2B5EF4-FFF2-40B4-BE49-F238E27FC236}">
                <a16:creationId xmlns:a16="http://schemas.microsoft.com/office/drawing/2014/main" id="{09B22E7D-2E35-F29E-E1B5-CAA96DCDCCDD}"/>
              </a:ext>
            </a:extLst>
          </p:cNvPr>
          <p:cNvSpPr/>
          <p:nvPr/>
        </p:nvSpPr>
        <p:spPr>
          <a:xfrm>
            <a:off x="582453" y="642712"/>
            <a:ext cx="2881431" cy="330702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    </a:t>
            </a:r>
          </a:p>
        </p:txBody>
      </p:sp>
      <p:sp>
        <p:nvSpPr>
          <p:cNvPr id="7" name="Ellipse 6">
            <a:extLst>
              <a:ext uri="{FF2B5EF4-FFF2-40B4-BE49-F238E27FC236}">
                <a16:creationId xmlns:a16="http://schemas.microsoft.com/office/drawing/2014/main" id="{FA04C4D5-F551-BCAE-7613-A3401760CC99}"/>
              </a:ext>
            </a:extLst>
          </p:cNvPr>
          <p:cNvSpPr/>
          <p:nvPr/>
        </p:nvSpPr>
        <p:spPr>
          <a:xfrm>
            <a:off x="943520" y="1706624"/>
            <a:ext cx="906717" cy="345781"/>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7E47088E-C8F9-EF0E-9840-21C2F993BF18}"/>
              </a:ext>
            </a:extLst>
          </p:cNvPr>
          <p:cNvSpPr/>
          <p:nvPr/>
        </p:nvSpPr>
        <p:spPr>
          <a:xfrm>
            <a:off x="2196018" y="1706623"/>
            <a:ext cx="906717" cy="345781"/>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Secteurs 8">
            <a:extLst>
              <a:ext uri="{FF2B5EF4-FFF2-40B4-BE49-F238E27FC236}">
                <a16:creationId xmlns:a16="http://schemas.microsoft.com/office/drawing/2014/main" id="{DF73BE77-0745-F9EC-3E5A-A3AA8B89E4C1}"/>
              </a:ext>
            </a:extLst>
          </p:cNvPr>
          <p:cNvSpPr/>
          <p:nvPr/>
        </p:nvSpPr>
        <p:spPr>
          <a:xfrm>
            <a:off x="1174082" y="2845158"/>
            <a:ext cx="1698172" cy="875980"/>
          </a:xfrm>
          <a:prstGeom prst="pie">
            <a:avLst>
              <a:gd name="adj1" fmla="val 0"/>
              <a:gd name="adj2" fmla="val 1084119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10" name="Triangle 9">
            <a:extLst>
              <a:ext uri="{FF2B5EF4-FFF2-40B4-BE49-F238E27FC236}">
                <a16:creationId xmlns:a16="http://schemas.microsoft.com/office/drawing/2014/main" id="{CA945DB5-B229-08C4-3F32-F37A1BB38114}"/>
              </a:ext>
            </a:extLst>
          </p:cNvPr>
          <p:cNvSpPr/>
          <p:nvPr/>
        </p:nvSpPr>
        <p:spPr>
          <a:xfrm>
            <a:off x="1738819" y="2052404"/>
            <a:ext cx="558077" cy="1076414"/>
          </a:xfrm>
          <a:prstGeom prst="triangle">
            <a:avLst>
              <a:gd name="adj" fmla="val 5131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Ellipse 14">
            <a:extLst>
              <a:ext uri="{FF2B5EF4-FFF2-40B4-BE49-F238E27FC236}">
                <a16:creationId xmlns:a16="http://schemas.microsoft.com/office/drawing/2014/main" id="{C4E19F5D-B1D9-4880-B752-CB7916615AF0}"/>
              </a:ext>
            </a:extLst>
          </p:cNvPr>
          <p:cNvSpPr/>
          <p:nvPr/>
        </p:nvSpPr>
        <p:spPr>
          <a:xfrm>
            <a:off x="2307437" y="1462330"/>
            <a:ext cx="583823" cy="160093"/>
          </a:xfrm>
          <a:prstGeom prst="ellipse">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S</a:t>
            </a:r>
          </a:p>
        </p:txBody>
      </p:sp>
      <p:sp>
        <p:nvSpPr>
          <p:cNvPr id="16" name="Ellipse 15">
            <a:extLst>
              <a:ext uri="{FF2B5EF4-FFF2-40B4-BE49-F238E27FC236}">
                <a16:creationId xmlns:a16="http://schemas.microsoft.com/office/drawing/2014/main" id="{18E682DE-4994-CDAE-FE12-59BB1A0541DA}"/>
              </a:ext>
            </a:extLst>
          </p:cNvPr>
          <p:cNvSpPr/>
          <p:nvPr/>
        </p:nvSpPr>
        <p:spPr>
          <a:xfrm>
            <a:off x="1174082" y="1443099"/>
            <a:ext cx="583823" cy="160093"/>
          </a:xfrm>
          <a:prstGeom prst="ellipse">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S</a:t>
            </a:r>
          </a:p>
        </p:txBody>
      </p:sp>
      <p:sp>
        <p:nvSpPr>
          <p:cNvPr id="17" name="Ellipse 16">
            <a:extLst>
              <a:ext uri="{FF2B5EF4-FFF2-40B4-BE49-F238E27FC236}">
                <a16:creationId xmlns:a16="http://schemas.microsoft.com/office/drawing/2014/main" id="{8205C8DC-21DB-DE35-7ED3-3B06DC8FE36E}"/>
              </a:ext>
            </a:extLst>
          </p:cNvPr>
          <p:cNvSpPr/>
          <p:nvPr/>
        </p:nvSpPr>
        <p:spPr>
          <a:xfrm>
            <a:off x="2570839" y="2845157"/>
            <a:ext cx="583823" cy="160093"/>
          </a:xfrm>
          <a:prstGeom prst="ellipse">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S</a:t>
            </a:r>
          </a:p>
        </p:txBody>
      </p:sp>
      <p:sp>
        <p:nvSpPr>
          <p:cNvPr id="18" name="Ellipse 17">
            <a:extLst>
              <a:ext uri="{FF2B5EF4-FFF2-40B4-BE49-F238E27FC236}">
                <a16:creationId xmlns:a16="http://schemas.microsoft.com/office/drawing/2014/main" id="{F45B15F7-1963-A1DF-237C-4A40055B8D39}"/>
              </a:ext>
            </a:extLst>
          </p:cNvPr>
          <p:cNvSpPr/>
          <p:nvPr/>
        </p:nvSpPr>
        <p:spPr>
          <a:xfrm>
            <a:off x="953555" y="2851543"/>
            <a:ext cx="583823" cy="160093"/>
          </a:xfrm>
          <a:prstGeom prst="ellipse">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S</a:t>
            </a:r>
          </a:p>
        </p:txBody>
      </p:sp>
      <p:cxnSp>
        <p:nvCxnSpPr>
          <p:cNvPr id="23" name="Connecteur droit 22">
            <a:extLst>
              <a:ext uri="{FF2B5EF4-FFF2-40B4-BE49-F238E27FC236}">
                <a16:creationId xmlns:a16="http://schemas.microsoft.com/office/drawing/2014/main" id="{A0598BC5-C08F-B049-EFAC-88EFD4AA89D9}"/>
              </a:ext>
            </a:extLst>
          </p:cNvPr>
          <p:cNvCxnSpPr>
            <a:cxnSpLocks/>
          </p:cNvCxnSpPr>
          <p:nvPr/>
        </p:nvCxnSpPr>
        <p:spPr>
          <a:xfrm flipH="1">
            <a:off x="3260133" y="1595952"/>
            <a:ext cx="73204" cy="41429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Connecteur droit 26">
            <a:extLst>
              <a:ext uri="{FF2B5EF4-FFF2-40B4-BE49-F238E27FC236}">
                <a16:creationId xmlns:a16="http://schemas.microsoft.com/office/drawing/2014/main" id="{5A156C2C-0613-FAB1-68A6-00AEA07A6321}"/>
              </a:ext>
            </a:extLst>
          </p:cNvPr>
          <p:cNvCxnSpPr>
            <a:cxnSpLocks/>
          </p:cNvCxnSpPr>
          <p:nvPr/>
        </p:nvCxnSpPr>
        <p:spPr>
          <a:xfrm flipH="1" flipV="1">
            <a:off x="3333337" y="2208703"/>
            <a:ext cx="130466" cy="24007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Connecteur droit 29">
            <a:extLst>
              <a:ext uri="{FF2B5EF4-FFF2-40B4-BE49-F238E27FC236}">
                <a16:creationId xmlns:a16="http://schemas.microsoft.com/office/drawing/2014/main" id="{2BA640C4-9568-9961-52F7-519C71FB1BD3}"/>
              </a:ext>
            </a:extLst>
          </p:cNvPr>
          <p:cNvCxnSpPr>
            <a:cxnSpLocks/>
          </p:cNvCxnSpPr>
          <p:nvPr/>
        </p:nvCxnSpPr>
        <p:spPr>
          <a:xfrm flipV="1">
            <a:off x="3032157" y="2009719"/>
            <a:ext cx="240555" cy="8537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2" name="Connecteur droit 31">
            <a:extLst>
              <a:ext uri="{FF2B5EF4-FFF2-40B4-BE49-F238E27FC236}">
                <a16:creationId xmlns:a16="http://schemas.microsoft.com/office/drawing/2014/main" id="{122B9B85-E917-C637-45A4-653AB21B92D0}"/>
              </a:ext>
            </a:extLst>
          </p:cNvPr>
          <p:cNvCxnSpPr>
            <a:cxnSpLocks/>
          </p:cNvCxnSpPr>
          <p:nvPr/>
        </p:nvCxnSpPr>
        <p:spPr>
          <a:xfrm flipV="1">
            <a:off x="3154662" y="2200788"/>
            <a:ext cx="184623" cy="6513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3" name="Connecteur droit 32">
            <a:extLst>
              <a:ext uri="{FF2B5EF4-FFF2-40B4-BE49-F238E27FC236}">
                <a16:creationId xmlns:a16="http://schemas.microsoft.com/office/drawing/2014/main" id="{E1E76A57-2C31-F3BF-E1C2-0D32E9A52C63}"/>
              </a:ext>
            </a:extLst>
          </p:cNvPr>
          <p:cNvCxnSpPr>
            <a:cxnSpLocks/>
          </p:cNvCxnSpPr>
          <p:nvPr/>
        </p:nvCxnSpPr>
        <p:spPr>
          <a:xfrm flipH="1" flipV="1">
            <a:off x="3032157" y="2095090"/>
            <a:ext cx="66573" cy="21351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6" name="Connecteur droit 35">
            <a:extLst>
              <a:ext uri="{FF2B5EF4-FFF2-40B4-BE49-F238E27FC236}">
                <a16:creationId xmlns:a16="http://schemas.microsoft.com/office/drawing/2014/main" id="{E7F9217C-14F2-36D5-F1AB-3BDA54DA972C}"/>
              </a:ext>
            </a:extLst>
          </p:cNvPr>
          <p:cNvCxnSpPr>
            <a:cxnSpLocks/>
          </p:cNvCxnSpPr>
          <p:nvPr/>
        </p:nvCxnSpPr>
        <p:spPr>
          <a:xfrm flipH="1" flipV="1">
            <a:off x="3266133" y="2018162"/>
            <a:ext cx="54624" cy="182626"/>
          </a:xfrm>
          <a:prstGeom prst="line">
            <a:avLst/>
          </a:prstGeom>
          <a:ln w="444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8" name="Connecteur droit 37">
            <a:extLst>
              <a:ext uri="{FF2B5EF4-FFF2-40B4-BE49-F238E27FC236}">
                <a16:creationId xmlns:a16="http://schemas.microsoft.com/office/drawing/2014/main" id="{3322CC9D-97F4-FF29-4793-785074B7B73F}"/>
              </a:ext>
            </a:extLst>
          </p:cNvPr>
          <p:cNvCxnSpPr>
            <a:cxnSpLocks/>
          </p:cNvCxnSpPr>
          <p:nvPr/>
        </p:nvCxnSpPr>
        <p:spPr>
          <a:xfrm flipV="1">
            <a:off x="2196018" y="2265920"/>
            <a:ext cx="956416" cy="41891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1" name="Connecteur droit 40">
            <a:extLst>
              <a:ext uri="{FF2B5EF4-FFF2-40B4-BE49-F238E27FC236}">
                <a16:creationId xmlns:a16="http://schemas.microsoft.com/office/drawing/2014/main" id="{38E64505-4813-CC4A-8988-D4FF396D6811}"/>
              </a:ext>
            </a:extLst>
          </p:cNvPr>
          <p:cNvCxnSpPr>
            <a:cxnSpLocks/>
          </p:cNvCxnSpPr>
          <p:nvPr/>
        </p:nvCxnSpPr>
        <p:spPr>
          <a:xfrm flipV="1">
            <a:off x="2193790" y="2243724"/>
            <a:ext cx="898405" cy="4010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4" name="ZoneTexte 43">
            <a:extLst>
              <a:ext uri="{FF2B5EF4-FFF2-40B4-BE49-F238E27FC236}">
                <a16:creationId xmlns:a16="http://schemas.microsoft.com/office/drawing/2014/main" id="{A2617F7B-7DD4-72E8-D1E7-C76F9DE26E33}"/>
              </a:ext>
            </a:extLst>
          </p:cNvPr>
          <p:cNvSpPr txBox="1"/>
          <p:nvPr/>
        </p:nvSpPr>
        <p:spPr>
          <a:xfrm>
            <a:off x="3246973" y="1912458"/>
            <a:ext cx="295274" cy="369332"/>
          </a:xfrm>
          <a:prstGeom prst="rect">
            <a:avLst/>
          </a:prstGeom>
          <a:noFill/>
        </p:spPr>
        <p:txBody>
          <a:bodyPr wrap="square" rtlCol="0">
            <a:spAutoFit/>
          </a:bodyPr>
          <a:lstStyle/>
          <a:p>
            <a:r>
              <a:rPr lang="fr-FR" dirty="0" err="1">
                <a:solidFill>
                  <a:srgbClr val="FF0000"/>
                </a:solidFill>
              </a:rPr>
              <a:t>T</a:t>
            </a:r>
            <a:endParaRPr lang="fr-FR" dirty="0">
              <a:solidFill>
                <a:srgbClr val="FF0000"/>
              </a:solidFill>
            </a:endParaRPr>
          </a:p>
        </p:txBody>
      </p:sp>
      <p:sp>
        <p:nvSpPr>
          <p:cNvPr id="47" name="Rectangle : coins arrondis 46">
            <a:extLst>
              <a:ext uri="{FF2B5EF4-FFF2-40B4-BE49-F238E27FC236}">
                <a16:creationId xmlns:a16="http://schemas.microsoft.com/office/drawing/2014/main" id="{49667D5A-DBA5-C3BB-D14A-079273B6CC33}"/>
              </a:ext>
            </a:extLst>
          </p:cNvPr>
          <p:cNvSpPr/>
          <p:nvPr/>
        </p:nvSpPr>
        <p:spPr>
          <a:xfrm>
            <a:off x="2341417" y="4471206"/>
            <a:ext cx="724026" cy="913755"/>
          </a:xfrm>
          <a:prstGeom prst="round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SP</a:t>
            </a:r>
          </a:p>
        </p:txBody>
      </p:sp>
      <p:sp>
        <p:nvSpPr>
          <p:cNvPr id="48" name="Rectangle : coins arrondis 47">
            <a:extLst>
              <a:ext uri="{FF2B5EF4-FFF2-40B4-BE49-F238E27FC236}">
                <a16:creationId xmlns:a16="http://schemas.microsoft.com/office/drawing/2014/main" id="{0E61D6DC-B5B9-56F2-05A6-432F7EB1994E}"/>
              </a:ext>
            </a:extLst>
          </p:cNvPr>
          <p:cNvSpPr/>
          <p:nvPr/>
        </p:nvSpPr>
        <p:spPr>
          <a:xfrm>
            <a:off x="913391" y="4034003"/>
            <a:ext cx="724026" cy="1370314"/>
          </a:xfrm>
          <a:prstGeom prst="round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SP</a:t>
            </a:r>
          </a:p>
        </p:txBody>
      </p:sp>
      <p:sp>
        <p:nvSpPr>
          <p:cNvPr id="49" name="Rectangle : coins arrondis 48">
            <a:extLst>
              <a:ext uri="{FF2B5EF4-FFF2-40B4-BE49-F238E27FC236}">
                <a16:creationId xmlns:a16="http://schemas.microsoft.com/office/drawing/2014/main" id="{4ED9E519-389B-3C77-593F-86D0CC7F45CE}"/>
              </a:ext>
            </a:extLst>
          </p:cNvPr>
          <p:cNvSpPr/>
          <p:nvPr/>
        </p:nvSpPr>
        <p:spPr>
          <a:xfrm>
            <a:off x="1637458" y="4859672"/>
            <a:ext cx="703877" cy="152541"/>
          </a:xfrm>
          <a:prstGeom prst="round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50" name="Rectangle : coins arrondis 49">
            <a:extLst>
              <a:ext uri="{FF2B5EF4-FFF2-40B4-BE49-F238E27FC236}">
                <a16:creationId xmlns:a16="http://schemas.microsoft.com/office/drawing/2014/main" id="{7A6CAF3C-B670-4D94-201A-35CFAED470CE}"/>
              </a:ext>
            </a:extLst>
          </p:cNvPr>
          <p:cNvSpPr/>
          <p:nvPr/>
        </p:nvSpPr>
        <p:spPr>
          <a:xfrm>
            <a:off x="1927057" y="3949739"/>
            <a:ext cx="132853" cy="909934"/>
          </a:xfrm>
          <a:prstGeom prst="round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53" name="Rectangle : coins arrondis 52">
            <a:extLst>
              <a:ext uri="{FF2B5EF4-FFF2-40B4-BE49-F238E27FC236}">
                <a16:creationId xmlns:a16="http://schemas.microsoft.com/office/drawing/2014/main" id="{472F84E6-53C9-2796-BF02-A3958C3FCAA8}"/>
              </a:ext>
            </a:extLst>
          </p:cNvPr>
          <p:cNvSpPr/>
          <p:nvPr/>
        </p:nvSpPr>
        <p:spPr>
          <a:xfrm>
            <a:off x="908606" y="1667864"/>
            <a:ext cx="2220980" cy="1477170"/>
          </a:xfrm>
          <a:prstGeom prst="roundRect">
            <a:avLst/>
          </a:prstGeom>
          <a:noFill/>
          <a:ln w="412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rgbClr val="FF0000"/>
                </a:solidFill>
              </a:rPr>
              <a:t>M</a:t>
            </a:r>
          </a:p>
        </p:txBody>
      </p:sp>
      <p:cxnSp>
        <p:nvCxnSpPr>
          <p:cNvPr id="54" name="Connecteur droit 53">
            <a:extLst>
              <a:ext uri="{FF2B5EF4-FFF2-40B4-BE49-F238E27FC236}">
                <a16:creationId xmlns:a16="http://schemas.microsoft.com/office/drawing/2014/main" id="{74D9B807-70AA-7672-F03C-4635D15E4075}"/>
              </a:ext>
            </a:extLst>
          </p:cNvPr>
          <p:cNvCxnSpPr>
            <a:cxnSpLocks/>
          </p:cNvCxnSpPr>
          <p:nvPr/>
        </p:nvCxnSpPr>
        <p:spPr>
          <a:xfrm flipV="1">
            <a:off x="3058983" y="1489680"/>
            <a:ext cx="240555" cy="232237"/>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5" name="Connecteur droit 54">
            <a:extLst>
              <a:ext uri="{FF2B5EF4-FFF2-40B4-BE49-F238E27FC236}">
                <a16:creationId xmlns:a16="http://schemas.microsoft.com/office/drawing/2014/main" id="{950F1BBA-909B-CC6D-C2D6-AA76A65D8D4C}"/>
              </a:ext>
            </a:extLst>
          </p:cNvPr>
          <p:cNvCxnSpPr>
            <a:cxnSpLocks/>
          </p:cNvCxnSpPr>
          <p:nvPr/>
        </p:nvCxnSpPr>
        <p:spPr>
          <a:xfrm flipH="1" flipV="1">
            <a:off x="739381" y="1595952"/>
            <a:ext cx="204139" cy="160093"/>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 name="Connecteur droit 21">
            <a:extLst>
              <a:ext uri="{FF2B5EF4-FFF2-40B4-BE49-F238E27FC236}">
                <a16:creationId xmlns:a16="http://schemas.microsoft.com/office/drawing/2014/main" id="{F96A574A-C55B-E949-532E-42315BA49BAE}"/>
              </a:ext>
            </a:extLst>
          </p:cNvPr>
          <p:cNvCxnSpPr>
            <a:cxnSpLocks/>
          </p:cNvCxnSpPr>
          <p:nvPr/>
        </p:nvCxnSpPr>
        <p:spPr>
          <a:xfrm>
            <a:off x="2214910" y="2818780"/>
            <a:ext cx="351332" cy="9145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8" name="Connecteur droit 27">
            <a:extLst>
              <a:ext uri="{FF2B5EF4-FFF2-40B4-BE49-F238E27FC236}">
                <a16:creationId xmlns:a16="http://schemas.microsoft.com/office/drawing/2014/main" id="{8245CCBD-DB6E-89FC-124F-8F73D2C7ACB6}"/>
              </a:ext>
            </a:extLst>
          </p:cNvPr>
          <p:cNvCxnSpPr>
            <a:cxnSpLocks/>
            <a:stCxn id="18" idx="6"/>
          </p:cNvCxnSpPr>
          <p:nvPr/>
        </p:nvCxnSpPr>
        <p:spPr>
          <a:xfrm flipV="1">
            <a:off x="1537378" y="2821827"/>
            <a:ext cx="287983" cy="10976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31" name="Connecteur droit 30">
            <a:extLst>
              <a:ext uri="{FF2B5EF4-FFF2-40B4-BE49-F238E27FC236}">
                <a16:creationId xmlns:a16="http://schemas.microsoft.com/office/drawing/2014/main" id="{C45533A1-4622-4614-FE30-E2F2AC82A224}"/>
              </a:ext>
            </a:extLst>
          </p:cNvPr>
          <p:cNvCxnSpPr>
            <a:cxnSpLocks/>
          </p:cNvCxnSpPr>
          <p:nvPr/>
        </p:nvCxnSpPr>
        <p:spPr>
          <a:xfrm>
            <a:off x="1767430" y="1506191"/>
            <a:ext cx="219075" cy="65736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35" name="Connecteur droit 34">
            <a:extLst>
              <a:ext uri="{FF2B5EF4-FFF2-40B4-BE49-F238E27FC236}">
                <a16:creationId xmlns:a16="http://schemas.microsoft.com/office/drawing/2014/main" id="{FCD562E5-D1D8-0778-4AFB-B22AB5786B86}"/>
              </a:ext>
            </a:extLst>
          </p:cNvPr>
          <p:cNvCxnSpPr>
            <a:cxnSpLocks/>
            <a:stCxn id="15" idx="2"/>
          </p:cNvCxnSpPr>
          <p:nvPr/>
        </p:nvCxnSpPr>
        <p:spPr>
          <a:xfrm flipH="1">
            <a:off x="2057233" y="1542377"/>
            <a:ext cx="250204" cy="6281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43" name="Ellipse 42">
            <a:extLst>
              <a:ext uri="{FF2B5EF4-FFF2-40B4-BE49-F238E27FC236}">
                <a16:creationId xmlns:a16="http://schemas.microsoft.com/office/drawing/2014/main" id="{39F43597-84D5-E926-1EDD-AB1209CAC76C}"/>
              </a:ext>
            </a:extLst>
          </p:cNvPr>
          <p:cNvSpPr/>
          <p:nvPr/>
        </p:nvSpPr>
        <p:spPr>
          <a:xfrm>
            <a:off x="7414710" y="1190218"/>
            <a:ext cx="564983" cy="1373164"/>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5" name="Ellipse 44">
            <a:extLst>
              <a:ext uri="{FF2B5EF4-FFF2-40B4-BE49-F238E27FC236}">
                <a16:creationId xmlns:a16="http://schemas.microsoft.com/office/drawing/2014/main" id="{0341F019-F415-92EC-1791-65B572109811}"/>
              </a:ext>
            </a:extLst>
          </p:cNvPr>
          <p:cNvSpPr/>
          <p:nvPr/>
        </p:nvSpPr>
        <p:spPr>
          <a:xfrm>
            <a:off x="4337675" y="1177617"/>
            <a:ext cx="613929" cy="1373164"/>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6" name="Ellipse 55">
            <a:extLst>
              <a:ext uri="{FF2B5EF4-FFF2-40B4-BE49-F238E27FC236}">
                <a16:creationId xmlns:a16="http://schemas.microsoft.com/office/drawing/2014/main" id="{7BC0EC7D-85FA-7B83-F526-8B68B734861B}"/>
              </a:ext>
            </a:extLst>
          </p:cNvPr>
          <p:cNvSpPr/>
          <p:nvPr/>
        </p:nvSpPr>
        <p:spPr>
          <a:xfrm>
            <a:off x="4711870" y="639999"/>
            <a:ext cx="2881431" cy="330702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    </a:t>
            </a:r>
          </a:p>
        </p:txBody>
      </p:sp>
      <p:sp>
        <p:nvSpPr>
          <p:cNvPr id="57" name="Ellipse 56">
            <a:extLst>
              <a:ext uri="{FF2B5EF4-FFF2-40B4-BE49-F238E27FC236}">
                <a16:creationId xmlns:a16="http://schemas.microsoft.com/office/drawing/2014/main" id="{60C69F66-97EB-7604-B7C0-6953A3BA6C5A}"/>
              </a:ext>
            </a:extLst>
          </p:cNvPr>
          <p:cNvSpPr/>
          <p:nvPr/>
        </p:nvSpPr>
        <p:spPr>
          <a:xfrm>
            <a:off x="5072937" y="1703911"/>
            <a:ext cx="906717" cy="345781"/>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8" name="Ellipse 57">
            <a:extLst>
              <a:ext uri="{FF2B5EF4-FFF2-40B4-BE49-F238E27FC236}">
                <a16:creationId xmlns:a16="http://schemas.microsoft.com/office/drawing/2014/main" id="{9BD56D4D-3ECB-AE0D-4ECE-E2B2C842941B}"/>
              </a:ext>
            </a:extLst>
          </p:cNvPr>
          <p:cNvSpPr/>
          <p:nvPr/>
        </p:nvSpPr>
        <p:spPr>
          <a:xfrm>
            <a:off x="6325435" y="1703910"/>
            <a:ext cx="906717" cy="345781"/>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0" name="Secteurs 59">
            <a:extLst>
              <a:ext uri="{FF2B5EF4-FFF2-40B4-BE49-F238E27FC236}">
                <a16:creationId xmlns:a16="http://schemas.microsoft.com/office/drawing/2014/main" id="{36DE2754-BA72-5E30-E3E1-A049700EE531}"/>
              </a:ext>
            </a:extLst>
          </p:cNvPr>
          <p:cNvSpPr/>
          <p:nvPr/>
        </p:nvSpPr>
        <p:spPr>
          <a:xfrm>
            <a:off x="5303499" y="2842445"/>
            <a:ext cx="1698172" cy="875980"/>
          </a:xfrm>
          <a:prstGeom prst="pie">
            <a:avLst>
              <a:gd name="adj1" fmla="val 0"/>
              <a:gd name="adj2" fmla="val 1084119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62" name="Triangle 61">
            <a:extLst>
              <a:ext uri="{FF2B5EF4-FFF2-40B4-BE49-F238E27FC236}">
                <a16:creationId xmlns:a16="http://schemas.microsoft.com/office/drawing/2014/main" id="{CA9A88C3-EB11-354B-C2F1-B09404F7642A}"/>
              </a:ext>
            </a:extLst>
          </p:cNvPr>
          <p:cNvSpPr/>
          <p:nvPr/>
        </p:nvSpPr>
        <p:spPr>
          <a:xfrm>
            <a:off x="5868236" y="2049691"/>
            <a:ext cx="558077" cy="1076414"/>
          </a:xfrm>
          <a:prstGeom prst="triangle">
            <a:avLst>
              <a:gd name="adj" fmla="val 5131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6" name="Rectangle 65">
            <a:extLst>
              <a:ext uri="{FF2B5EF4-FFF2-40B4-BE49-F238E27FC236}">
                <a16:creationId xmlns:a16="http://schemas.microsoft.com/office/drawing/2014/main" id="{C11855D7-CF4B-AA8F-AE19-2DC8F557EE6B}"/>
              </a:ext>
            </a:extLst>
          </p:cNvPr>
          <p:cNvSpPr/>
          <p:nvPr/>
        </p:nvSpPr>
        <p:spPr>
          <a:xfrm>
            <a:off x="5503263" y="3280435"/>
            <a:ext cx="153640" cy="145996"/>
          </a:xfrm>
          <a:prstGeom prst="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D</a:t>
            </a:r>
          </a:p>
        </p:txBody>
      </p:sp>
      <p:sp>
        <p:nvSpPr>
          <p:cNvPr id="67" name="Rectangle 66">
            <a:extLst>
              <a:ext uri="{FF2B5EF4-FFF2-40B4-BE49-F238E27FC236}">
                <a16:creationId xmlns:a16="http://schemas.microsoft.com/office/drawing/2014/main" id="{661378B8-EE73-2F43-0F9A-02092BBC9752}"/>
              </a:ext>
            </a:extLst>
          </p:cNvPr>
          <p:cNvSpPr/>
          <p:nvPr/>
        </p:nvSpPr>
        <p:spPr>
          <a:xfrm>
            <a:off x="5694063" y="3280435"/>
            <a:ext cx="153640" cy="145996"/>
          </a:xfrm>
          <a:prstGeom prst="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D</a:t>
            </a:r>
          </a:p>
        </p:txBody>
      </p:sp>
      <p:sp>
        <p:nvSpPr>
          <p:cNvPr id="72" name="Rectangle 71">
            <a:extLst>
              <a:ext uri="{FF2B5EF4-FFF2-40B4-BE49-F238E27FC236}">
                <a16:creationId xmlns:a16="http://schemas.microsoft.com/office/drawing/2014/main" id="{18CA7148-5AB7-492B-D460-E5EEDFD69F6E}"/>
              </a:ext>
            </a:extLst>
          </p:cNvPr>
          <p:cNvSpPr/>
          <p:nvPr/>
        </p:nvSpPr>
        <p:spPr>
          <a:xfrm>
            <a:off x="5902834" y="3280435"/>
            <a:ext cx="153640" cy="145996"/>
          </a:xfrm>
          <a:prstGeom prst="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D</a:t>
            </a:r>
          </a:p>
        </p:txBody>
      </p:sp>
      <p:sp>
        <p:nvSpPr>
          <p:cNvPr id="73" name="Rectangle 72">
            <a:extLst>
              <a:ext uri="{FF2B5EF4-FFF2-40B4-BE49-F238E27FC236}">
                <a16:creationId xmlns:a16="http://schemas.microsoft.com/office/drawing/2014/main" id="{849676CB-BFC5-4307-F9A5-FB9C65633448}"/>
              </a:ext>
            </a:extLst>
          </p:cNvPr>
          <p:cNvSpPr/>
          <p:nvPr/>
        </p:nvSpPr>
        <p:spPr>
          <a:xfrm>
            <a:off x="6121829" y="3276269"/>
            <a:ext cx="153640" cy="145996"/>
          </a:xfrm>
          <a:prstGeom prst="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D</a:t>
            </a:r>
          </a:p>
        </p:txBody>
      </p:sp>
      <p:sp>
        <p:nvSpPr>
          <p:cNvPr id="74" name="Ellipse 73">
            <a:extLst>
              <a:ext uri="{FF2B5EF4-FFF2-40B4-BE49-F238E27FC236}">
                <a16:creationId xmlns:a16="http://schemas.microsoft.com/office/drawing/2014/main" id="{665E2394-CCE0-57EF-E6D2-74B1C7E6BD77}"/>
              </a:ext>
            </a:extLst>
          </p:cNvPr>
          <p:cNvSpPr/>
          <p:nvPr/>
        </p:nvSpPr>
        <p:spPr>
          <a:xfrm>
            <a:off x="6436854" y="1459617"/>
            <a:ext cx="583823" cy="160093"/>
          </a:xfrm>
          <a:prstGeom prst="ellipse">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S</a:t>
            </a:r>
          </a:p>
        </p:txBody>
      </p:sp>
      <p:sp>
        <p:nvSpPr>
          <p:cNvPr id="75" name="Ellipse 74">
            <a:extLst>
              <a:ext uri="{FF2B5EF4-FFF2-40B4-BE49-F238E27FC236}">
                <a16:creationId xmlns:a16="http://schemas.microsoft.com/office/drawing/2014/main" id="{D8290D2E-F5D5-77BA-9346-279159FB9361}"/>
              </a:ext>
            </a:extLst>
          </p:cNvPr>
          <p:cNvSpPr/>
          <p:nvPr/>
        </p:nvSpPr>
        <p:spPr>
          <a:xfrm>
            <a:off x="5303499" y="1440386"/>
            <a:ext cx="583823" cy="160093"/>
          </a:xfrm>
          <a:prstGeom prst="ellipse">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S</a:t>
            </a:r>
          </a:p>
        </p:txBody>
      </p:sp>
      <p:sp>
        <p:nvSpPr>
          <p:cNvPr id="76" name="Ellipse 75">
            <a:extLst>
              <a:ext uri="{FF2B5EF4-FFF2-40B4-BE49-F238E27FC236}">
                <a16:creationId xmlns:a16="http://schemas.microsoft.com/office/drawing/2014/main" id="{89CC70F1-FD51-95B1-823A-C42188FF4647}"/>
              </a:ext>
            </a:extLst>
          </p:cNvPr>
          <p:cNvSpPr/>
          <p:nvPr/>
        </p:nvSpPr>
        <p:spPr>
          <a:xfrm>
            <a:off x="6700256" y="2842444"/>
            <a:ext cx="583823" cy="160093"/>
          </a:xfrm>
          <a:prstGeom prst="ellipse">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S</a:t>
            </a:r>
          </a:p>
        </p:txBody>
      </p:sp>
      <p:sp>
        <p:nvSpPr>
          <p:cNvPr id="77" name="Ellipse 76">
            <a:extLst>
              <a:ext uri="{FF2B5EF4-FFF2-40B4-BE49-F238E27FC236}">
                <a16:creationId xmlns:a16="http://schemas.microsoft.com/office/drawing/2014/main" id="{A22E706D-E2F7-87A2-CAA4-2E226AFB226A}"/>
              </a:ext>
            </a:extLst>
          </p:cNvPr>
          <p:cNvSpPr/>
          <p:nvPr/>
        </p:nvSpPr>
        <p:spPr>
          <a:xfrm>
            <a:off x="5082972" y="2848830"/>
            <a:ext cx="583823" cy="160093"/>
          </a:xfrm>
          <a:prstGeom prst="ellipse">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S</a:t>
            </a:r>
          </a:p>
        </p:txBody>
      </p:sp>
      <p:cxnSp>
        <p:nvCxnSpPr>
          <p:cNvPr id="78" name="Connecteur droit 77">
            <a:extLst>
              <a:ext uri="{FF2B5EF4-FFF2-40B4-BE49-F238E27FC236}">
                <a16:creationId xmlns:a16="http://schemas.microsoft.com/office/drawing/2014/main" id="{E22F678D-9B22-4346-2C14-5F005C6D77D0}"/>
              </a:ext>
            </a:extLst>
          </p:cNvPr>
          <p:cNvCxnSpPr>
            <a:cxnSpLocks/>
          </p:cNvCxnSpPr>
          <p:nvPr/>
        </p:nvCxnSpPr>
        <p:spPr>
          <a:xfrm flipH="1">
            <a:off x="7389550" y="1593239"/>
            <a:ext cx="73204" cy="41429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9" name="Connecteur droit 78">
            <a:extLst>
              <a:ext uri="{FF2B5EF4-FFF2-40B4-BE49-F238E27FC236}">
                <a16:creationId xmlns:a16="http://schemas.microsoft.com/office/drawing/2014/main" id="{CE3F3521-ABF6-3B7D-101B-41E8F52374AC}"/>
              </a:ext>
            </a:extLst>
          </p:cNvPr>
          <p:cNvCxnSpPr>
            <a:cxnSpLocks/>
          </p:cNvCxnSpPr>
          <p:nvPr/>
        </p:nvCxnSpPr>
        <p:spPr>
          <a:xfrm flipH="1" flipV="1">
            <a:off x="7462754" y="2205990"/>
            <a:ext cx="130466" cy="24007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0" name="Connecteur droit 79">
            <a:extLst>
              <a:ext uri="{FF2B5EF4-FFF2-40B4-BE49-F238E27FC236}">
                <a16:creationId xmlns:a16="http://schemas.microsoft.com/office/drawing/2014/main" id="{23B2EB15-D73A-0A12-E711-FD17E7A7D484}"/>
              </a:ext>
            </a:extLst>
          </p:cNvPr>
          <p:cNvCxnSpPr>
            <a:cxnSpLocks/>
          </p:cNvCxnSpPr>
          <p:nvPr/>
        </p:nvCxnSpPr>
        <p:spPr>
          <a:xfrm flipV="1">
            <a:off x="7161574" y="2007006"/>
            <a:ext cx="240555" cy="8537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1" name="Connecteur droit 80">
            <a:extLst>
              <a:ext uri="{FF2B5EF4-FFF2-40B4-BE49-F238E27FC236}">
                <a16:creationId xmlns:a16="http://schemas.microsoft.com/office/drawing/2014/main" id="{F977C834-D664-92E6-ADA7-49F3C90672DC}"/>
              </a:ext>
            </a:extLst>
          </p:cNvPr>
          <p:cNvCxnSpPr>
            <a:cxnSpLocks/>
          </p:cNvCxnSpPr>
          <p:nvPr/>
        </p:nvCxnSpPr>
        <p:spPr>
          <a:xfrm flipV="1">
            <a:off x="7284079" y="2198075"/>
            <a:ext cx="184623" cy="6513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2" name="Connecteur droit 81">
            <a:extLst>
              <a:ext uri="{FF2B5EF4-FFF2-40B4-BE49-F238E27FC236}">
                <a16:creationId xmlns:a16="http://schemas.microsoft.com/office/drawing/2014/main" id="{DC751A64-BA27-340C-E4BC-5459A13BE854}"/>
              </a:ext>
            </a:extLst>
          </p:cNvPr>
          <p:cNvCxnSpPr>
            <a:cxnSpLocks/>
          </p:cNvCxnSpPr>
          <p:nvPr/>
        </p:nvCxnSpPr>
        <p:spPr>
          <a:xfrm flipH="1" flipV="1">
            <a:off x="7161574" y="2092377"/>
            <a:ext cx="66573" cy="21351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3" name="Connecteur droit 82">
            <a:extLst>
              <a:ext uri="{FF2B5EF4-FFF2-40B4-BE49-F238E27FC236}">
                <a16:creationId xmlns:a16="http://schemas.microsoft.com/office/drawing/2014/main" id="{AC0176A0-7247-9249-CB18-EA35C7F0CBBF}"/>
              </a:ext>
            </a:extLst>
          </p:cNvPr>
          <p:cNvCxnSpPr>
            <a:cxnSpLocks/>
          </p:cNvCxnSpPr>
          <p:nvPr/>
        </p:nvCxnSpPr>
        <p:spPr>
          <a:xfrm flipH="1" flipV="1">
            <a:off x="7395550" y="2015449"/>
            <a:ext cx="54624" cy="182626"/>
          </a:xfrm>
          <a:prstGeom prst="line">
            <a:avLst/>
          </a:prstGeom>
          <a:ln w="444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4" name="Connecteur droit 83">
            <a:extLst>
              <a:ext uri="{FF2B5EF4-FFF2-40B4-BE49-F238E27FC236}">
                <a16:creationId xmlns:a16="http://schemas.microsoft.com/office/drawing/2014/main" id="{21A24E4C-C6DE-273F-9A05-3366DFAEF987}"/>
              </a:ext>
            </a:extLst>
          </p:cNvPr>
          <p:cNvCxnSpPr>
            <a:cxnSpLocks/>
          </p:cNvCxnSpPr>
          <p:nvPr/>
        </p:nvCxnSpPr>
        <p:spPr>
          <a:xfrm flipV="1">
            <a:off x="6325435" y="2263207"/>
            <a:ext cx="956416" cy="41891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5" name="Connecteur droit 84">
            <a:extLst>
              <a:ext uri="{FF2B5EF4-FFF2-40B4-BE49-F238E27FC236}">
                <a16:creationId xmlns:a16="http://schemas.microsoft.com/office/drawing/2014/main" id="{03AEAEAD-ABF7-27D1-5D9E-2BF2DEF717D8}"/>
              </a:ext>
            </a:extLst>
          </p:cNvPr>
          <p:cNvCxnSpPr>
            <a:cxnSpLocks/>
          </p:cNvCxnSpPr>
          <p:nvPr/>
        </p:nvCxnSpPr>
        <p:spPr>
          <a:xfrm flipV="1">
            <a:off x="6323207" y="2241011"/>
            <a:ext cx="898405" cy="4010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86" name="ZoneTexte 85">
            <a:extLst>
              <a:ext uri="{FF2B5EF4-FFF2-40B4-BE49-F238E27FC236}">
                <a16:creationId xmlns:a16="http://schemas.microsoft.com/office/drawing/2014/main" id="{B4C97C50-40CB-5674-2177-D29C2683CAA7}"/>
              </a:ext>
            </a:extLst>
          </p:cNvPr>
          <p:cNvSpPr txBox="1"/>
          <p:nvPr/>
        </p:nvSpPr>
        <p:spPr>
          <a:xfrm>
            <a:off x="7376390" y="1909745"/>
            <a:ext cx="295274" cy="369332"/>
          </a:xfrm>
          <a:prstGeom prst="rect">
            <a:avLst/>
          </a:prstGeom>
          <a:noFill/>
        </p:spPr>
        <p:txBody>
          <a:bodyPr wrap="square" rtlCol="0">
            <a:spAutoFit/>
          </a:bodyPr>
          <a:lstStyle/>
          <a:p>
            <a:r>
              <a:rPr lang="fr-FR" dirty="0" err="1">
                <a:solidFill>
                  <a:srgbClr val="FF0000"/>
                </a:solidFill>
              </a:rPr>
              <a:t>T</a:t>
            </a:r>
            <a:endParaRPr lang="fr-FR" dirty="0">
              <a:solidFill>
                <a:srgbClr val="FF0000"/>
              </a:solidFill>
            </a:endParaRPr>
          </a:p>
        </p:txBody>
      </p:sp>
      <p:sp>
        <p:nvSpPr>
          <p:cNvPr id="87" name="Rectangle : coins arrondis 86">
            <a:extLst>
              <a:ext uri="{FF2B5EF4-FFF2-40B4-BE49-F238E27FC236}">
                <a16:creationId xmlns:a16="http://schemas.microsoft.com/office/drawing/2014/main" id="{C3C5C3D6-960C-FE5C-CF2D-8162A6A59B75}"/>
              </a:ext>
            </a:extLst>
          </p:cNvPr>
          <p:cNvSpPr/>
          <p:nvPr/>
        </p:nvSpPr>
        <p:spPr>
          <a:xfrm>
            <a:off x="6470834" y="4968803"/>
            <a:ext cx="724026" cy="413445"/>
          </a:xfrm>
          <a:prstGeom prst="round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SP</a:t>
            </a:r>
          </a:p>
        </p:txBody>
      </p:sp>
      <p:sp>
        <p:nvSpPr>
          <p:cNvPr id="88" name="Rectangle : coins arrondis 87">
            <a:extLst>
              <a:ext uri="{FF2B5EF4-FFF2-40B4-BE49-F238E27FC236}">
                <a16:creationId xmlns:a16="http://schemas.microsoft.com/office/drawing/2014/main" id="{E2142388-D061-96E0-F759-02F6E7CAF2F1}"/>
              </a:ext>
            </a:extLst>
          </p:cNvPr>
          <p:cNvSpPr/>
          <p:nvPr/>
        </p:nvSpPr>
        <p:spPr>
          <a:xfrm>
            <a:off x="5042808" y="4955164"/>
            <a:ext cx="724026" cy="446439"/>
          </a:xfrm>
          <a:prstGeom prst="round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SP</a:t>
            </a:r>
          </a:p>
        </p:txBody>
      </p:sp>
      <p:sp>
        <p:nvSpPr>
          <p:cNvPr id="89" name="Rectangle : coins arrondis 88">
            <a:extLst>
              <a:ext uri="{FF2B5EF4-FFF2-40B4-BE49-F238E27FC236}">
                <a16:creationId xmlns:a16="http://schemas.microsoft.com/office/drawing/2014/main" id="{77A9EC86-A7A8-FE5F-B838-6B3E689ED828}"/>
              </a:ext>
            </a:extLst>
          </p:cNvPr>
          <p:cNvSpPr/>
          <p:nvPr/>
        </p:nvSpPr>
        <p:spPr>
          <a:xfrm>
            <a:off x="5766875" y="4737039"/>
            <a:ext cx="703877" cy="152541"/>
          </a:xfrm>
          <a:prstGeom prst="round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93" name="Rectangle : coins arrondis 92">
            <a:extLst>
              <a:ext uri="{FF2B5EF4-FFF2-40B4-BE49-F238E27FC236}">
                <a16:creationId xmlns:a16="http://schemas.microsoft.com/office/drawing/2014/main" id="{B9830B65-D126-74B0-58F9-74701DAB55B6}"/>
              </a:ext>
            </a:extLst>
          </p:cNvPr>
          <p:cNvSpPr/>
          <p:nvPr/>
        </p:nvSpPr>
        <p:spPr>
          <a:xfrm>
            <a:off x="5038023" y="1665151"/>
            <a:ext cx="2220980" cy="1477170"/>
          </a:xfrm>
          <a:prstGeom prst="roundRect">
            <a:avLst/>
          </a:prstGeom>
          <a:noFill/>
          <a:ln w="412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rgbClr val="FF0000"/>
                </a:solidFill>
              </a:rPr>
              <a:t>M</a:t>
            </a:r>
          </a:p>
        </p:txBody>
      </p:sp>
      <p:cxnSp>
        <p:nvCxnSpPr>
          <p:cNvPr id="94" name="Connecteur droit 93">
            <a:extLst>
              <a:ext uri="{FF2B5EF4-FFF2-40B4-BE49-F238E27FC236}">
                <a16:creationId xmlns:a16="http://schemas.microsoft.com/office/drawing/2014/main" id="{AD79C3A5-19F0-D9C3-6B00-6E491DEA7FC3}"/>
              </a:ext>
            </a:extLst>
          </p:cNvPr>
          <p:cNvCxnSpPr>
            <a:cxnSpLocks/>
          </p:cNvCxnSpPr>
          <p:nvPr/>
        </p:nvCxnSpPr>
        <p:spPr>
          <a:xfrm flipV="1">
            <a:off x="7188400" y="1486967"/>
            <a:ext cx="240555" cy="232237"/>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Connecteur droit 94">
            <a:extLst>
              <a:ext uri="{FF2B5EF4-FFF2-40B4-BE49-F238E27FC236}">
                <a16:creationId xmlns:a16="http://schemas.microsoft.com/office/drawing/2014/main" id="{6601E64C-B0DE-D44A-8D1A-8BAB212050E2}"/>
              </a:ext>
            </a:extLst>
          </p:cNvPr>
          <p:cNvCxnSpPr>
            <a:cxnSpLocks/>
          </p:cNvCxnSpPr>
          <p:nvPr/>
        </p:nvCxnSpPr>
        <p:spPr>
          <a:xfrm flipH="1" flipV="1">
            <a:off x="4868798" y="1593239"/>
            <a:ext cx="204139" cy="160093"/>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Connecteur droit 95">
            <a:extLst>
              <a:ext uri="{FF2B5EF4-FFF2-40B4-BE49-F238E27FC236}">
                <a16:creationId xmlns:a16="http://schemas.microsoft.com/office/drawing/2014/main" id="{D66A5F3C-2A2D-EA19-06C6-145F5371C783}"/>
              </a:ext>
            </a:extLst>
          </p:cNvPr>
          <p:cNvCxnSpPr>
            <a:cxnSpLocks/>
          </p:cNvCxnSpPr>
          <p:nvPr/>
        </p:nvCxnSpPr>
        <p:spPr>
          <a:xfrm>
            <a:off x="6344327" y="2816067"/>
            <a:ext cx="351332" cy="9145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97" name="Connecteur droit 96">
            <a:extLst>
              <a:ext uri="{FF2B5EF4-FFF2-40B4-BE49-F238E27FC236}">
                <a16:creationId xmlns:a16="http://schemas.microsoft.com/office/drawing/2014/main" id="{D1D222FB-0DD1-CB02-0293-A733A28967D8}"/>
              </a:ext>
            </a:extLst>
          </p:cNvPr>
          <p:cNvCxnSpPr>
            <a:cxnSpLocks/>
            <a:stCxn id="77" idx="6"/>
          </p:cNvCxnSpPr>
          <p:nvPr/>
        </p:nvCxnSpPr>
        <p:spPr>
          <a:xfrm flipV="1">
            <a:off x="5666795" y="2819114"/>
            <a:ext cx="287983" cy="10976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98" name="Connecteur droit 97">
            <a:extLst>
              <a:ext uri="{FF2B5EF4-FFF2-40B4-BE49-F238E27FC236}">
                <a16:creationId xmlns:a16="http://schemas.microsoft.com/office/drawing/2014/main" id="{13818FDD-000B-D3F6-2ADA-AD90AB257615}"/>
              </a:ext>
            </a:extLst>
          </p:cNvPr>
          <p:cNvCxnSpPr>
            <a:cxnSpLocks/>
          </p:cNvCxnSpPr>
          <p:nvPr/>
        </p:nvCxnSpPr>
        <p:spPr>
          <a:xfrm>
            <a:off x="5896847" y="1503478"/>
            <a:ext cx="219075" cy="65736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99" name="Connecteur droit 98">
            <a:extLst>
              <a:ext uri="{FF2B5EF4-FFF2-40B4-BE49-F238E27FC236}">
                <a16:creationId xmlns:a16="http://schemas.microsoft.com/office/drawing/2014/main" id="{6FE90D52-16F3-D515-E4A2-B6DB82273E00}"/>
              </a:ext>
            </a:extLst>
          </p:cNvPr>
          <p:cNvCxnSpPr>
            <a:cxnSpLocks/>
            <a:stCxn id="74" idx="2"/>
          </p:cNvCxnSpPr>
          <p:nvPr/>
        </p:nvCxnSpPr>
        <p:spPr>
          <a:xfrm flipH="1">
            <a:off x="6186650" y="1539664"/>
            <a:ext cx="250204" cy="6281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101" name="Ellipse 100">
            <a:extLst>
              <a:ext uri="{FF2B5EF4-FFF2-40B4-BE49-F238E27FC236}">
                <a16:creationId xmlns:a16="http://schemas.microsoft.com/office/drawing/2014/main" id="{5A020FDB-C3DE-C403-257D-B066C06BA334}"/>
              </a:ext>
            </a:extLst>
          </p:cNvPr>
          <p:cNvSpPr/>
          <p:nvPr/>
        </p:nvSpPr>
        <p:spPr>
          <a:xfrm>
            <a:off x="11488377" y="1200472"/>
            <a:ext cx="564983" cy="1373164"/>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2" name="Ellipse 101">
            <a:extLst>
              <a:ext uri="{FF2B5EF4-FFF2-40B4-BE49-F238E27FC236}">
                <a16:creationId xmlns:a16="http://schemas.microsoft.com/office/drawing/2014/main" id="{59C944B8-D593-E283-A4D3-3F164CAFB10D}"/>
              </a:ext>
            </a:extLst>
          </p:cNvPr>
          <p:cNvSpPr/>
          <p:nvPr/>
        </p:nvSpPr>
        <p:spPr>
          <a:xfrm>
            <a:off x="8411342" y="1194746"/>
            <a:ext cx="613929" cy="1373164"/>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3" name="Ellipse 102">
            <a:extLst>
              <a:ext uri="{FF2B5EF4-FFF2-40B4-BE49-F238E27FC236}">
                <a16:creationId xmlns:a16="http://schemas.microsoft.com/office/drawing/2014/main" id="{DA696D5D-9E33-5326-ACF9-2196F226071D}"/>
              </a:ext>
            </a:extLst>
          </p:cNvPr>
          <p:cNvSpPr/>
          <p:nvPr/>
        </p:nvSpPr>
        <p:spPr>
          <a:xfrm>
            <a:off x="8785537" y="650253"/>
            <a:ext cx="2881431" cy="330702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    </a:t>
            </a:r>
          </a:p>
        </p:txBody>
      </p:sp>
      <p:sp>
        <p:nvSpPr>
          <p:cNvPr id="104" name="Ellipse 103">
            <a:extLst>
              <a:ext uri="{FF2B5EF4-FFF2-40B4-BE49-F238E27FC236}">
                <a16:creationId xmlns:a16="http://schemas.microsoft.com/office/drawing/2014/main" id="{B0653F8D-9650-2A55-3E50-3DC9C2EEDB7B}"/>
              </a:ext>
            </a:extLst>
          </p:cNvPr>
          <p:cNvSpPr/>
          <p:nvPr/>
        </p:nvSpPr>
        <p:spPr>
          <a:xfrm>
            <a:off x="9146604" y="1714165"/>
            <a:ext cx="906717" cy="345781"/>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5" name="Ellipse 104">
            <a:extLst>
              <a:ext uri="{FF2B5EF4-FFF2-40B4-BE49-F238E27FC236}">
                <a16:creationId xmlns:a16="http://schemas.microsoft.com/office/drawing/2014/main" id="{0B715436-39CF-6E3B-7297-E87B9E4E93FD}"/>
              </a:ext>
            </a:extLst>
          </p:cNvPr>
          <p:cNvSpPr/>
          <p:nvPr/>
        </p:nvSpPr>
        <p:spPr>
          <a:xfrm>
            <a:off x="10399102" y="1714164"/>
            <a:ext cx="906717" cy="345781"/>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6" name="Secteurs 105">
            <a:extLst>
              <a:ext uri="{FF2B5EF4-FFF2-40B4-BE49-F238E27FC236}">
                <a16:creationId xmlns:a16="http://schemas.microsoft.com/office/drawing/2014/main" id="{8860C7DF-C9D4-7E76-6056-A646AF9DC1FA}"/>
              </a:ext>
            </a:extLst>
          </p:cNvPr>
          <p:cNvSpPr/>
          <p:nvPr/>
        </p:nvSpPr>
        <p:spPr>
          <a:xfrm>
            <a:off x="9377166" y="2852699"/>
            <a:ext cx="1698172" cy="875980"/>
          </a:xfrm>
          <a:prstGeom prst="pie">
            <a:avLst>
              <a:gd name="adj1" fmla="val 0"/>
              <a:gd name="adj2" fmla="val 1084119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107" name="Triangle 106">
            <a:extLst>
              <a:ext uri="{FF2B5EF4-FFF2-40B4-BE49-F238E27FC236}">
                <a16:creationId xmlns:a16="http://schemas.microsoft.com/office/drawing/2014/main" id="{26D0613B-83A8-4503-61E2-EF7F5B58B9FF}"/>
              </a:ext>
            </a:extLst>
          </p:cNvPr>
          <p:cNvSpPr/>
          <p:nvPr/>
        </p:nvSpPr>
        <p:spPr>
          <a:xfrm>
            <a:off x="9941903" y="2059945"/>
            <a:ext cx="558077" cy="1076414"/>
          </a:xfrm>
          <a:prstGeom prst="triangle">
            <a:avLst>
              <a:gd name="adj" fmla="val 5131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8" name="Rectangle 107">
            <a:extLst>
              <a:ext uri="{FF2B5EF4-FFF2-40B4-BE49-F238E27FC236}">
                <a16:creationId xmlns:a16="http://schemas.microsoft.com/office/drawing/2014/main" id="{E7CD354F-2B5C-4BE8-C019-208D12B9B6CB}"/>
              </a:ext>
            </a:extLst>
          </p:cNvPr>
          <p:cNvSpPr/>
          <p:nvPr/>
        </p:nvSpPr>
        <p:spPr>
          <a:xfrm>
            <a:off x="9576930" y="3290689"/>
            <a:ext cx="153640" cy="145996"/>
          </a:xfrm>
          <a:prstGeom prst="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D</a:t>
            </a:r>
          </a:p>
        </p:txBody>
      </p:sp>
      <p:sp>
        <p:nvSpPr>
          <p:cNvPr id="109" name="Rectangle 108">
            <a:extLst>
              <a:ext uri="{FF2B5EF4-FFF2-40B4-BE49-F238E27FC236}">
                <a16:creationId xmlns:a16="http://schemas.microsoft.com/office/drawing/2014/main" id="{0DEDFC6C-D951-D123-44F6-1EB0048482B4}"/>
              </a:ext>
            </a:extLst>
          </p:cNvPr>
          <p:cNvSpPr/>
          <p:nvPr/>
        </p:nvSpPr>
        <p:spPr>
          <a:xfrm>
            <a:off x="9767730" y="3290689"/>
            <a:ext cx="153640" cy="145996"/>
          </a:xfrm>
          <a:prstGeom prst="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D</a:t>
            </a:r>
          </a:p>
        </p:txBody>
      </p:sp>
      <p:sp>
        <p:nvSpPr>
          <p:cNvPr id="110" name="Rectangle 109">
            <a:extLst>
              <a:ext uri="{FF2B5EF4-FFF2-40B4-BE49-F238E27FC236}">
                <a16:creationId xmlns:a16="http://schemas.microsoft.com/office/drawing/2014/main" id="{DDB12D25-301A-1C3C-3EF0-77799FF7744E}"/>
              </a:ext>
            </a:extLst>
          </p:cNvPr>
          <p:cNvSpPr/>
          <p:nvPr/>
        </p:nvSpPr>
        <p:spPr>
          <a:xfrm>
            <a:off x="9976501" y="3290689"/>
            <a:ext cx="153640" cy="145996"/>
          </a:xfrm>
          <a:prstGeom prst="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D</a:t>
            </a:r>
          </a:p>
        </p:txBody>
      </p:sp>
      <p:sp>
        <p:nvSpPr>
          <p:cNvPr id="111" name="Rectangle 110">
            <a:extLst>
              <a:ext uri="{FF2B5EF4-FFF2-40B4-BE49-F238E27FC236}">
                <a16:creationId xmlns:a16="http://schemas.microsoft.com/office/drawing/2014/main" id="{F2428FA9-C1B6-C21D-7840-B174626F108C}"/>
              </a:ext>
            </a:extLst>
          </p:cNvPr>
          <p:cNvSpPr/>
          <p:nvPr/>
        </p:nvSpPr>
        <p:spPr>
          <a:xfrm>
            <a:off x="10195496" y="3286523"/>
            <a:ext cx="153640" cy="145996"/>
          </a:xfrm>
          <a:prstGeom prst="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D</a:t>
            </a:r>
          </a:p>
        </p:txBody>
      </p:sp>
      <p:sp>
        <p:nvSpPr>
          <p:cNvPr id="112" name="Ellipse 111">
            <a:extLst>
              <a:ext uri="{FF2B5EF4-FFF2-40B4-BE49-F238E27FC236}">
                <a16:creationId xmlns:a16="http://schemas.microsoft.com/office/drawing/2014/main" id="{18C06341-4061-3125-DCBA-1B025FA910C9}"/>
              </a:ext>
            </a:extLst>
          </p:cNvPr>
          <p:cNvSpPr/>
          <p:nvPr/>
        </p:nvSpPr>
        <p:spPr>
          <a:xfrm>
            <a:off x="10510521" y="1469871"/>
            <a:ext cx="583823" cy="160093"/>
          </a:xfrm>
          <a:prstGeom prst="ellipse">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S</a:t>
            </a:r>
          </a:p>
        </p:txBody>
      </p:sp>
      <p:sp>
        <p:nvSpPr>
          <p:cNvPr id="113" name="Ellipse 112">
            <a:extLst>
              <a:ext uri="{FF2B5EF4-FFF2-40B4-BE49-F238E27FC236}">
                <a16:creationId xmlns:a16="http://schemas.microsoft.com/office/drawing/2014/main" id="{60BA2C04-8368-4BEE-1E96-D02187502C62}"/>
              </a:ext>
            </a:extLst>
          </p:cNvPr>
          <p:cNvSpPr/>
          <p:nvPr/>
        </p:nvSpPr>
        <p:spPr>
          <a:xfrm>
            <a:off x="9377166" y="1450640"/>
            <a:ext cx="583823" cy="160093"/>
          </a:xfrm>
          <a:prstGeom prst="ellipse">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S</a:t>
            </a:r>
          </a:p>
        </p:txBody>
      </p:sp>
      <p:sp>
        <p:nvSpPr>
          <p:cNvPr id="114" name="Ellipse 113">
            <a:extLst>
              <a:ext uri="{FF2B5EF4-FFF2-40B4-BE49-F238E27FC236}">
                <a16:creationId xmlns:a16="http://schemas.microsoft.com/office/drawing/2014/main" id="{16CB8EDF-D64B-0045-65D0-A6CACBCACB1A}"/>
              </a:ext>
            </a:extLst>
          </p:cNvPr>
          <p:cNvSpPr/>
          <p:nvPr/>
        </p:nvSpPr>
        <p:spPr>
          <a:xfrm>
            <a:off x="10773923" y="2852698"/>
            <a:ext cx="583823" cy="160093"/>
          </a:xfrm>
          <a:prstGeom prst="ellipse">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S</a:t>
            </a:r>
          </a:p>
        </p:txBody>
      </p:sp>
      <p:sp>
        <p:nvSpPr>
          <p:cNvPr id="115" name="Ellipse 114">
            <a:extLst>
              <a:ext uri="{FF2B5EF4-FFF2-40B4-BE49-F238E27FC236}">
                <a16:creationId xmlns:a16="http://schemas.microsoft.com/office/drawing/2014/main" id="{1F227B4F-E8CF-9875-17E7-70A53546E55F}"/>
              </a:ext>
            </a:extLst>
          </p:cNvPr>
          <p:cNvSpPr/>
          <p:nvPr/>
        </p:nvSpPr>
        <p:spPr>
          <a:xfrm>
            <a:off x="9156639" y="2859084"/>
            <a:ext cx="583823" cy="160093"/>
          </a:xfrm>
          <a:prstGeom prst="ellipse">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t>S</a:t>
            </a:r>
          </a:p>
        </p:txBody>
      </p:sp>
      <p:cxnSp>
        <p:nvCxnSpPr>
          <p:cNvPr id="116" name="Connecteur droit 115">
            <a:extLst>
              <a:ext uri="{FF2B5EF4-FFF2-40B4-BE49-F238E27FC236}">
                <a16:creationId xmlns:a16="http://schemas.microsoft.com/office/drawing/2014/main" id="{6F008A4F-253D-2F39-548A-1D5C827CDC82}"/>
              </a:ext>
            </a:extLst>
          </p:cNvPr>
          <p:cNvCxnSpPr>
            <a:cxnSpLocks/>
          </p:cNvCxnSpPr>
          <p:nvPr/>
        </p:nvCxnSpPr>
        <p:spPr>
          <a:xfrm flipH="1">
            <a:off x="11463217" y="1603493"/>
            <a:ext cx="73204" cy="41429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7" name="Connecteur droit 116">
            <a:extLst>
              <a:ext uri="{FF2B5EF4-FFF2-40B4-BE49-F238E27FC236}">
                <a16:creationId xmlns:a16="http://schemas.microsoft.com/office/drawing/2014/main" id="{2084647E-1978-24BE-9DE6-79EB90635E2C}"/>
              </a:ext>
            </a:extLst>
          </p:cNvPr>
          <p:cNvCxnSpPr>
            <a:cxnSpLocks/>
          </p:cNvCxnSpPr>
          <p:nvPr/>
        </p:nvCxnSpPr>
        <p:spPr>
          <a:xfrm flipH="1" flipV="1">
            <a:off x="11536421" y="2216244"/>
            <a:ext cx="130466" cy="24007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8" name="Connecteur droit 117">
            <a:extLst>
              <a:ext uri="{FF2B5EF4-FFF2-40B4-BE49-F238E27FC236}">
                <a16:creationId xmlns:a16="http://schemas.microsoft.com/office/drawing/2014/main" id="{0EFF3BB1-BA7F-19EC-B75C-69007C272D19}"/>
              </a:ext>
            </a:extLst>
          </p:cNvPr>
          <p:cNvCxnSpPr>
            <a:cxnSpLocks/>
          </p:cNvCxnSpPr>
          <p:nvPr/>
        </p:nvCxnSpPr>
        <p:spPr>
          <a:xfrm flipV="1">
            <a:off x="11235241" y="2017260"/>
            <a:ext cx="240555" cy="8537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9" name="Connecteur droit 118">
            <a:extLst>
              <a:ext uri="{FF2B5EF4-FFF2-40B4-BE49-F238E27FC236}">
                <a16:creationId xmlns:a16="http://schemas.microsoft.com/office/drawing/2014/main" id="{98285F58-2728-A5C8-87A1-48F43B3DEDCC}"/>
              </a:ext>
            </a:extLst>
          </p:cNvPr>
          <p:cNvCxnSpPr>
            <a:cxnSpLocks/>
          </p:cNvCxnSpPr>
          <p:nvPr/>
        </p:nvCxnSpPr>
        <p:spPr>
          <a:xfrm flipV="1">
            <a:off x="11357746" y="2208329"/>
            <a:ext cx="184623" cy="6513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0" name="Connecteur droit 119">
            <a:extLst>
              <a:ext uri="{FF2B5EF4-FFF2-40B4-BE49-F238E27FC236}">
                <a16:creationId xmlns:a16="http://schemas.microsoft.com/office/drawing/2014/main" id="{5879F1B2-65DF-1579-A286-814ED5B341FE}"/>
              </a:ext>
            </a:extLst>
          </p:cNvPr>
          <p:cNvCxnSpPr>
            <a:cxnSpLocks/>
          </p:cNvCxnSpPr>
          <p:nvPr/>
        </p:nvCxnSpPr>
        <p:spPr>
          <a:xfrm flipH="1" flipV="1">
            <a:off x="11235241" y="2102631"/>
            <a:ext cx="66573" cy="21351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1" name="Connecteur droit 120">
            <a:extLst>
              <a:ext uri="{FF2B5EF4-FFF2-40B4-BE49-F238E27FC236}">
                <a16:creationId xmlns:a16="http://schemas.microsoft.com/office/drawing/2014/main" id="{C4214B76-977C-68E0-0139-E92DB16F7F0A}"/>
              </a:ext>
            </a:extLst>
          </p:cNvPr>
          <p:cNvCxnSpPr>
            <a:cxnSpLocks/>
          </p:cNvCxnSpPr>
          <p:nvPr/>
        </p:nvCxnSpPr>
        <p:spPr>
          <a:xfrm flipH="1" flipV="1">
            <a:off x="11469217" y="2025703"/>
            <a:ext cx="54624" cy="182626"/>
          </a:xfrm>
          <a:prstGeom prst="line">
            <a:avLst/>
          </a:prstGeom>
          <a:ln w="444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2" name="Connecteur droit 121">
            <a:extLst>
              <a:ext uri="{FF2B5EF4-FFF2-40B4-BE49-F238E27FC236}">
                <a16:creationId xmlns:a16="http://schemas.microsoft.com/office/drawing/2014/main" id="{CCEB1F84-F60A-7B3E-FE72-51E401A971C2}"/>
              </a:ext>
            </a:extLst>
          </p:cNvPr>
          <p:cNvCxnSpPr>
            <a:cxnSpLocks/>
          </p:cNvCxnSpPr>
          <p:nvPr/>
        </p:nvCxnSpPr>
        <p:spPr>
          <a:xfrm flipV="1">
            <a:off x="10399102" y="2273461"/>
            <a:ext cx="956416" cy="41891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3" name="Connecteur droit 122">
            <a:extLst>
              <a:ext uri="{FF2B5EF4-FFF2-40B4-BE49-F238E27FC236}">
                <a16:creationId xmlns:a16="http://schemas.microsoft.com/office/drawing/2014/main" id="{184B64B8-1A73-9E70-2BD8-BC3AA9D52449}"/>
              </a:ext>
            </a:extLst>
          </p:cNvPr>
          <p:cNvCxnSpPr>
            <a:cxnSpLocks/>
          </p:cNvCxnSpPr>
          <p:nvPr/>
        </p:nvCxnSpPr>
        <p:spPr>
          <a:xfrm flipV="1">
            <a:off x="10396874" y="2251265"/>
            <a:ext cx="898405" cy="4010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4" name="ZoneTexte 123">
            <a:extLst>
              <a:ext uri="{FF2B5EF4-FFF2-40B4-BE49-F238E27FC236}">
                <a16:creationId xmlns:a16="http://schemas.microsoft.com/office/drawing/2014/main" id="{2FEC47A0-4795-B556-8F0C-BE74AD4BBDB8}"/>
              </a:ext>
            </a:extLst>
          </p:cNvPr>
          <p:cNvSpPr txBox="1"/>
          <p:nvPr/>
        </p:nvSpPr>
        <p:spPr>
          <a:xfrm>
            <a:off x="11450057" y="1919999"/>
            <a:ext cx="295274" cy="369332"/>
          </a:xfrm>
          <a:prstGeom prst="rect">
            <a:avLst/>
          </a:prstGeom>
          <a:noFill/>
        </p:spPr>
        <p:txBody>
          <a:bodyPr wrap="square" rtlCol="0">
            <a:spAutoFit/>
          </a:bodyPr>
          <a:lstStyle/>
          <a:p>
            <a:r>
              <a:rPr lang="fr-FR" dirty="0" err="1">
                <a:solidFill>
                  <a:srgbClr val="FF0000"/>
                </a:solidFill>
              </a:rPr>
              <a:t>T</a:t>
            </a:r>
            <a:endParaRPr lang="fr-FR" dirty="0">
              <a:solidFill>
                <a:srgbClr val="FF0000"/>
              </a:solidFill>
            </a:endParaRPr>
          </a:p>
        </p:txBody>
      </p:sp>
      <p:sp>
        <p:nvSpPr>
          <p:cNvPr id="129" name="Forme libre 128">
            <a:extLst>
              <a:ext uri="{FF2B5EF4-FFF2-40B4-BE49-F238E27FC236}">
                <a16:creationId xmlns:a16="http://schemas.microsoft.com/office/drawing/2014/main" id="{FC330C59-2C37-3494-2F47-EE71652149ED}"/>
              </a:ext>
            </a:extLst>
          </p:cNvPr>
          <p:cNvSpPr/>
          <p:nvPr/>
        </p:nvSpPr>
        <p:spPr>
          <a:xfrm>
            <a:off x="9409616" y="5193451"/>
            <a:ext cx="1665722" cy="1439056"/>
          </a:xfrm>
          <a:custGeom>
            <a:avLst/>
            <a:gdLst>
              <a:gd name="connsiteX0" fmla="*/ 776302 w 1665722"/>
              <a:gd name="connsiteY0" fmla="*/ 0 h 1439056"/>
              <a:gd name="connsiteX1" fmla="*/ 768806 w 1665722"/>
              <a:gd name="connsiteY1" fmla="*/ 292308 h 1439056"/>
              <a:gd name="connsiteX2" fmla="*/ 1473344 w 1665722"/>
              <a:gd name="connsiteY2" fmla="*/ 337279 h 1439056"/>
              <a:gd name="connsiteX3" fmla="*/ 1570780 w 1665722"/>
              <a:gd name="connsiteY3" fmla="*/ 524656 h 1439056"/>
              <a:gd name="connsiteX4" fmla="*/ 251646 w 1665722"/>
              <a:gd name="connsiteY4" fmla="*/ 554636 h 1439056"/>
              <a:gd name="connsiteX5" fmla="*/ 101744 w 1665722"/>
              <a:gd name="connsiteY5" fmla="*/ 846944 h 1439056"/>
              <a:gd name="connsiteX6" fmla="*/ 1405888 w 1665722"/>
              <a:gd name="connsiteY6" fmla="*/ 816964 h 1439056"/>
              <a:gd name="connsiteX7" fmla="*/ 1360918 w 1665722"/>
              <a:gd name="connsiteY7" fmla="*/ 1019331 h 1439056"/>
              <a:gd name="connsiteX8" fmla="*/ 214170 w 1665722"/>
              <a:gd name="connsiteY8" fmla="*/ 1056807 h 1439056"/>
              <a:gd name="connsiteX9" fmla="*/ 191685 w 1665722"/>
              <a:gd name="connsiteY9" fmla="*/ 1229194 h 1439056"/>
              <a:gd name="connsiteX10" fmla="*/ 903718 w 1665722"/>
              <a:gd name="connsiteY10" fmla="*/ 1274164 h 1439056"/>
              <a:gd name="connsiteX11" fmla="*/ 948688 w 1665722"/>
              <a:gd name="connsiteY11" fmla="*/ 1439056 h 1439056"/>
              <a:gd name="connsiteX12" fmla="*/ 948688 w 1665722"/>
              <a:gd name="connsiteY12" fmla="*/ 1439056 h 14390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65722" h="1439056">
                <a:moveTo>
                  <a:pt x="776302" y="0"/>
                </a:moveTo>
                <a:cubicBezTo>
                  <a:pt x="714467" y="118047"/>
                  <a:pt x="652632" y="236095"/>
                  <a:pt x="768806" y="292308"/>
                </a:cubicBezTo>
                <a:cubicBezTo>
                  <a:pt x="884980" y="348521"/>
                  <a:pt x="1339682" y="298554"/>
                  <a:pt x="1473344" y="337279"/>
                </a:cubicBezTo>
                <a:cubicBezTo>
                  <a:pt x="1607006" y="376004"/>
                  <a:pt x="1774396" y="488430"/>
                  <a:pt x="1570780" y="524656"/>
                </a:cubicBezTo>
                <a:cubicBezTo>
                  <a:pt x="1367164" y="560882"/>
                  <a:pt x="496485" y="500921"/>
                  <a:pt x="251646" y="554636"/>
                </a:cubicBezTo>
                <a:cubicBezTo>
                  <a:pt x="6807" y="608351"/>
                  <a:pt x="-90630" y="803223"/>
                  <a:pt x="101744" y="846944"/>
                </a:cubicBezTo>
                <a:cubicBezTo>
                  <a:pt x="294118" y="890665"/>
                  <a:pt x="1196026" y="788233"/>
                  <a:pt x="1405888" y="816964"/>
                </a:cubicBezTo>
                <a:cubicBezTo>
                  <a:pt x="1615750" y="845695"/>
                  <a:pt x="1559538" y="979357"/>
                  <a:pt x="1360918" y="1019331"/>
                </a:cubicBezTo>
                <a:cubicBezTo>
                  <a:pt x="1162298" y="1059305"/>
                  <a:pt x="409042" y="1021830"/>
                  <a:pt x="214170" y="1056807"/>
                </a:cubicBezTo>
                <a:cubicBezTo>
                  <a:pt x="19298" y="1091784"/>
                  <a:pt x="76760" y="1192968"/>
                  <a:pt x="191685" y="1229194"/>
                </a:cubicBezTo>
                <a:cubicBezTo>
                  <a:pt x="306610" y="1265420"/>
                  <a:pt x="777551" y="1239187"/>
                  <a:pt x="903718" y="1274164"/>
                </a:cubicBezTo>
                <a:cubicBezTo>
                  <a:pt x="1029885" y="1309141"/>
                  <a:pt x="948688" y="1439056"/>
                  <a:pt x="948688" y="1439056"/>
                </a:cubicBezTo>
                <a:lnTo>
                  <a:pt x="948688" y="1439056"/>
                </a:lnTo>
              </a:path>
            </a:pathLst>
          </a:custGeom>
          <a:noFill/>
          <a:ln w="635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0" name="ZoneTexte 129">
            <a:extLst>
              <a:ext uri="{FF2B5EF4-FFF2-40B4-BE49-F238E27FC236}">
                <a16:creationId xmlns:a16="http://schemas.microsoft.com/office/drawing/2014/main" id="{A06CA018-6D05-FB5E-7C99-3B6416DE9032}"/>
              </a:ext>
            </a:extLst>
          </p:cNvPr>
          <p:cNvSpPr txBox="1"/>
          <p:nvPr/>
        </p:nvSpPr>
        <p:spPr>
          <a:xfrm>
            <a:off x="10104223" y="5717939"/>
            <a:ext cx="243978" cy="369332"/>
          </a:xfrm>
          <a:prstGeom prst="rect">
            <a:avLst/>
          </a:prstGeom>
          <a:noFill/>
        </p:spPr>
        <p:txBody>
          <a:bodyPr wrap="square" rtlCol="0">
            <a:spAutoFit/>
          </a:bodyPr>
          <a:lstStyle/>
          <a:p>
            <a:r>
              <a:rPr lang="fr-FR" dirty="0">
                <a:solidFill>
                  <a:srgbClr val="FF0000"/>
                </a:solidFill>
              </a:rPr>
              <a:t>I</a:t>
            </a:r>
          </a:p>
        </p:txBody>
      </p:sp>
      <p:sp>
        <p:nvSpPr>
          <p:cNvPr id="131" name="Rectangle : coins arrondis 130">
            <a:extLst>
              <a:ext uri="{FF2B5EF4-FFF2-40B4-BE49-F238E27FC236}">
                <a16:creationId xmlns:a16="http://schemas.microsoft.com/office/drawing/2014/main" id="{B6D1DE3A-292C-93E3-AA9C-6F1C52297F4C}"/>
              </a:ext>
            </a:extLst>
          </p:cNvPr>
          <p:cNvSpPr/>
          <p:nvPr/>
        </p:nvSpPr>
        <p:spPr>
          <a:xfrm>
            <a:off x="9111690" y="1675405"/>
            <a:ext cx="2220980" cy="1477170"/>
          </a:xfrm>
          <a:prstGeom prst="roundRect">
            <a:avLst/>
          </a:prstGeom>
          <a:noFill/>
          <a:ln w="412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rgbClr val="FF0000"/>
                </a:solidFill>
              </a:rPr>
              <a:t>M</a:t>
            </a:r>
          </a:p>
        </p:txBody>
      </p:sp>
      <p:cxnSp>
        <p:nvCxnSpPr>
          <p:cNvPr id="132" name="Connecteur droit 131">
            <a:extLst>
              <a:ext uri="{FF2B5EF4-FFF2-40B4-BE49-F238E27FC236}">
                <a16:creationId xmlns:a16="http://schemas.microsoft.com/office/drawing/2014/main" id="{36B9C577-1CA7-7F09-73C3-6E837C21BF63}"/>
              </a:ext>
            </a:extLst>
          </p:cNvPr>
          <p:cNvCxnSpPr>
            <a:cxnSpLocks/>
          </p:cNvCxnSpPr>
          <p:nvPr/>
        </p:nvCxnSpPr>
        <p:spPr>
          <a:xfrm flipV="1">
            <a:off x="11262067" y="1497221"/>
            <a:ext cx="240555" cy="232237"/>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3" name="Connecteur droit 132">
            <a:extLst>
              <a:ext uri="{FF2B5EF4-FFF2-40B4-BE49-F238E27FC236}">
                <a16:creationId xmlns:a16="http://schemas.microsoft.com/office/drawing/2014/main" id="{BA29001D-5F72-F282-BFA7-6C5668B9B29A}"/>
              </a:ext>
            </a:extLst>
          </p:cNvPr>
          <p:cNvCxnSpPr>
            <a:cxnSpLocks/>
          </p:cNvCxnSpPr>
          <p:nvPr/>
        </p:nvCxnSpPr>
        <p:spPr>
          <a:xfrm flipH="1" flipV="1">
            <a:off x="8942465" y="1603493"/>
            <a:ext cx="204139" cy="160093"/>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4" name="Connecteur droit 133">
            <a:extLst>
              <a:ext uri="{FF2B5EF4-FFF2-40B4-BE49-F238E27FC236}">
                <a16:creationId xmlns:a16="http://schemas.microsoft.com/office/drawing/2014/main" id="{B0251699-D08D-A3E6-7AA1-2609C55A8468}"/>
              </a:ext>
            </a:extLst>
          </p:cNvPr>
          <p:cNvCxnSpPr>
            <a:cxnSpLocks/>
          </p:cNvCxnSpPr>
          <p:nvPr/>
        </p:nvCxnSpPr>
        <p:spPr>
          <a:xfrm>
            <a:off x="10417994" y="2826321"/>
            <a:ext cx="351332" cy="9145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35" name="Connecteur droit 134">
            <a:extLst>
              <a:ext uri="{FF2B5EF4-FFF2-40B4-BE49-F238E27FC236}">
                <a16:creationId xmlns:a16="http://schemas.microsoft.com/office/drawing/2014/main" id="{509A0F01-652A-5E8F-A00C-5051BE7C89F8}"/>
              </a:ext>
            </a:extLst>
          </p:cNvPr>
          <p:cNvCxnSpPr>
            <a:cxnSpLocks/>
            <a:stCxn id="115" idx="6"/>
          </p:cNvCxnSpPr>
          <p:nvPr/>
        </p:nvCxnSpPr>
        <p:spPr>
          <a:xfrm flipV="1">
            <a:off x="9740462" y="2829368"/>
            <a:ext cx="287983" cy="10976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36" name="Connecteur droit 135">
            <a:extLst>
              <a:ext uri="{FF2B5EF4-FFF2-40B4-BE49-F238E27FC236}">
                <a16:creationId xmlns:a16="http://schemas.microsoft.com/office/drawing/2014/main" id="{0E01309F-7E5B-32C0-C224-F342E69D4F6F}"/>
              </a:ext>
            </a:extLst>
          </p:cNvPr>
          <p:cNvCxnSpPr>
            <a:cxnSpLocks/>
          </p:cNvCxnSpPr>
          <p:nvPr/>
        </p:nvCxnSpPr>
        <p:spPr>
          <a:xfrm>
            <a:off x="9970514" y="1513732"/>
            <a:ext cx="219075" cy="65736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37" name="Connecteur droit 136">
            <a:extLst>
              <a:ext uri="{FF2B5EF4-FFF2-40B4-BE49-F238E27FC236}">
                <a16:creationId xmlns:a16="http://schemas.microsoft.com/office/drawing/2014/main" id="{0A9145DC-09D9-832F-A69A-56582431C5AD}"/>
              </a:ext>
            </a:extLst>
          </p:cNvPr>
          <p:cNvCxnSpPr>
            <a:cxnSpLocks/>
            <a:stCxn id="112" idx="2"/>
          </p:cNvCxnSpPr>
          <p:nvPr/>
        </p:nvCxnSpPr>
        <p:spPr>
          <a:xfrm flipH="1">
            <a:off x="10260317" y="1549918"/>
            <a:ext cx="250204" cy="6281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138" name="ZoneTexte 137">
            <a:extLst>
              <a:ext uri="{FF2B5EF4-FFF2-40B4-BE49-F238E27FC236}">
                <a16:creationId xmlns:a16="http://schemas.microsoft.com/office/drawing/2014/main" id="{4F9D3E32-31B9-2EAD-3A5F-8A8C05480C4F}"/>
              </a:ext>
            </a:extLst>
          </p:cNvPr>
          <p:cNvSpPr txBox="1"/>
          <p:nvPr/>
        </p:nvSpPr>
        <p:spPr>
          <a:xfrm>
            <a:off x="9990410" y="751212"/>
            <a:ext cx="471604" cy="369332"/>
          </a:xfrm>
          <a:prstGeom prst="rect">
            <a:avLst/>
          </a:prstGeom>
          <a:noFill/>
        </p:spPr>
        <p:txBody>
          <a:bodyPr wrap="none" rtlCol="0">
            <a:spAutoFit/>
          </a:bodyPr>
          <a:lstStyle/>
          <a:p>
            <a:r>
              <a:rPr lang="fr-FR" dirty="0"/>
              <a:t>N4</a:t>
            </a:r>
          </a:p>
        </p:txBody>
      </p:sp>
      <p:sp>
        <p:nvSpPr>
          <p:cNvPr id="139" name="ZoneTexte 138">
            <a:extLst>
              <a:ext uri="{FF2B5EF4-FFF2-40B4-BE49-F238E27FC236}">
                <a16:creationId xmlns:a16="http://schemas.microsoft.com/office/drawing/2014/main" id="{B9310C05-3726-17ED-E278-9AA211A99764}"/>
              </a:ext>
            </a:extLst>
          </p:cNvPr>
          <p:cNvSpPr txBox="1"/>
          <p:nvPr/>
        </p:nvSpPr>
        <p:spPr>
          <a:xfrm>
            <a:off x="1782055" y="748590"/>
            <a:ext cx="471604" cy="369332"/>
          </a:xfrm>
          <a:prstGeom prst="rect">
            <a:avLst/>
          </a:prstGeom>
          <a:noFill/>
        </p:spPr>
        <p:txBody>
          <a:bodyPr wrap="none" rtlCol="0">
            <a:spAutoFit/>
          </a:bodyPr>
          <a:lstStyle/>
          <a:p>
            <a:r>
              <a:rPr lang="fr-FR" dirty="0"/>
              <a:t>N1</a:t>
            </a:r>
          </a:p>
        </p:txBody>
      </p:sp>
      <p:sp>
        <p:nvSpPr>
          <p:cNvPr id="140" name="ZoneTexte 139">
            <a:extLst>
              <a:ext uri="{FF2B5EF4-FFF2-40B4-BE49-F238E27FC236}">
                <a16:creationId xmlns:a16="http://schemas.microsoft.com/office/drawing/2014/main" id="{04E126A2-CD81-3D31-DFC9-BFC38D54EDA6}"/>
              </a:ext>
            </a:extLst>
          </p:cNvPr>
          <p:cNvSpPr txBox="1"/>
          <p:nvPr/>
        </p:nvSpPr>
        <p:spPr>
          <a:xfrm>
            <a:off x="5299843" y="860468"/>
            <a:ext cx="1705403" cy="369332"/>
          </a:xfrm>
          <a:prstGeom prst="rect">
            <a:avLst/>
          </a:prstGeom>
          <a:noFill/>
        </p:spPr>
        <p:txBody>
          <a:bodyPr wrap="none" rtlCol="0">
            <a:spAutoFit/>
          </a:bodyPr>
          <a:lstStyle/>
          <a:p>
            <a:r>
              <a:rPr lang="fr-FR" dirty="0"/>
              <a:t>PA20, PA40, N3</a:t>
            </a:r>
          </a:p>
        </p:txBody>
      </p:sp>
      <p:graphicFrame>
        <p:nvGraphicFramePr>
          <p:cNvPr id="141" name="Tableau 140">
            <a:extLst>
              <a:ext uri="{FF2B5EF4-FFF2-40B4-BE49-F238E27FC236}">
                <a16:creationId xmlns:a16="http://schemas.microsoft.com/office/drawing/2014/main" id="{4A857064-E111-2C96-7983-F3C2BBAFF598}"/>
              </a:ext>
            </a:extLst>
          </p:cNvPr>
          <p:cNvGraphicFramePr>
            <a:graphicFrameLocks noGrp="1"/>
          </p:cNvGraphicFramePr>
          <p:nvPr>
            <p:extLst>
              <p:ext uri="{D42A27DB-BD31-4B8C-83A1-F6EECF244321}">
                <p14:modId xmlns:p14="http://schemas.microsoft.com/office/powerpoint/2010/main" val="3088991879"/>
              </p:ext>
            </p:extLst>
          </p:nvPr>
        </p:nvGraphicFramePr>
        <p:xfrm>
          <a:off x="4975793" y="5485869"/>
          <a:ext cx="2355881" cy="1142205"/>
        </p:xfrm>
        <a:graphic>
          <a:graphicData uri="http://schemas.openxmlformats.org/drawingml/2006/table">
            <a:tbl>
              <a:tblPr firstRow="1" bandRow="1">
                <a:tableStyleId>{5C22544A-7EE6-4342-B048-85BDC9FD1C3A}</a:tableStyleId>
              </a:tblPr>
              <a:tblGrid>
                <a:gridCol w="575208">
                  <a:extLst>
                    <a:ext uri="{9D8B030D-6E8A-4147-A177-3AD203B41FA5}">
                      <a16:colId xmlns:a16="http://schemas.microsoft.com/office/drawing/2014/main" val="2989418248"/>
                    </a:ext>
                  </a:extLst>
                </a:gridCol>
                <a:gridCol w="1780673">
                  <a:extLst>
                    <a:ext uri="{9D8B030D-6E8A-4147-A177-3AD203B41FA5}">
                      <a16:colId xmlns:a16="http://schemas.microsoft.com/office/drawing/2014/main" val="3997699132"/>
                    </a:ext>
                  </a:extLst>
                </a:gridCol>
              </a:tblGrid>
              <a:tr h="0">
                <a:tc>
                  <a:txBody>
                    <a:bodyPr/>
                    <a:lstStyle/>
                    <a:p>
                      <a:r>
                        <a:rPr lang="fr-FR" sz="1200" dirty="0"/>
                        <a:t>Code</a:t>
                      </a:r>
                    </a:p>
                  </a:txBody>
                  <a:tcPr/>
                </a:tc>
                <a:tc>
                  <a:txBody>
                    <a:bodyPr/>
                    <a:lstStyle/>
                    <a:p>
                      <a:r>
                        <a:rPr lang="fr-FR" sz="1200" dirty="0"/>
                        <a:t>Signification</a:t>
                      </a:r>
                    </a:p>
                  </a:txBody>
                  <a:tcPr/>
                </a:tc>
                <a:extLst>
                  <a:ext uri="{0D108BD9-81ED-4DB2-BD59-A6C34878D82A}">
                    <a16:rowId xmlns:a16="http://schemas.microsoft.com/office/drawing/2014/main" val="178200950"/>
                  </a:ext>
                </a:extLst>
              </a:tr>
              <a:tr h="289295">
                <a:tc>
                  <a:txBody>
                    <a:bodyPr/>
                    <a:lstStyle/>
                    <a:p>
                      <a:r>
                        <a:rPr lang="fr-FR" sz="1200" dirty="0"/>
                        <a:t>D</a:t>
                      </a:r>
                    </a:p>
                  </a:txBody>
                  <a:tcPr/>
                </a:tc>
                <a:tc>
                  <a:txBody>
                    <a:bodyPr/>
                    <a:lstStyle/>
                    <a:p>
                      <a:r>
                        <a:rPr lang="fr-FR" sz="1200" dirty="0"/>
                        <a:t>Dents</a:t>
                      </a:r>
                    </a:p>
                  </a:txBody>
                  <a:tcPr/>
                </a:tc>
                <a:extLst>
                  <a:ext uri="{0D108BD9-81ED-4DB2-BD59-A6C34878D82A}">
                    <a16:rowId xmlns:a16="http://schemas.microsoft.com/office/drawing/2014/main" val="3468838900"/>
                  </a:ext>
                </a:extLst>
              </a:tr>
              <a:tr h="289295">
                <a:tc>
                  <a:txBody>
                    <a:bodyPr/>
                    <a:lstStyle/>
                    <a:p>
                      <a:r>
                        <a:rPr lang="fr-FR" sz="1200" dirty="0"/>
                        <a:t>SP</a:t>
                      </a:r>
                    </a:p>
                  </a:txBody>
                  <a:tcPr/>
                </a:tc>
                <a:tc>
                  <a:txBody>
                    <a:bodyPr/>
                    <a:lstStyle/>
                    <a:p>
                      <a:r>
                        <a:rPr lang="fr-FR" sz="1200" dirty="0"/>
                        <a:t>Surpression pulmonaire</a:t>
                      </a:r>
                    </a:p>
                  </a:txBody>
                  <a:tcPr/>
                </a:tc>
                <a:extLst>
                  <a:ext uri="{0D108BD9-81ED-4DB2-BD59-A6C34878D82A}">
                    <a16:rowId xmlns:a16="http://schemas.microsoft.com/office/drawing/2014/main" val="4189794078"/>
                  </a:ext>
                </a:extLst>
              </a:tr>
              <a:tr h="289295">
                <a:tc>
                  <a:txBody>
                    <a:bodyPr/>
                    <a:lstStyle/>
                    <a:p>
                      <a:r>
                        <a:rPr lang="fr-FR" sz="1200" dirty="0"/>
                        <a:t>I</a:t>
                      </a:r>
                    </a:p>
                  </a:txBody>
                  <a:tcPr/>
                </a:tc>
                <a:tc>
                  <a:txBody>
                    <a:bodyPr/>
                    <a:lstStyle/>
                    <a:p>
                      <a:r>
                        <a:rPr lang="fr-FR" sz="1200" dirty="0"/>
                        <a:t>Intestins</a:t>
                      </a:r>
                    </a:p>
                  </a:txBody>
                  <a:tcPr/>
                </a:tc>
                <a:extLst>
                  <a:ext uri="{0D108BD9-81ED-4DB2-BD59-A6C34878D82A}">
                    <a16:rowId xmlns:a16="http://schemas.microsoft.com/office/drawing/2014/main" val="1150333049"/>
                  </a:ext>
                </a:extLst>
              </a:tr>
            </a:tbl>
          </a:graphicData>
        </a:graphic>
      </p:graphicFrame>
      <p:graphicFrame>
        <p:nvGraphicFramePr>
          <p:cNvPr id="142" name="Tableau 141">
            <a:extLst>
              <a:ext uri="{FF2B5EF4-FFF2-40B4-BE49-F238E27FC236}">
                <a16:creationId xmlns:a16="http://schemas.microsoft.com/office/drawing/2014/main" id="{C47FF126-872D-C385-E859-61A50CFCF5A2}"/>
              </a:ext>
            </a:extLst>
          </p:cNvPr>
          <p:cNvGraphicFramePr>
            <a:graphicFrameLocks noGrp="1"/>
          </p:cNvGraphicFramePr>
          <p:nvPr>
            <p:extLst>
              <p:ext uri="{D42A27DB-BD31-4B8C-83A1-F6EECF244321}">
                <p14:modId xmlns:p14="http://schemas.microsoft.com/office/powerpoint/2010/main" val="3297265592"/>
              </p:ext>
            </p:extLst>
          </p:nvPr>
        </p:nvGraphicFramePr>
        <p:xfrm>
          <a:off x="823379" y="5464522"/>
          <a:ext cx="2355881" cy="1157180"/>
        </p:xfrm>
        <a:graphic>
          <a:graphicData uri="http://schemas.openxmlformats.org/drawingml/2006/table">
            <a:tbl>
              <a:tblPr firstRow="1" bandRow="1">
                <a:tableStyleId>{5C22544A-7EE6-4342-B048-85BDC9FD1C3A}</a:tableStyleId>
              </a:tblPr>
              <a:tblGrid>
                <a:gridCol w="575208">
                  <a:extLst>
                    <a:ext uri="{9D8B030D-6E8A-4147-A177-3AD203B41FA5}">
                      <a16:colId xmlns:a16="http://schemas.microsoft.com/office/drawing/2014/main" val="2989418248"/>
                    </a:ext>
                  </a:extLst>
                </a:gridCol>
                <a:gridCol w="1780673">
                  <a:extLst>
                    <a:ext uri="{9D8B030D-6E8A-4147-A177-3AD203B41FA5}">
                      <a16:colId xmlns:a16="http://schemas.microsoft.com/office/drawing/2014/main" val="3997699132"/>
                    </a:ext>
                  </a:extLst>
                </a:gridCol>
              </a:tblGrid>
              <a:tr h="289295">
                <a:tc>
                  <a:txBody>
                    <a:bodyPr/>
                    <a:lstStyle/>
                    <a:p>
                      <a:r>
                        <a:rPr lang="fr-FR" sz="1200" dirty="0"/>
                        <a:t>Code</a:t>
                      </a:r>
                    </a:p>
                  </a:txBody>
                  <a:tcPr/>
                </a:tc>
                <a:tc>
                  <a:txBody>
                    <a:bodyPr/>
                    <a:lstStyle/>
                    <a:p>
                      <a:r>
                        <a:rPr lang="fr-FR" sz="1200" dirty="0"/>
                        <a:t>Signification</a:t>
                      </a:r>
                    </a:p>
                  </a:txBody>
                  <a:tcPr/>
                </a:tc>
                <a:extLst>
                  <a:ext uri="{0D108BD9-81ED-4DB2-BD59-A6C34878D82A}">
                    <a16:rowId xmlns:a16="http://schemas.microsoft.com/office/drawing/2014/main" val="178200950"/>
                  </a:ext>
                </a:extLst>
              </a:tr>
              <a:tr h="289295">
                <a:tc>
                  <a:txBody>
                    <a:bodyPr/>
                    <a:lstStyle/>
                    <a:p>
                      <a:r>
                        <a:rPr lang="fr-FR" sz="1200" dirty="0"/>
                        <a:t>S</a:t>
                      </a:r>
                    </a:p>
                  </a:txBody>
                  <a:tcPr/>
                </a:tc>
                <a:tc>
                  <a:txBody>
                    <a:bodyPr/>
                    <a:lstStyle/>
                    <a:p>
                      <a:r>
                        <a:rPr lang="fr-FR" sz="1200" dirty="0"/>
                        <a:t>Sinus</a:t>
                      </a:r>
                    </a:p>
                  </a:txBody>
                  <a:tcPr/>
                </a:tc>
                <a:extLst>
                  <a:ext uri="{0D108BD9-81ED-4DB2-BD59-A6C34878D82A}">
                    <a16:rowId xmlns:a16="http://schemas.microsoft.com/office/drawing/2014/main" val="1313528701"/>
                  </a:ext>
                </a:extLst>
              </a:tr>
              <a:tr h="289295">
                <a:tc>
                  <a:txBody>
                    <a:bodyPr/>
                    <a:lstStyle/>
                    <a:p>
                      <a:r>
                        <a:rPr lang="fr-FR" sz="1200" dirty="0"/>
                        <a:t>M</a:t>
                      </a:r>
                    </a:p>
                  </a:txBody>
                  <a:tcPr/>
                </a:tc>
                <a:tc>
                  <a:txBody>
                    <a:bodyPr/>
                    <a:lstStyle/>
                    <a:p>
                      <a:r>
                        <a:rPr lang="fr-FR" sz="1200" dirty="0"/>
                        <a:t>Masque</a:t>
                      </a:r>
                    </a:p>
                  </a:txBody>
                  <a:tcPr/>
                </a:tc>
                <a:extLst>
                  <a:ext uri="{0D108BD9-81ED-4DB2-BD59-A6C34878D82A}">
                    <a16:rowId xmlns:a16="http://schemas.microsoft.com/office/drawing/2014/main" val="818855915"/>
                  </a:ext>
                </a:extLst>
              </a:tr>
              <a:tr h="289295">
                <a:tc>
                  <a:txBody>
                    <a:bodyPr/>
                    <a:lstStyle/>
                    <a:p>
                      <a:r>
                        <a:rPr lang="fr-FR" sz="1200" dirty="0" err="1"/>
                        <a:t>T</a:t>
                      </a:r>
                      <a:endParaRPr lang="fr-FR" sz="1200" dirty="0"/>
                    </a:p>
                  </a:txBody>
                  <a:tcPr/>
                </a:tc>
                <a:tc>
                  <a:txBody>
                    <a:bodyPr/>
                    <a:lstStyle/>
                    <a:p>
                      <a:r>
                        <a:rPr lang="fr-FR" sz="1200" dirty="0"/>
                        <a:t>Tympan</a:t>
                      </a:r>
                    </a:p>
                  </a:txBody>
                  <a:tcPr/>
                </a:tc>
                <a:extLst>
                  <a:ext uri="{0D108BD9-81ED-4DB2-BD59-A6C34878D82A}">
                    <a16:rowId xmlns:a16="http://schemas.microsoft.com/office/drawing/2014/main" val="740897378"/>
                  </a:ext>
                </a:extLst>
              </a:tr>
            </a:tbl>
          </a:graphicData>
        </a:graphic>
      </p:graphicFrame>
      <p:sp>
        <p:nvSpPr>
          <p:cNvPr id="143" name="Rectangle : coins arrondis 142">
            <a:extLst>
              <a:ext uri="{FF2B5EF4-FFF2-40B4-BE49-F238E27FC236}">
                <a16:creationId xmlns:a16="http://schemas.microsoft.com/office/drawing/2014/main" id="{25679BEC-8109-8D7E-ED16-9C4C11AE5732}"/>
              </a:ext>
            </a:extLst>
          </p:cNvPr>
          <p:cNvSpPr/>
          <p:nvPr/>
        </p:nvSpPr>
        <p:spPr>
          <a:xfrm>
            <a:off x="5040290" y="4508725"/>
            <a:ext cx="724026" cy="446439"/>
          </a:xfrm>
          <a:prstGeom prst="round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SP</a:t>
            </a:r>
          </a:p>
        </p:txBody>
      </p:sp>
      <p:sp>
        <p:nvSpPr>
          <p:cNvPr id="144" name="Rectangle : coins arrondis 143">
            <a:extLst>
              <a:ext uri="{FF2B5EF4-FFF2-40B4-BE49-F238E27FC236}">
                <a16:creationId xmlns:a16="http://schemas.microsoft.com/office/drawing/2014/main" id="{0FDEE11A-80EB-73A4-2458-0CEC73926200}"/>
              </a:ext>
            </a:extLst>
          </p:cNvPr>
          <p:cNvSpPr/>
          <p:nvPr/>
        </p:nvSpPr>
        <p:spPr>
          <a:xfrm>
            <a:off x="5038023" y="4058643"/>
            <a:ext cx="724026" cy="446439"/>
          </a:xfrm>
          <a:prstGeom prst="round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SP</a:t>
            </a:r>
          </a:p>
        </p:txBody>
      </p:sp>
      <p:sp>
        <p:nvSpPr>
          <p:cNvPr id="145" name="Rectangle : coins arrondis 144">
            <a:extLst>
              <a:ext uri="{FF2B5EF4-FFF2-40B4-BE49-F238E27FC236}">
                <a16:creationId xmlns:a16="http://schemas.microsoft.com/office/drawing/2014/main" id="{7A11322F-2EE5-0528-4B59-846A451BDC39}"/>
              </a:ext>
            </a:extLst>
          </p:cNvPr>
          <p:cNvSpPr/>
          <p:nvPr/>
        </p:nvSpPr>
        <p:spPr>
          <a:xfrm>
            <a:off x="6477165" y="4522364"/>
            <a:ext cx="724026" cy="446439"/>
          </a:xfrm>
          <a:prstGeom prst="round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SP</a:t>
            </a:r>
          </a:p>
        </p:txBody>
      </p:sp>
      <p:sp>
        <p:nvSpPr>
          <p:cNvPr id="147" name="Rectangle : coins arrondis 146">
            <a:extLst>
              <a:ext uri="{FF2B5EF4-FFF2-40B4-BE49-F238E27FC236}">
                <a16:creationId xmlns:a16="http://schemas.microsoft.com/office/drawing/2014/main" id="{CFB8B40F-A3E7-2823-8CA2-2371FEEFFFED}"/>
              </a:ext>
            </a:extLst>
          </p:cNvPr>
          <p:cNvSpPr/>
          <p:nvPr/>
        </p:nvSpPr>
        <p:spPr>
          <a:xfrm>
            <a:off x="10579013" y="4973251"/>
            <a:ext cx="724026" cy="413445"/>
          </a:xfrm>
          <a:prstGeom prst="round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SP</a:t>
            </a:r>
          </a:p>
        </p:txBody>
      </p:sp>
      <p:sp>
        <p:nvSpPr>
          <p:cNvPr id="148" name="Rectangle : coins arrondis 147">
            <a:extLst>
              <a:ext uri="{FF2B5EF4-FFF2-40B4-BE49-F238E27FC236}">
                <a16:creationId xmlns:a16="http://schemas.microsoft.com/office/drawing/2014/main" id="{451EA432-756F-6269-C850-61C849D3E9DE}"/>
              </a:ext>
            </a:extLst>
          </p:cNvPr>
          <p:cNvSpPr/>
          <p:nvPr/>
        </p:nvSpPr>
        <p:spPr>
          <a:xfrm>
            <a:off x="9150987" y="4959612"/>
            <a:ext cx="724026" cy="446439"/>
          </a:xfrm>
          <a:prstGeom prst="round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SP</a:t>
            </a:r>
          </a:p>
        </p:txBody>
      </p:sp>
      <p:sp>
        <p:nvSpPr>
          <p:cNvPr id="149" name="Rectangle : coins arrondis 148">
            <a:extLst>
              <a:ext uri="{FF2B5EF4-FFF2-40B4-BE49-F238E27FC236}">
                <a16:creationId xmlns:a16="http://schemas.microsoft.com/office/drawing/2014/main" id="{C23714C0-6FBF-49B9-57F1-1F06D280C2AD}"/>
              </a:ext>
            </a:extLst>
          </p:cNvPr>
          <p:cNvSpPr/>
          <p:nvPr/>
        </p:nvSpPr>
        <p:spPr>
          <a:xfrm>
            <a:off x="9875054" y="4741487"/>
            <a:ext cx="703877" cy="152541"/>
          </a:xfrm>
          <a:prstGeom prst="round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50" name="Rectangle : coins arrondis 149">
            <a:extLst>
              <a:ext uri="{FF2B5EF4-FFF2-40B4-BE49-F238E27FC236}">
                <a16:creationId xmlns:a16="http://schemas.microsoft.com/office/drawing/2014/main" id="{A169BDE9-01E1-4835-AA38-70CDA97DC2C6}"/>
              </a:ext>
            </a:extLst>
          </p:cNvPr>
          <p:cNvSpPr/>
          <p:nvPr/>
        </p:nvSpPr>
        <p:spPr>
          <a:xfrm>
            <a:off x="9148469" y="4513173"/>
            <a:ext cx="724026" cy="446439"/>
          </a:xfrm>
          <a:prstGeom prst="round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SP</a:t>
            </a:r>
          </a:p>
        </p:txBody>
      </p:sp>
      <p:sp>
        <p:nvSpPr>
          <p:cNvPr id="151" name="Rectangle : coins arrondis 150">
            <a:extLst>
              <a:ext uri="{FF2B5EF4-FFF2-40B4-BE49-F238E27FC236}">
                <a16:creationId xmlns:a16="http://schemas.microsoft.com/office/drawing/2014/main" id="{1BCFB1D9-2C8B-FA61-7440-68255ECB9057}"/>
              </a:ext>
            </a:extLst>
          </p:cNvPr>
          <p:cNvSpPr/>
          <p:nvPr/>
        </p:nvSpPr>
        <p:spPr>
          <a:xfrm>
            <a:off x="9146202" y="4063091"/>
            <a:ext cx="724026" cy="446439"/>
          </a:xfrm>
          <a:prstGeom prst="round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SP</a:t>
            </a:r>
          </a:p>
        </p:txBody>
      </p:sp>
      <p:sp>
        <p:nvSpPr>
          <p:cNvPr id="152" name="Rectangle : coins arrondis 151">
            <a:extLst>
              <a:ext uri="{FF2B5EF4-FFF2-40B4-BE49-F238E27FC236}">
                <a16:creationId xmlns:a16="http://schemas.microsoft.com/office/drawing/2014/main" id="{9EA24AF3-496B-5FED-2AFB-3B014CF22CD6}"/>
              </a:ext>
            </a:extLst>
          </p:cNvPr>
          <p:cNvSpPr/>
          <p:nvPr/>
        </p:nvSpPr>
        <p:spPr>
          <a:xfrm>
            <a:off x="10585344" y="4526812"/>
            <a:ext cx="724026" cy="446439"/>
          </a:xfrm>
          <a:prstGeom prst="roundRect">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SP</a:t>
            </a:r>
          </a:p>
        </p:txBody>
      </p:sp>
    </p:spTree>
    <p:extLst>
      <p:ext uri="{BB962C8B-B14F-4D97-AF65-F5344CB8AC3E}">
        <p14:creationId xmlns:p14="http://schemas.microsoft.com/office/powerpoint/2010/main" val="9389561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0FE889B-8943-D850-8394-B9BD72C036CE}"/>
              </a:ext>
            </a:extLst>
          </p:cNvPr>
          <p:cNvSpPr>
            <a:spLocks noGrp="1"/>
          </p:cNvSpPr>
          <p:nvPr>
            <p:ph type="title"/>
          </p:nvPr>
        </p:nvSpPr>
        <p:spPr>
          <a:xfrm>
            <a:off x="0" y="0"/>
            <a:ext cx="12192000" cy="611059"/>
          </a:xfrm>
        </p:spPr>
        <p:txBody>
          <a:bodyPr>
            <a:normAutofit fontScale="90000"/>
          </a:bodyPr>
          <a:lstStyle/>
          <a:p>
            <a:pPr algn="ctr"/>
            <a:r>
              <a:rPr lang="fr-FR" dirty="0"/>
              <a:t>Barotraumatismes</a:t>
            </a:r>
          </a:p>
        </p:txBody>
      </p:sp>
      <p:sp>
        <p:nvSpPr>
          <p:cNvPr id="3" name="Espace réservé du contenu 2">
            <a:extLst>
              <a:ext uri="{FF2B5EF4-FFF2-40B4-BE49-F238E27FC236}">
                <a16:creationId xmlns:a16="http://schemas.microsoft.com/office/drawing/2014/main" id="{0EDF4A8F-8484-8924-9371-DD8402796741}"/>
              </a:ext>
            </a:extLst>
          </p:cNvPr>
          <p:cNvSpPr>
            <a:spLocks noGrp="1"/>
          </p:cNvSpPr>
          <p:nvPr>
            <p:ph idx="1"/>
          </p:nvPr>
        </p:nvSpPr>
        <p:spPr>
          <a:xfrm>
            <a:off x="316979" y="889836"/>
            <a:ext cx="11183288" cy="828796"/>
          </a:xfrm>
          <a:solidFill>
            <a:schemeClr val="accent6">
              <a:lumMod val="20000"/>
              <a:lumOff val="80000"/>
            </a:schemeClr>
          </a:solidFill>
          <a:ln>
            <a:solidFill>
              <a:schemeClr val="accent6">
                <a:lumMod val="50000"/>
              </a:schemeClr>
            </a:solidFill>
          </a:ln>
        </p:spPr>
        <p:txBody>
          <a:bodyPr>
            <a:normAutofit/>
          </a:bodyPr>
          <a:lstStyle/>
          <a:p>
            <a:pPr marL="0" indent="0" algn="ctr">
              <a:buNone/>
            </a:pPr>
            <a:r>
              <a:rPr lang="fr-FR" sz="1800" b="1" dirty="0"/>
              <a:t>La base</a:t>
            </a:r>
          </a:p>
          <a:p>
            <a:pPr marL="0" indent="0" algn="ctr">
              <a:buNone/>
            </a:pPr>
            <a:r>
              <a:rPr lang="fr-FR" sz="1800" dirty="0"/>
              <a:t>Problèmes liés à la pression, plus particulièrement les variations de pressions</a:t>
            </a:r>
          </a:p>
        </p:txBody>
      </p:sp>
      <p:graphicFrame>
        <p:nvGraphicFramePr>
          <p:cNvPr id="5" name="Tableau 4">
            <a:extLst>
              <a:ext uri="{FF2B5EF4-FFF2-40B4-BE49-F238E27FC236}">
                <a16:creationId xmlns:a16="http://schemas.microsoft.com/office/drawing/2014/main" id="{9DC994A2-5644-B54A-4AB3-946135DBBE32}"/>
              </a:ext>
            </a:extLst>
          </p:cNvPr>
          <p:cNvGraphicFramePr>
            <a:graphicFrameLocks noGrp="1"/>
          </p:cNvGraphicFramePr>
          <p:nvPr>
            <p:extLst>
              <p:ext uri="{D42A27DB-BD31-4B8C-83A1-F6EECF244321}">
                <p14:modId xmlns:p14="http://schemas.microsoft.com/office/powerpoint/2010/main" val="2736873446"/>
              </p:ext>
            </p:extLst>
          </p:nvPr>
        </p:nvGraphicFramePr>
        <p:xfrm>
          <a:off x="316979" y="1825097"/>
          <a:ext cx="11279924" cy="3623396"/>
        </p:xfrm>
        <a:graphic>
          <a:graphicData uri="http://schemas.openxmlformats.org/drawingml/2006/table">
            <a:tbl>
              <a:tblPr firstRow="1" bandRow="1">
                <a:tableStyleId>{5C22544A-7EE6-4342-B048-85BDC9FD1C3A}</a:tableStyleId>
              </a:tblPr>
              <a:tblGrid>
                <a:gridCol w="420212">
                  <a:extLst>
                    <a:ext uri="{9D8B030D-6E8A-4147-A177-3AD203B41FA5}">
                      <a16:colId xmlns:a16="http://schemas.microsoft.com/office/drawing/2014/main" val="2989418248"/>
                    </a:ext>
                  </a:extLst>
                </a:gridCol>
                <a:gridCol w="2048539">
                  <a:extLst>
                    <a:ext uri="{9D8B030D-6E8A-4147-A177-3AD203B41FA5}">
                      <a16:colId xmlns:a16="http://schemas.microsoft.com/office/drawing/2014/main" val="3997699132"/>
                    </a:ext>
                  </a:extLst>
                </a:gridCol>
                <a:gridCol w="850605">
                  <a:extLst>
                    <a:ext uri="{9D8B030D-6E8A-4147-A177-3AD203B41FA5}">
                      <a16:colId xmlns:a16="http://schemas.microsoft.com/office/drawing/2014/main" val="2448774493"/>
                    </a:ext>
                  </a:extLst>
                </a:gridCol>
                <a:gridCol w="1240465">
                  <a:extLst>
                    <a:ext uri="{9D8B030D-6E8A-4147-A177-3AD203B41FA5}">
                      <a16:colId xmlns:a16="http://schemas.microsoft.com/office/drawing/2014/main" val="1644221353"/>
                    </a:ext>
                  </a:extLst>
                </a:gridCol>
                <a:gridCol w="1637414">
                  <a:extLst>
                    <a:ext uri="{9D8B030D-6E8A-4147-A177-3AD203B41FA5}">
                      <a16:colId xmlns:a16="http://schemas.microsoft.com/office/drawing/2014/main" val="833044530"/>
                    </a:ext>
                  </a:extLst>
                </a:gridCol>
                <a:gridCol w="1197935">
                  <a:extLst>
                    <a:ext uri="{9D8B030D-6E8A-4147-A177-3AD203B41FA5}">
                      <a16:colId xmlns:a16="http://schemas.microsoft.com/office/drawing/2014/main" val="3392722564"/>
                    </a:ext>
                  </a:extLst>
                </a:gridCol>
                <a:gridCol w="1332614">
                  <a:extLst>
                    <a:ext uri="{9D8B030D-6E8A-4147-A177-3AD203B41FA5}">
                      <a16:colId xmlns:a16="http://schemas.microsoft.com/office/drawing/2014/main" val="92623426"/>
                    </a:ext>
                  </a:extLst>
                </a:gridCol>
                <a:gridCol w="1290084">
                  <a:extLst>
                    <a:ext uri="{9D8B030D-6E8A-4147-A177-3AD203B41FA5}">
                      <a16:colId xmlns:a16="http://schemas.microsoft.com/office/drawing/2014/main" val="3953576913"/>
                    </a:ext>
                  </a:extLst>
                </a:gridCol>
                <a:gridCol w="1262056">
                  <a:extLst>
                    <a:ext uri="{9D8B030D-6E8A-4147-A177-3AD203B41FA5}">
                      <a16:colId xmlns:a16="http://schemas.microsoft.com/office/drawing/2014/main" val="3269262327"/>
                    </a:ext>
                  </a:extLst>
                </a:gridCol>
              </a:tblGrid>
              <a:tr h="362036">
                <a:tc>
                  <a:txBody>
                    <a:bodyPr/>
                    <a:lstStyle/>
                    <a:p>
                      <a:r>
                        <a:rPr lang="fr-FR" sz="1400" dirty="0"/>
                        <a:t>Code</a:t>
                      </a:r>
                    </a:p>
                  </a:txBody>
                  <a:tcPr/>
                </a:tc>
                <a:tc>
                  <a:txBody>
                    <a:bodyPr/>
                    <a:lstStyle/>
                    <a:p>
                      <a:r>
                        <a:rPr lang="fr-FR" sz="1400" dirty="0"/>
                        <a:t>Signification</a:t>
                      </a:r>
                    </a:p>
                  </a:txBody>
                  <a:tcPr/>
                </a:tc>
                <a:tc>
                  <a:txBody>
                    <a:bodyPr/>
                    <a:lstStyle/>
                    <a:p>
                      <a:r>
                        <a:rPr lang="fr-FR" sz="1400" dirty="0"/>
                        <a:t>Phase</a:t>
                      </a:r>
                    </a:p>
                  </a:txBody>
                  <a:tcPr/>
                </a:tc>
                <a:tc>
                  <a:txBody>
                    <a:bodyPr/>
                    <a:lstStyle/>
                    <a:p>
                      <a:endParaRPr lang="fr-FR" sz="1400" dirty="0"/>
                    </a:p>
                  </a:txBody>
                  <a:tcPr/>
                </a:tc>
                <a:tc>
                  <a:txBody>
                    <a:bodyPr/>
                    <a:lstStyle/>
                    <a:p>
                      <a:r>
                        <a:rPr lang="fr-FR" sz="1400" dirty="0"/>
                        <a:t>Principes</a:t>
                      </a:r>
                    </a:p>
                  </a:txBody>
                  <a:tcPr/>
                </a:tc>
                <a:tc>
                  <a:txBody>
                    <a:bodyPr/>
                    <a:lstStyle/>
                    <a:p>
                      <a:r>
                        <a:rPr lang="fr-FR" sz="1400" dirty="0"/>
                        <a:t>Cause</a:t>
                      </a:r>
                    </a:p>
                  </a:txBody>
                  <a:tcPr/>
                </a:tc>
                <a:tc>
                  <a:txBody>
                    <a:bodyPr/>
                    <a:lstStyle/>
                    <a:p>
                      <a:r>
                        <a:rPr lang="fr-FR" sz="1400" dirty="0"/>
                        <a:t>Symptômes</a:t>
                      </a:r>
                    </a:p>
                  </a:txBody>
                  <a:tcPr/>
                </a:tc>
                <a:tc>
                  <a:txBody>
                    <a:bodyPr/>
                    <a:lstStyle/>
                    <a:p>
                      <a:r>
                        <a:rPr lang="fr-FR" sz="1400" dirty="0"/>
                        <a:t>Prévention</a:t>
                      </a:r>
                    </a:p>
                  </a:txBody>
                  <a:tcPr/>
                </a:tc>
                <a:tc>
                  <a:txBody>
                    <a:bodyPr/>
                    <a:lstStyle/>
                    <a:p>
                      <a:r>
                        <a:rPr lang="fr-FR" sz="1400" dirty="0"/>
                        <a:t>Conduite</a:t>
                      </a:r>
                    </a:p>
                    <a:p>
                      <a:r>
                        <a:rPr lang="fr-FR" sz="1400" dirty="0"/>
                        <a:t>À tenir</a:t>
                      </a:r>
                    </a:p>
                  </a:txBody>
                  <a:tcPr/>
                </a:tc>
                <a:extLst>
                  <a:ext uri="{0D108BD9-81ED-4DB2-BD59-A6C34878D82A}">
                    <a16:rowId xmlns:a16="http://schemas.microsoft.com/office/drawing/2014/main" val="178200950"/>
                  </a:ext>
                </a:extLst>
              </a:tr>
              <a:tr h="362036">
                <a:tc>
                  <a:txBody>
                    <a:bodyPr/>
                    <a:lstStyle/>
                    <a:p>
                      <a:r>
                        <a:rPr lang="fr-FR" sz="1400" dirty="0"/>
                        <a:t>S</a:t>
                      </a:r>
                    </a:p>
                  </a:txBody>
                  <a:tcPr/>
                </a:tc>
                <a:tc>
                  <a:txBody>
                    <a:bodyPr/>
                    <a:lstStyle/>
                    <a:p>
                      <a:r>
                        <a:rPr lang="fr-FR" sz="1400" dirty="0"/>
                        <a:t>Sinus</a:t>
                      </a:r>
                    </a:p>
                  </a:txBody>
                  <a:tcPr/>
                </a:tc>
                <a:tc>
                  <a:txBody>
                    <a:bodyPr/>
                    <a:lstStyle/>
                    <a:p>
                      <a:r>
                        <a:rPr lang="fr-FR" sz="1200" dirty="0"/>
                        <a:t>D - R</a:t>
                      </a:r>
                    </a:p>
                  </a:txBody>
                  <a:tcPr/>
                </a:tc>
                <a:tc>
                  <a:txBody>
                    <a:bodyPr/>
                    <a:lstStyle/>
                    <a:p>
                      <a:r>
                        <a:rPr lang="fr-FR" sz="1200" dirty="0"/>
                        <a:t>Douloureux</a:t>
                      </a:r>
                    </a:p>
                  </a:txBody>
                  <a:tcPr/>
                </a:tc>
                <a:tc>
                  <a:txBody>
                    <a:bodyPr/>
                    <a:lstStyle/>
                    <a:p>
                      <a:r>
                        <a:rPr lang="fr-FR" sz="1200" dirty="0"/>
                        <a:t>N1</a:t>
                      </a:r>
                    </a:p>
                  </a:txBody>
                  <a:tcPr/>
                </a:tc>
                <a:tc>
                  <a:txBody>
                    <a:bodyPr/>
                    <a:lstStyle/>
                    <a:p>
                      <a:r>
                        <a:rPr lang="fr-FR" sz="1200" dirty="0"/>
                        <a:t>P20 – PA40</a:t>
                      </a:r>
                    </a:p>
                    <a:p>
                      <a:r>
                        <a:rPr lang="fr-FR" sz="1200" dirty="0"/>
                        <a:t>N3 – N4</a:t>
                      </a:r>
                    </a:p>
                  </a:txBody>
                  <a:tcPr/>
                </a:tc>
                <a:tc>
                  <a:txBody>
                    <a:bodyPr/>
                    <a:lstStyle/>
                    <a:p>
                      <a:r>
                        <a:rPr lang="fr-FR" sz="1200" dirty="0"/>
                        <a:t>P20 – PA40</a:t>
                      </a:r>
                    </a:p>
                    <a:p>
                      <a:r>
                        <a:rPr lang="fr-FR" sz="1200" dirty="0"/>
                        <a:t>N3 – N4</a:t>
                      </a:r>
                    </a:p>
                  </a:txBody>
                  <a:tcPr/>
                </a:tc>
                <a:tc>
                  <a:txBody>
                    <a:bodyPr/>
                    <a:lstStyle/>
                    <a:p>
                      <a:r>
                        <a:rPr lang="fr-FR" sz="1200" dirty="0"/>
                        <a:t>N1 - P20 – PA40 - N3 – N4</a:t>
                      </a:r>
                    </a:p>
                  </a:txBody>
                  <a:tcPr/>
                </a:tc>
                <a:tc>
                  <a:txBody>
                    <a:bodyPr/>
                    <a:lstStyle/>
                    <a:p>
                      <a:r>
                        <a:rPr lang="fr-FR" sz="1200" dirty="0"/>
                        <a:t>P20 – PA40</a:t>
                      </a:r>
                    </a:p>
                    <a:p>
                      <a:r>
                        <a:rPr lang="fr-FR" sz="1200" dirty="0"/>
                        <a:t>N3 – N4</a:t>
                      </a:r>
                    </a:p>
                  </a:txBody>
                  <a:tcPr/>
                </a:tc>
                <a:extLst>
                  <a:ext uri="{0D108BD9-81ED-4DB2-BD59-A6C34878D82A}">
                    <a16:rowId xmlns:a16="http://schemas.microsoft.com/office/drawing/2014/main" val="1313528701"/>
                  </a:ext>
                </a:extLst>
              </a:tr>
              <a:tr h="362036">
                <a:tc>
                  <a:txBody>
                    <a:bodyPr/>
                    <a:lstStyle/>
                    <a:p>
                      <a:r>
                        <a:rPr lang="fr-FR" sz="1400" dirty="0"/>
                        <a:t>M</a:t>
                      </a:r>
                    </a:p>
                  </a:txBody>
                  <a:tcPr/>
                </a:tc>
                <a:tc>
                  <a:txBody>
                    <a:bodyPr/>
                    <a:lstStyle/>
                    <a:p>
                      <a:r>
                        <a:rPr lang="fr-FR" sz="1400" dirty="0"/>
                        <a:t>Masque</a:t>
                      </a:r>
                    </a:p>
                  </a:txBody>
                  <a:tcPr/>
                </a:tc>
                <a:tc>
                  <a:txBody>
                    <a:bodyPr/>
                    <a:lstStyle/>
                    <a:p>
                      <a:r>
                        <a:rPr lang="fr-FR" sz="1200" dirty="0"/>
                        <a:t>D</a:t>
                      </a:r>
                    </a:p>
                  </a:txBody>
                  <a:tcPr/>
                </a:tc>
                <a:tc>
                  <a:txBody>
                    <a:bodyPr/>
                    <a:lstStyle/>
                    <a:p>
                      <a:r>
                        <a:rPr lang="fr-FR" sz="1200" dirty="0"/>
                        <a:t>Douloureux</a:t>
                      </a:r>
                    </a:p>
                  </a:txBody>
                  <a:tcPr/>
                </a:tc>
                <a:tc>
                  <a:txBody>
                    <a:bodyPr/>
                    <a:lstStyle/>
                    <a:p>
                      <a:r>
                        <a:rPr lang="fr-FR" sz="1200" dirty="0"/>
                        <a:t>N1</a:t>
                      </a:r>
                    </a:p>
                  </a:txBody>
                  <a:tcPr/>
                </a:tc>
                <a:tc>
                  <a:txBody>
                    <a:bodyPr/>
                    <a:lstStyle/>
                    <a:p>
                      <a:r>
                        <a:rPr lang="fr-FR" sz="1200" dirty="0"/>
                        <a:t>P20 – PA40</a:t>
                      </a:r>
                    </a:p>
                    <a:p>
                      <a:r>
                        <a:rPr lang="fr-FR" sz="1200" dirty="0"/>
                        <a:t>N3 – N4</a:t>
                      </a:r>
                    </a:p>
                  </a:txBody>
                  <a:tcPr/>
                </a:tc>
                <a:tc>
                  <a:txBody>
                    <a:bodyPr/>
                    <a:lstStyle/>
                    <a:p>
                      <a:r>
                        <a:rPr lang="fr-FR" sz="1200" dirty="0"/>
                        <a:t>P20 – PA40</a:t>
                      </a:r>
                    </a:p>
                    <a:p>
                      <a:r>
                        <a:rPr lang="fr-FR" sz="1200" dirty="0"/>
                        <a:t>N3 – N4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N1 - P20 – PA40 - N3 – N4</a:t>
                      </a:r>
                    </a:p>
                  </a:txBody>
                  <a:tcPr/>
                </a:tc>
                <a:tc>
                  <a:txBody>
                    <a:bodyPr/>
                    <a:lstStyle/>
                    <a:p>
                      <a:r>
                        <a:rPr lang="fr-FR" sz="1200" dirty="0"/>
                        <a:t>P20 – PA40</a:t>
                      </a:r>
                    </a:p>
                    <a:p>
                      <a:r>
                        <a:rPr lang="fr-FR" sz="1200" dirty="0"/>
                        <a:t>N3 – N4</a:t>
                      </a:r>
                    </a:p>
                  </a:txBody>
                  <a:tcPr/>
                </a:tc>
                <a:extLst>
                  <a:ext uri="{0D108BD9-81ED-4DB2-BD59-A6C34878D82A}">
                    <a16:rowId xmlns:a16="http://schemas.microsoft.com/office/drawing/2014/main" val="818855915"/>
                  </a:ext>
                </a:extLst>
              </a:tr>
              <a:tr h="362036">
                <a:tc>
                  <a:txBody>
                    <a:bodyPr/>
                    <a:lstStyle/>
                    <a:p>
                      <a:r>
                        <a:rPr lang="fr-FR" sz="1400" dirty="0"/>
                        <a:t>D</a:t>
                      </a:r>
                    </a:p>
                  </a:txBody>
                  <a:tcPr/>
                </a:tc>
                <a:tc>
                  <a:txBody>
                    <a:bodyPr/>
                    <a:lstStyle/>
                    <a:p>
                      <a:r>
                        <a:rPr lang="fr-FR" sz="1400" dirty="0"/>
                        <a:t>Dents</a:t>
                      </a:r>
                    </a:p>
                  </a:txBody>
                  <a:tcPr/>
                </a:tc>
                <a:tc>
                  <a:txBody>
                    <a:bodyPr/>
                    <a:lstStyle/>
                    <a:p>
                      <a:r>
                        <a:rPr lang="fr-FR" sz="1200" dirty="0"/>
                        <a:t>R</a:t>
                      </a:r>
                    </a:p>
                  </a:txBody>
                  <a:tcPr/>
                </a:tc>
                <a:tc>
                  <a:txBody>
                    <a:bodyPr/>
                    <a:lstStyle/>
                    <a:p>
                      <a:r>
                        <a:rPr lang="fr-FR" sz="1200" dirty="0"/>
                        <a:t>Douloureux</a:t>
                      </a:r>
                    </a:p>
                  </a:txBody>
                  <a:tcPr/>
                </a:tc>
                <a:tc>
                  <a:txBody>
                    <a:bodyPr/>
                    <a:lstStyle/>
                    <a:p>
                      <a:r>
                        <a:rPr lang="fr-FR" sz="1200" dirty="0"/>
                        <a:t>N1</a:t>
                      </a:r>
                    </a:p>
                  </a:txBody>
                  <a:tcPr/>
                </a:tc>
                <a:tc>
                  <a:txBody>
                    <a:bodyPr/>
                    <a:lstStyle/>
                    <a:p>
                      <a:r>
                        <a:rPr lang="fr-FR" sz="1200" dirty="0"/>
                        <a:t>P20 – PA40</a:t>
                      </a:r>
                    </a:p>
                    <a:p>
                      <a:r>
                        <a:rPr lang="fr-FR" sz="1200" dirty="0"/>
                        <a:t>N3 – N4</a:t>
                      </a:r>
                    </a:p>
                  </a:txBody>
                  <a:tcPr/>
                </a:tc>
                <a:tc>
                  <a:txBody>
                    <a:bodyPr/>
                    <a:lstStyle/>
                    <a:p>
                      <a:r>
                        <a:rPr lang="fr-FR" sz="1200" dirty="0"/>
                        <a:t>P20 – PA40</a:t>
                      </a:r>
                    </a:p>
                    <a:p>
                      <a:r>
                        <a:rPr lang="fr-FR" sz="1200" dirty="0"/>
                        <a:t>N3 – N4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N1 - P20 – PA40 - N3 – N4</a:t>
                      </a:r>
                    </a:p>
                  </a:txBody>
                  <a:tcPr/>
                </a:tc>
                <a:tc>
                  <a:txBody>
                    <a:bodyPr/>
                    <a:lstStyle/>
                    <a:p>
                      <a:r>
                        <a:rPr lang="fr-FR" sz="1200" dirty="0"/>
                        <a:t>P20 – PA40</a:t>
                      </a:r>
                    </a:p>
                    <a:p>
                      <a:r>
                        <a:rPr lang="fr-FR" sz="1200" dirty="0"/>
                        <a:t>N3 – N4</a:t>
                      </a:r>
                    </a:p>
                  </a:txBody>
                  <a:tcPr/>
                </a:tc>
                <a:extLst>
                  <a:ext uri="{0D108BD9-81ED-4DB2-BD59-A6C34878D82A}">
                    <a16:rowId xmlns:a16="http://schemas.microsoft.com/office/drawing/2014/main" val="3468838900"/>
                  </a:ext>
                </a:extLst>
              </a:tr>
              <a:tr h="362036">
                <a:tc>
                  <a:txBody>
                    <a:bodyPr/>
                    <a:lstStyle/>
                    <a:p>
                      <a:r>
                        <a:rPr lang="fr-FR" sz="1400" dirty="0" err="1"/>
                        <a:t>T</a:t>
                      </a:r>
                      <a:endParaRPr lang="fr-FR" sz="1400" dirty="0"/>
                    </a:p>
                  </a:txBody>
                  <a:tcPr/>
                </a:tc>
                <a:tc>
                  <a:txBody>
                    <a:bodyPr/>
                    <a:lstStyle/>
                    <a:p>
                      <a:r>
                        <a:rPr lang="fr-FR" sz="1400" dirty="0"/>
                        <a:t>Tympan (oreille)</a:t>
                      </a:r>
                    </a:p>
                  </a:txBody>
                  <a:tcPr/>
                </a:tc>
                <a:tc>
                  <a:txBody>
                    <a:bodyPr/>
                    <a:lstStyle/>
                    <a:p>
                      <a:r>
                        <a:rPr lang="fr-FR" sz="1200" dirty="0"/>
                        <a:t>D - R</a:t>
                      </a:r>
                    </a:p>
                  </a:txBody>
                  <a:tcPr/>
                </a:tc>
                <a:tc>
                  <a:txBody>
                    <a:bodyPr/>
                    <a:lstStyle/>
                    <a:p>
                      <a:r>
                        <a:rPr lang="fr-FR" sz="1200" dirty="0"/>
                        <a:t>Douloureux</a:t>
                      </a:r>
                    </a:p>
                  </a:txBody>
                  <a:tcPr/>
                </a:tc>
                <a:tc>
                  <a:txBody>
                    <a:bodyPr/>
                    <a:lstStyle/>
                    <a:p>
                      <a:r>
                        <a:rPr lang="fr-FR" sz="1200" dirty="0"/>
                        <a:t>N1</a:t>
                      </a:r>
                    </a:p>
                  </a:txBody>
                  <a:tcPr/>
                </a:tc>
                <a:tc>
                  <a:txBody>
                    <a:bodyPr/>
                    <a:lstStyle/>
                    <a:p>
                      <a:r>
                        <a:rPr lang="fr-FR" sz="1200" dirty="0"/>
                        <a:t>P20 – PA40</a:t>
                      </a:r>
                    </a:p>
                    <a:p>
                      <a:r>
                        <a:rPr lang="fr-FR" sz="1200" dirty="0"/>
                        <a:t>N3 – N4</a:t>
                      </a:r>
                    </a:p>
                  </a:txBody>
                  <a:tcPr/>
                </a:tc>
                <a:tc>
                  <a:txBody>
                    <a:bodyPr/>
                    <a:lstStyle/>
                    <a:p>
                      <a:r>
                        <a:rPr lang="fr-FR" sz="1200" dirty="0"/>
                        <a:t>P20 – PA40</a:t>
                      </a:r>
                    </a:p>
                    <a:p>
                      <a:r>
                        <a:rPr lang="fr-FR" sz="1200" dirty="0"/>
                        <a:t>N3 – N4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N1 - P20 – PA40 - N3 – N4</a:t>
                      </a:r>
                    </a:p>
                  </a:txBody>
                  <a:tcPr/>
                </a:tc>
                <a:tc>
                  <a:txBody>
                    <a:bodyPr/>
                    <a:lstStyle/>
                    <a:p>
                      <a:r>
                        <a:rPr lang="fr-FR" sz="1200" dirty="0"/>
                        <a:t>P20 – PA40</a:t>
                      </a:r>
                    </a:p>
                    <a:p>
                      <a:r>
                        <a:rPr lang="fr-FR" sz="1200" dirty="0"/>
                        <a:t>N3 – N4</a:t>
                      </a:r>
                    </a:p>
                  </a:txBody>
                  <a:tcPr/>
                </a:tc>
                <a:extLst>
                  <a:ext uri="{0D108BD9-81ED-4DB2-BD59-A6C34878D82A}">
                    <a16:rowId xmlns:a16="http://schemas.microsoft.com/office/drawing/2014/main" val="740897378"/>
                  </a:ext>
                </a:extLst>
              </a:tr>
              <a:tr h="362036">
                <a:tc>
                  <a:txBody>
                    <a:bodyPr/>
                    <a:lstStyle/>
                    <a:p>
                      <a:r>
                        <a:rPr lang="fr-FR" sz="1400" dirty="0"/>
                        <a:t>SP</a:t>
                      </a:r>
                    </a:p>
                  </a:txBody>
                  <a:tcPr/>
                </a:tc>
                <a:tc>
                  <a:txBody>
                    <a:bodyPr/>
                    <a:lstStyle/>
                    <a:p>
                      <a:r>
                        <a:rPr lang="fr-FR" sz="1400" dirty="0"/>
                        <a:t>Surpression pulmonaire</a:t>
                      </a:r>
                    </a:p>
                  </a:txBody>
                  <a:tcPr/>
                </a:tc>
                <a:tc>
                  <a:txBody>
                    <a:bodyPr/>
                    <a:lstStyle/>
                    <a:p>
                      <a:r>
                        <a:rPr lang="fr-FR" sz="1200" dirty="0"/>
                        <a:t>R</a:t>
                      </a:r>
                    </a:p>
                  </a:txBody>
                  <a:tcPr/>
                </a:tc>
                <a:tc>
                  <a:txBody>
                    <a:bodyPr/>
                    <a:lstStyle/>
                    <a:p>
                      <a:r>
                        <a:rPr lang="fr-FR" sz="1200" dirty="0"/>
                        <a:t>Dangereux</a:t>
                      </a:r>
                    </a:p>
                  </a:txBody>
                  <a:tcPr/>
                </a:tc>
                <a:tc>
                  <a:txBody>
                    <a:bodyPr/>
                    <a:lstStyle/>
                    <a:p>
                      <a:r>
                        <a:rPr lang="fr-FR" sz="1200" dirty="0"/>
                        <a:t>N1</a:t>
                      </a:r>
                    </a:p>
                  </a:txBody>
                  <a:tcPr/>
                </a:tc>
                <a:tc>
                  <a:txBody>
                    <a:bodyPr/>
                    <a:lstStyle/>
                    <a:p>
                      <a:r>
                        <a:rPr lang="fr-FR" sz="1200" dirty="0"/>
                        <a:t>P20 – PA40</a:t>
                      </a:r>
                    </a:p>
                    <a:p>
                      <a:r>
                        <a:rPr lang="fr-FR" sz="1200" dirty="0"/>
                        <a:t>N3 – N4</a:t>
                      </a:r>
                    </a:p>
                  </a:txBody>
                  <a:tcPr/>
                </a:tc>
                <a:tc>
                  <a:txBody>
                    <a:bodyPr/>
                    <a:lstStyle/>
                    <a:p>
                      <a:r>
                        <a:rPr lang="fr-FR" sz="1200" dirty="0"/>
                        <a:t>P20 – PA40</a:t>
                      </a:r>
                    </a:p>
                    <a:p>
                      <a:r>
                        <a:rPr lang="fr-FR" sz="1200" dirty="0"/>
                        <a:t>N3 – N4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N1 - P20 – PA40 - N3 – N4</a:t>
                      </a:r>
                    </a:p>
                  </a:txBody>
                  <a:tcPr/>
                </a:tc>
                <a:tc>
                  <a:txBody>
                    <a:bodyPr/>
                    <a:lstStyle/>
                    <a:p>
                      <a:r>
                        <a:rPr lang="fr-FR" sz="1200" dirty="0"/>
                        <a:t>P20 – PA40</a:t>
                      </a:r>
                    </a:p>
                    <a:p>
                      <a:r>
                        <a:rPr lang="fr-FR" sz="1200" dirty="0"/>
                        <a:t>N3 – N4</a:t>
                      </a:r>
                    </a:p>
                  </a:txBody>
                  <a:tcPr/>
                </a:tc>
                <a:extLst>
                  <a:ext uri="{0D108BD9-81ED-4DB2-BD59-A6C34878D82A}">
                    <a16:rowId xmlns:a16="http://schemas.microsoft.com/office/drawing/2014/main" val="4189794078"/>
                  </a:ext>
                </a:extLst>
              </a:tr>
              <a:tr h="362036">
                <a:tc>
                  <a:txBody>
                    <a:bodyPr/>
                    <a:lstStyle/>
                    <a:p>
                      <a:r>
                        <a:rPr lang="fr-FR" sz="1400" dirty="0"/>
                        <a:t>I</a:t>
                      </a:r>
                    </a:p>
                  </a:txBody>
                  <a:tcPr/>
                </a:tc>
                <a:tc>
                  <a:txBody>
                    <a:bodyPr/>
                    <a:lstStyle/>
                    <a:p>
                      <a:r>
                        <a:rPr lang="fr-FR" sz="1400" dirty="0"/>
                        <a:t>Intestins</a:t>
                      </a:r>
                    </a:p>
                  </a:txBody>
                  <a:tcPr/>
                </a:tc>
                <a:tc>
                  <a:txBody>
                    <a:bodyPr/>
                    <a:lstStyle/>
                    <a:p>
                      <a:r>
                        <a:rPr lang="fr-FR" sz="1200" dirty="0"/>
                        <a:t>R</a:t>
                      </a:r>
                    </a:p>
                  </a:txBody>
                  <a:tcPr/>
                </a:tc>
                <a:tc>
                  <a:txBody>
                    <a:bodyPr/>
                    <a:lstStyle/>
                    <a:p>
                      <a:r>
                        <a:rPr lang="fr-FR" sz="1200" dirty="0"/>
                        <a:t>Rare</a:t>
                      </a:r>
                    </a:p>
                  </a:txBody>
                  <a:tcPr/>
                </a:tc>
                <a:tc>
                  <a:txBody>
                    <a:bodyPr/>
                    <a:lstStyle/>
                    <a:p>
                      <a:endParaRPr lang="fr-FR" sz="1200" dirty="0"/>
                    </a:p>
                  </a:txBody>
                  <a:tcPr/>
                </a:tc>
                <a:tc>
                  <a:txBody>
                    <a:bodyPr/>
                    <a:lstStyle/>
                    <a:p>
                      <a:r>
                        <a:rPr lang="fr-FR" sz="1200" dirty="0"/>
                        <a:t>N4</a:t>
                      </a:r>
                    </a:p>
                  </a:txBody>
                  <a:tcPr/>
                </a:tc>
                <a:tc>
                  <a:txBody>
                    <a:bodyPr/>
                    <a:lstStyle/>
                    <a:p>
                      <a:r>
                        <a:rPr lang="fr-FR" sz="1200" dirty="0"/>
                        <a:t>N4</a:t>
                      </a:r>
                    </a:p>
                  </a:txBody>
                  <a:tcPr/>
                </a:tc>
                <a:tc>
                  <a:txBody>
                    <a:bodyPr/>
                    <a:lstStyle/>
                    <a:p>
                      <a:r>
                        <a:rPr lang="fr-FR" sz="1200" dirty="0"/>
                        <a:t>N4</a:t>
                      </a:r>
                    </a:p>
                  </a:txBody>
                  <a:tcPr/>
                </a:tc>
                <a:tc>
                  <a:txBody>
                    <a:bodyPr/>
                    <a:lstStyle/>
                    <a:p>
                      <a:r>
                        <a:rPr lang="fr-FR" sz="1200" dirty="0"/>
                        <a:t>N4</a:t>
                      </a:r>
                    </a:p>
                  </a:txBody>
                  <a:tcPr/>
                </a:tc>
                <a:extLst>
                  <a:ext uri="{0D108BD9-81ED-4DB2-BD59-A6C34878D82A}">
                    <a16:rowId xmlns:a16="http://schemas.microsoft.com/office/drawing/2014/main" val="1150333049"/>
                  </a:ext>
                </a:extLst>
              </a:tr>
              <a:tr h="362036">
                <a:tc>
                  <a:txBody>
                    <a:bodyPr/>
                    <a:lstStyle/>
                    <a:p>
                      <a:r>
                        <a:rPr lang="fr-FR" sz="1400" dirty="0"/>
                        <a:t>V</a:t>
                      </a:r>
                    </a:p>
                  </a:txBody>
                  <a:tcPr/>
                </a:tc>
                <a:tc>
                  <a:txBody>
                    <a:bodyPr/>
                    <a:lstStyle/>
                    <a:p>
                      <a:r>
                        <a:rPr lang="fr-FR" sz="1400" dirty="0"/>
                        <a:t>Vertige (oreille)</a:t>
                      </a:r>
                    </a:p>
                  </a:txBody>
                  <a:tcPr/>
                </a:tc>
                <a:tc>
                  <a:txBody>
                    <a:bodyPr/>
                    <a:lstStyle/>
                    <a:p>
                      <a:r>
                        <a:rPr lang="fr-FR" sz="1200" dirty="0"/>
                        <a:t>D - R</a:t>
                      </a:r>
                    </a:p>
                  </a:txBody>
                  <a:tcPr/>
                </a:tc>
                <a:tc>
                  <a:txBody>
                    <a:bodyPr/>
                    <a:lstStyle/>
                    <a:p>
                      <a:r>
                        <a:rPr lang="fr-FR" sz="1200" dirty="0"/>
                        <a:t>Perturbant</a:t>
                      </a:r>
                    </a:p>
                  </a:txBody>
                  <a:tcPr/>
                </a:tc>
                <a:tc>
                  <a:txBody>
                    <a:bodyPr/>
                    <a:lstStyle/>
                    <a:p>
                      <a:r>
                        <a:rPr lang="fr-FR" sz="1200" dirty="0"/>
                        <a:t>N1</a:t>
                      </a:r>
                    </a:p>
                  </a:txBody>
                  <a:tcPr/>
                </a:tc>
                <a:tc>
                  <a:txBody>
                    <a:bodyPr/>
                    <a:lstStyle/>
                    <a:p>
                      <a:r>
                        <a:rPr lang="fr-FR" sz="1200" dirty="0"/>
                        <a:t>P20 – PA40</a:t>
                      </a:r>
                    </a:p>
                    <a:p>
                      <a:r>
                        <a:rPr lang="fr-FR" sz="1200" dirty="0"/>
                        <a:t>N3 – N4</a:t>
                      </a:r>
                    </a:p>
                  </a:txBody>
                  <a:tcPr/>
                </a:tc>
                <a:tc>
                  <a:txBody>
                    <a:bodyPr/>
                    <a:lstStyle/>
                    <a:p>
                      <a:r>
                        <a:rPr lang="fr-FR" sz="1200" dirty="0"/>
                        <a:t>P20 – PA40</a:t>
                      </a:r>
                    </a:p>
                    <a:p>
                      <a:r>
                        <a:rPr lang="fr-FR" sz="1200" dirty="0"/>
                        <a:t>N3 – N4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N1 - P20 – PA40 - N3 – N4</a:t>
                      </a:r>
                    </a:p>
                  </a:txBody>
                  <a:tcPr/>
                </a:tc>
                <a:tc>
                  <a:txBody>
                    <a:bodyPr/>
                    <a:lstStyle/>
                    <a:p>
                      <a:r>
                        <a:rPr lang="fr-FR" sz="1200" dirty="0"/>
                        <a:t>P20 – PA40</a:t>
                      </a:r>
                    </a:p>
                    <a:p>
                      <a:r>
                        <a:rPr lang="fr-FR" sz="1200" dirty="0"/>
                        <a:t>N3 – N4</a:t>
                      </a:r>
                    </a:p>
                  </a:txBody>
                  <a:tcPr/>
                </a:tc>
                <a:extLst>
                  <a:ext uri="{0D108BD9-81ED-4DB2-BD59-A6C34878D82A}">
                    <a16:rowId xmlns:a16="http://schemas.microsoft.com/office/drawing/2014/main" val="3977002084"/>
                  </a:ext>
                </a:extLst>
              </a:tr>
            </a:tbl>
          </a:graphicData>
        </a:graphic>
      </p:graphicFrame>
    </p:spTree>
    <p:extLst>
      <p:ext uri="{BB962C8B-B14F-4D97-AF65-F5344CB8AC3E}">
        <p14:creationId xmlns:p14="http://schemas.microsoft.com/office/powerpoint/2010/main" val="9035082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90C50-80DC-7B45-5514-D1F42103875E}"/>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0BF6088-9EBE-04DA-4078-B8832CE42202}"/>
              </a:ext>
            </a:extLst>
          </p:cNvPr>
          <p:cNvSpPr>
            <a:spLocks noGrp="1"/>
          </p:cNvSpPr>
          <p:nvPr>
            <p:ph type="title"/>
          </p:nvPr>
        </p:nvSpPr>
        <p:spPr>
          <a:xfrm>
            <a:off x="0" y="0"/>
            <a:ext cx="12192000" cy="611059"/>
          </a:xfrm>
        </p:spPr>
        <p:txBody>
          <a:bodyPr>
            <a:normAutofit fontScale="90000"/>
          </a:bodyPr>
          <a:lstStyle/>
          <a:p>
            <a:pPr algn="ctr"/>
            <a:r>
              <a:rPr lang="fr-FR" dirty="0"/>
              <a:t>Barotraumatismes: Les sinus</a:t>
            </a:r>
          </a:p>
        </p:txBody>
      </p:sp>
      <p:sp>
        <p:nvSpPr>
          <p:cNvPr id="3" name="Espace réservé du contenu 2">
            <a:extLst>
              <a:ext uri="{FF2B5EF4-FFF2-40B4-BE49-F238E27FC236}">
                <a16:creationId xmlns:a16="http://schemas.microsoft.com/office/drawing/2014/main" id="{CD159282-B2AC-F4CC-DCDE-529D1B82E8D9}"/>
              </a:ext>
            </a:extLst>
          </p:cNvPr>
          <p:cNvSpPr>
            <a:spLocks noGrp="1"/>
          </p:cNvSpPr>
          <p:nvPr>
            <p:ph idx="1"/>
          </p:nvPr>
        </p:nvSpPr>
        <p:spPr>
          <a:xfrm>
            <a:off x="504355" y="684554"/>
            <a:ext cx="11183288" cy="611059"/>
          </a:xfrm>
          <a:solidFill>
            <a:schemeClr val="accent6">
              <a:lumMod val="20000"/>
              <a:lumOff val="80000"/>
            </a:schemeClr>
          </a:solidFill>
          <a:ln>
            <a:solidFill>
              <a:schemeClr val="accent6">
                <a:lumMod val="50000"/>
              </a:schemeClr>
            </a:solidFill>
          </a:ln>
        </p:spPr>
        <p:txBody>
          <a:bodyPr>
            <a:normAutofit/>
          </a:bodyPr>
          <a:lstStyle/>
          <a:p>
            <a:pPr marL="0" indent="0" algn="ctr">
              <a:buNone/>
            </a:pPr>
            <a:r>
              <a:rPr lang="fr-FR" sz="1400" b="1" dirty="0"/>
              <a:t>Dit le matheux</a:t>
            </a:r>
          </a:p>
          <a:p>
            <a:pPr marL="0" indent="0" algn="ctr">
              <a:buNone/>
            </a:pPr>
            <a:r>
              <a:rPr lang="fr-FR" sz="1400" i="1" dirty="0"/>
              <a:t>4 sinus, 4 fois plus de chance d’avoir une sinusite</a:t>
            </a:r>
          </a:p>
        </p:txBody>
      </p:sp>
      <p:sp>
        <p:nvSpPr>
          <p:cNvPr id="5" name="ZoneTexte 4">
            <a:extLst>
              <a:ext uri="{FF2B5EF4-FFF2-40B4-BE49-F238E27FC236}">
                <a16:creationId xmlns:a16="http://schemas.microsoft.com/office/drawing/2014/main" id="{19917194-16C5-EDB4-40EB-B4BA9D50DD7E}"/>
              </a:ext>
            </a:extLst>
          </p:cNvPr>
          <p:cNvSpPr txBox="1"/>
          <p:nvPr/>
        </p:nvSpPr>
        <p:spPr>
          <a:xfrm>
            <a:off x="504354" y="4776529"/>
            <a:ext cx="5435657" cy="1569660"/>
          </a:xfrm>
          <a:prstGeom prst="rect">
            <a:avLst/>
          </a:prstGeom>
          <a:solidFill>
            <a:schemeClr val="accent2">
              <a:lumMod val="20000"/>
              <a:lumOff val="80000"/>
            </a:schemeClr>
          </a:solidFill>
          <a:ln>
            <a:solidFill>
              <a:schemeClr val="accent2">
                <a:lumMod val="50000"/>
              </a:schemeClr>
            </a:solidFill>
          </a:ln>
        </p:spPr>
        <p:txBody>
          <a:bodyPr wrap="square" rtlCol="0">
            <a:spAutoFit/>
          </a:bodyPr>
          <a:lstStyle/>
          <a:p>
            <a:r>
              <a:rPr lang="fr-FR" sz="1200" dirty="0"/>
              <a:t>Les principales fonctions des fosses nasales et des sinus paranasaux sont de :</a:t>
            </a:r>
          </a:p>
          <a:p>
            <a:pPr marL="171450" indent="-171450">
              <a:buFont typeface="Arial" panose="020B0604020202020204" pitchFamily="34" charset="0"/>
              <a:buChar char="•"/>
            </a:pPr>
            <a:r>
              <a:rPr lang="fr-FR" sz="1200" dirty="0"/>
              <a:t>filtrer, réchauffer et humidifier l’air que vous respirez;</a:t>
            </a:r>
          </a:p>
          <a:p>
            <a:pPr marL="171450" indent="-171450">
              <a:buFont typeface="Arial" panose="020B0604020202020204" pitchFamily="34" charset="0"/>
              <a:buChar char="•"/>
            </a:pPr>
            <a:r>
              <a:rPr lang="fr-FR" sz="1200" dirty="0"/>
              <a:t>percevoir les odeurs (sens de l’odorat);</a:t>
            </a:r>
          </a:p>
          <a:p>
            <a:pPr marL="171450" indent="-171450">
              <a:buFont typeface="Arial" panose="020B0604020202020204" pitchFamily="34" charset="0"/>
              <a:buChar char="•"/>
            </a:pPr>
            <a:r>
              <a:rPr lang="fr-FR" sz="1200" dirty="0"/>
              <a:t>produire du mucus;</a:t>
            </a:r>
          </a:p>
          <a:p>
            <a:pPr marL="171450" indent="-171450">
              <a:buFont typeface="Arial" panose="020B0604020202020204" pitchFamily="34" charset="0"/>
              <a:buChar char="•"/>
            </a:pPr>
            <a:r>
              <a:rPr lang="fr-FR" sz="1200" dirty="0"/>
              <a:t>alléger le poids du crâne;</a:t>
            </a:r>
          </a:p>
          <a:p>
            <a:pPr marL="171450" indent="-171450">
              <a:buFont typeface="Arial" panose="020B0604020202020204" pitchFamily="34" charset="0"/>
              <a:buChar char="•"/>
            </a:pPr>
            <a:r>
              <a:rPr lang="fr-FR" sz="1200" dirty="0"/>
              <a:t>vibrer et faire résonner la voix, ce qui lui donne un son unique;</a:t>
            </a:r>
          </a:p>
          <a:p>
            <a:pPr marL="171450" indent="-171450">
              <a:buFont typeface="Arial" panose="020B0604020202020204" pitchFamily="34" charset="0"/>
              <a:buChar char="•"/>
            </a:pPr>
            <a:r>
              <a:rPr lang="fr-FR" sz="1200" dirty="0"/>
              <a:t>protéger le cerveau contre les blessures.</a:t>
            </a:r>
          </a:p>
          <a:p>
            <a:pPr marL="285750" indent="-285750">
              <a:buFont typeface="Arial" panose="020B0604020202020204" pitchFamily="34" charset="0"/>
              <a:buChar char="•"/>
            </a:pPr>
            <a:endParaRPr lang="fr-FR" sz="1200" dirty="0"/>
          </a:p>
        </p:txBody>
      </p:sp>
      <p:pic>
        <p:nvPicPr>
          <p:cNvPr id="1026" name="Picture 2" descr="Schéma des sinus paranasaux">
            <a:extLst>
              <a:ext uri="{FF2B5EF4-FFF2-40B4-BE49-F238E27FC236}">
                <a16:creationId xmlns:a16="http://schemas.microsoft.com/office/drawing/2014/main" id="{1AE2DBD2-A7E0-B188-C2B7-E528F2772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6623" y="1369108"/>
            <a:ext cx="5721019" cy="3571686"/>
          </a:xfrm>
          <a:prstGeom prst="rect">
            <a:avLst/>
          </a:prstGeom>
          <a:noFill/>
          <a:extLst>
            <a:ext uri="{909E8E84-426E-40DD-AFC4-6F175D3DCCD1}">
              <a14:hiddenFill xmlns:a14="http://schemas.microsoft.com/office/drawing/2010/main">
                <a:solidFill>
                  <a:srgbClr val="FFFFFF"/>
                </a:solidFill>
              </a14:hiddenFill>
            </a:ext>
          </a:extLst>
        </p:spPr>
      </p:pic>
      <p:sp>
        <p:nvSpPr>
          <p:cNvPr id="9" name="ZoneTexte 8">
            <a:extLst>
              <a:ext uri="{FF2B5EF4-FFF2-40B4-BE49-F238E27FC236}">
                <a16:creationId xmlns:a16="http://schemas.microsoft.com/office/drawing/2014/main" id="{5D0D852A-DA59-B367-BFDC-3B461A8E5DD8}"/>
              </a:ext>
            </a:extLst>
          </p:cNvPr>
          <p:cNvSpPr txBox="1"/>
          <p:nvPr/>
        </p:nvSpPr>
        <p:spPr>
          <a:xfrm>
            <a:off x="504354" y="1444872"/>
            <a:ext cx="5435657" cy="830997"/>
          </a:xfrm>
          <a:prstGeom prst="rect">
            <a:avLst/>
          </a:prstGeom>
          <a:solidFill>
            <a:schemeClr val="accent5">
              <a:lumMod val="20000"/>
              <a:lumOff val="80000"/>
            </a:schemeClr>
          </a:solidFill>
          <a:ln>
            <a:solidFill>
              <a:schemeClr val="accent5">
                <a:lumMod val="75000"/>
              </a:schemeClr>
            </a:solidFill>
          </a:ln>
        </p:spPr>
        <p:txBody>
          <a:bodyPr wrap="square" rtlCol="0">
            <a:spAutoFit/>
          </a:bodyPr>
          <a:lstStyle/>
          <a:p>
            <a:pPr algn="just"/>
            <a:r>
              <a:rPr lang="fr-FR" sz="1200" dirty="0"/>
              <a:t>Le terme paranasal signifie autour ou près du nez. Les sinus paranasaux sont des espaces creux remplis d’air; ils sont situés autour du nez, à l'intérieur du crâne. Les sinus paranasaux communiquent entre eux de même qu’avec les fosses nasales.</a:t>
            </a:r>
          </a:p>
        </p:txBody>
      </p:sp>
      <p:sp>
        <p:nvSpPr>
          <p:cNvPr id="10" name="ZoneTexte 9">
            <a:extLst>
              <a:ext uri="{FF2B5EF4-FFF2-40B4-BE49-F238E27FC236}">
                <a16:creationId xmlns:a16="http://schemas.microsoft.com/office/drawing/2014/main" id="{D242367E-B962-B266-A6BC-83092EA9AFF5}"/>
              </a:ext>
            </a:extLst>
          </p:cNvPr>
          <p:cNvSpPr txBox="1"/>
          <p:nvPr/>
        </p:nvSpPr>
        <p:spPr>
          <a:xfrm>
            <a:off x="504355" y="2372037"/>
            <a:ext cx="5435657" cy="2308324"/>
          </a:xfrm>
          <a:prstGeom prst="rect">
            <a:avLst/>
          </a:prstGeom>
          <a:solidFill>
            <a:schemeClr val="tx2">
              <a:lumMod val="10000"/>
              <a:lumOff val="90000"/>
            </a:schemeClr>
          </a:solidFill>
          <a:ln>
            <a:solidFill>
              <a:schemeClr val="accent1">
                <a:lumMod val="75000"/>
              </a:schemeClr>
            </a:solidFill>
          </a:ln>
        </p:spPr>
        <p:txBody>
          <a:bodyPr wrap="square" rtlCol="0">
            <a:spAutoFit/>
          </a:bodyPr>
          <a:lstStyle/>
          <a:p>
            <a:pPr marL="171450" indent="-171450" algn="just">
              <a:buFont typeface="Arial" panose="020B0604020202020204" pitchFamily="34" charset="0"/>
              <a:buChar char="•"/>
            </a:pPr>
            <a:r>
              <a:rPr lang="fr-FR" sz="1200" dirty="0"/>
              <a:t>Les </a:t>
            </a:r>
            <a:r>
              <a:rPr lang="fr-FR" sz="1200" b="1" dirty="0"/>
              <a:t>sinus maxillaires</a:t>
            </a:r>
            <a:r>
              <a:rPr lang="fr-FR" sz="1200" dirty="0"/>
              <a:t> sont situés dans le maxillaire (la mâchoire supérieure), de chaque côté du nez, derrière les joues et sous les yeux. De forme pyramidale, ce sont les plus gros sinus paranasaux.</a:t>
            </a:r>
          </a:p>
          <a:p>
            <a:pPr marL="171450" indent="-171450" algn="just">
              <a:buFont typeface="Arial" panose="020B0604020202020204" pitchFamily="34" charset="0"/>
              <a:buChar char="•"/>
            </a:pPr>
            <a:r>
              <a:rPr lang="fr-FR" sz="1200" dirty="0"/>
              <a:t>Les </a:t>
            </a:r>
            <a:r>
              <a:rPr lang="fr-FR" sz="1200" b="1" dirty="0"/>
              <a:t>sinus frontaux</a:t>
            </a:r>
            <a:r>
              <a:rPr lang="fr-FR" sz="1200" dirty="0"/>
              <a:t> sont situés dans l’os frontal, au-dessus du nez et derrière les sourcils. Ces 2 espaces creux sont séparés par une mince cloison osseuse.</a:t>
            </a:r>
          </a:p>
          <a:p>
            <a:pPr marL="171450" indent="-171450" algn="just">
              <a:buFont typeface="Arial" panose="020B0604020202020204" pitchFamily="34" charset="0"/>
              <a:buChar char="•"/>
            </a:pPr>
            <a:r>
              <a:rPr lang="fr-FR" sz="1200" dirty="0"/>
              <a:t>Les </a:t>
            </a:r>
            <a:r>
              <a:rPr lang="fr-FR" sz="1200" b="1" dirty="0"/>
              <a:t>sinus ethmoïdaux</a:t>
            </a:r>
            <a:r>
              <a:rPr lang="fr-FR" sz="1200" dirty="0"/>
              <a:t> sont de petits espaces creux situés dans l’os ethmoïde, sur l'arête du nez, au-dessus des fosses nasales et entre les yeux. Leur nombre et leur taille sont variables.</a:t>
            </a:r>
          </a:p>
          <a:p>
            <a:pPr marL="171450" indent="-171450" algn="just">
              <a:buFont typeface="Arial" panose="020B0604020202020204" pitchFamily="34" charset="0"/>
              <a:buChar char="•"/>
            </a:pPr>
            <a:r>
              <a:rPr lang="fr-FR" sz="1200" dirty="0"/>
              <a:t>Le </a:t>
            </a:r>
            <a:r>
              <a:rPr lang="fr-FR" sz="1200" b="1" dirty="0"/>
              <a:t>sinus sphénoïdal</a:t>
            </a:r>
            <a:r>
              <a:rPr lang="fr-FR" sz="1200" dirty="0"/>
              <a:t> est situé dans l’os sphénoïde (lequel est logé profondément dans le crâne), derrière les sinus ethmoïdaux et les fosses nasales. Il est divisé en côtés gauche et droit par une mince cloison osseuse.</a:t>
            </a:r>
          </a:p>
        </p:txBody>
      </p:sp>
    </p:spTree>
    <p:extLst>
      <p:ext uri="{BB962C8B-B14F-4D97-AF65-F5344CB8AC3E}">
        <p14:creationId xmlns:p14="http://schemas.microsoft.com/office/powerpoint/2010/main" val="23203533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A880D0-65E2-9A17-6B66-E37F9295A35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34538E9-7D43-CA0A-E031-D1B2D032C178}"/>
              </a:ext>
            </a:extLst>
          </p:cNvPr>
          <p:cNvSpPr>
            <a:spLocks noGrp="1"/>
          </p:cNvSpPr>
          <p:nvPr>
            <p:ph type="title"/>
          </p:nvPr>
        </p:nvSpPr>
        <p:spPr>
          <a:xfrm>
            <a:off x="0" y="0"/>
            <a:ext cx="12192000" cy="611059"/>
          </a:xfrm>
        </p:spPr>
        <p:txBody>
          <a:bodyPr>
            <a:normAutofit fontScale="90000"/>
          </a:bodyPr>
          <a:lstStyle/>
          <a:p>
            <a:pPr algn="ctr"/>
            <a:r>
              <a:rPr lang="fr-FR" dirty="0"/>
              <a:t>Barotraumatismes: Les sinus</a:t>
            </a:r>
          </a:p>
        </p:txBody>
      </p:sp>
      <p:sp>
        <p:nvSpPr>
          <p:cNvPr id="3" name="Espace réservé du contenu 2">
            <a:extLst>
              <a:ext uri="{FF2B5EF4-FFF2-40B4-BE49-F238E27FC236}">
                <a16:creationId xmlns:a16="http://schemas.microsoft.com/office/drawing/2014/main" id="{4E62A1FC-760A-C102-17E0-99AA62944873}"/>
              </a:ext>
            </a:extLst>
          </p:cNvPr>
          <p:cNvSpPr>
            <a:spLocks noGrp="1"/>
          </p:cNvSpPr>
          <p:nvPr>
            <p:ph idx="1"/>
          </p:nvPr>
        </p:nvSpPr>
        <p:spPr>
          <a:xfrm>
            <a:off x="504355" y="684554"/>
            <a:ext cx="11183288" cy="872863"/>
          </a:xfrm>
          <a:solidFill>
            <a:schemeClr val="accent6">
              <a:lumMod val="20000"/>
              <a:lumOff val="80000"/>
            </a:schemeClr>
          </a:solidFill>
          <a:ln>
            <a:solidFill>
              <a:schemeClr val="accent6">
                <a:lumMod val="50000"/>
              </a:schemeClr>
            </a:solidFill>
          </a:ln>
        </p:spPr>
        <p:txBody>
          <a:bodyPr>
            <a:normAutofit/>
          </a:bodyPr>
          <a:lstStyle/>
          <a:p>
            <a:pPr marL="0" indent="0" algn="ctr">
              <a:buNone/>
            </a:pPr>
            <a:r>
              <a:rPr lang="fr-FR" sz="1800" b="1" dirty="0"/>
              <a:t>Dit le matheux</a:t>
            </a:r>
          </a:p>
          <a:p>
            <a:pPr marL="0" indent="0" algn="ctr">
              <a:buNone/>
            </a:pPr>
            <a:r>
              <a:rPr lang="fr-FR" sz="1800" i="1" dirty="0"/>
              <a:t>4 sinus, 4 fois plus de chance d’avoir une sinusite</a:t>
            </a:r>
          </a:p>
        </p:txBody>
      </p:sp>
      <p:sp>
        <p:nvSpPr>
          <p:cNvPr id="5" name="ZoneTexte 4">
            <a:extLst>
              <a:ext uri="{FF2B5EF4-FFF2-40B4-BE49-F238E27FC236}">
                <a16:creationId xmlns:a16="http://schemas.microsoft.com/office/drawing/2014/main" id="{45F6F612-55F6-3CA9-AE04-F31C1DDFEFCF}"/>
              </a:ext>
            </a:extLst>
          </p:cNvPr>
          <p:cNvSpPr txBox="1"/>
          <p:nvPr/>
        </p:nvSpPr>
        <p:spPr>
          <a:xfrm>
            <a:off x="504356" y="1673448"/>
            <a:ext cx="11183287" cy="1200329"/>
          </a:xfrm>
          <a:prstGeom prst="rect">
            <a:avLst/>
          </a:prstGeom>
          <a:solidFill>
            <a:schemeClr val="accent2">
              <a:lumMod val="20000"/>
              <a:lumOff val="80000"/>
            </a:schemeClr>
          </a:solidFill>
          <a:ln>
            <a:solidFill>
              <a:schemeClr val="accent2">
                <a:lumMod val="50000"/>
              </a:schemeClr>
            </a:solidFill>
          </a:ln>
        </p:spPr>
        <p:txBody>
          <a:bodyPr wrap="square" rtlCol="0">
            <a:spAutoFit/>
          </a:bodyPr>
          <a:lstStyle/>
          <a:p>
            <a:r>
              <a:rPr lang="fr-FR" sz="1200" dirty="0"/>
              <a:t>D’où cela vient ?</a:t>
            </a:r>
          </a:p>
          <a:p>
            <a:pPr marL="285750" indent="-285750">
              <a:buFont typeface="Arial" panose="020B0604020202020204" pitchFamily="34" charset="0"/>
              <a:buChar char="•"/>
            </a:pPr>
            <a:r>
              <a:rPr lang="fr-FR" sz="1200" dirty="0"/>
              <a:t>Les sinus (frontaux, maxillaires, ethmoïdales et sphénoïdal) sont des cavités remplie d’air. Les ethmoïdales et sphénoïdal sont derrière les frontaux et communiques directement.</a:t>
            </a:r>
          </a:p>
          <a:p>
            <a:pPr marL="285750" indent="-285750">
              <a:buFont typeface="Arial" panose="020B0604020202020204" pitchFamily="34" charset="0"/>
              <a:buChar char="•"/>
            </a:pPr>
            <a:r>
              <a:rPr lang="fr-FR" sz="1200" dirty="0"/>
              <a:t>une triple fonction: respiratoire, immunologique et olfactive.</a:t>
            </a:r>
          </a:p>
          <a:p>
            <a:pPr marL="285750" indent="-285750">
              <a:buFont typeface="Arial" panose="020B0604020202020204" pitchFamily="34" charset="0"/>
              <a:buChar char="•"/>
            </a:pPr>
            <a:r>
              <a:rPr lang="fr-FR" sz="1200" dirty="0"/>
              <a:t>L’équilibre se fait automatiquement par les fosses nasales</a:t>
            </a:r>
          </a:p>
          <a:p>
            <a:pPr marL="285750" indent="-285750">
              <a:buFont typeface="Arial" panose="020B0604020202020204" pitchFamily="34" charset="0"/>
              <a:buChar char="•"/>
            </a:pPr>
            <a:r>
              <a:rPr lang="fr-FR" sz="1200" dirty="0"/>
              <a:t>Si l’équilibre ne se faire, on ressent une douleur</a:t>
            </a:r>
          </a:p>
        </p:txBody>
      </p:sp>
      <p:sp>
        <p:nvSpPr>
          <p:cNvPr id="6" name="ZoneTexte 5">
            <a:extLst>
              <a:ext uri="{FF2B5EF4-FFF2-40B4-BE49-F238E27FC236}">
                <a16:creationId xmlns:a16="http://schemas.microsoft.com/office/drawing/2014/main" id="{71207726-82A5-8085-4102-11E667533320}"/>
              </a:ext>
            </a:extLst>
          </p:cNvPr>
          <p:cNvSpPr txBox="1"/>
          <p:nvPr/>
        </p:nvSpPr>
        <p:spPr>
          <a:xfrm>
            <a:off x="504355" y="3389917"/>
            <a:ext cx="6436091" cy="830997"/>
          </a:xfrm>
          <a:prstGeom prst="rect">
            <a:avLst/>
          </a:prstGeom>
          <a:solidFill>
            <a:schemeClr val="accent5">
              <a:lumMod val="20000"/>
              <a:lumOff val="80000"/>
            </a:schemeClr>
          </a:solidFill>
          <a:ln>
            <a:solidFill>
              <a:schemeClr val="accent5">
                <a:lumMod val="75000"/>
              </a:schemeClr>
            </a:solidFill>
          </a:ln>
        </p:spPr>
        <p:txBody>
          <a:bodyPr wrap="square" rtlCol="0">
            <a:spAutoFit/>
          </a:bodyPr>
          <a:lstStyle/>
          <a:p>
            <a:r>
              <a:rPr lang="fr-FR" sz="1600" dirty="0"/>
              <a:t>Causes</a:t>
            </a:r>
          </a:p>
          <a:p>
            <a:pPr marL="285750" indent="-285750">
              <a:buFont typeface="Arial" panose="020B0604020202020204" pitchFamily="34" charset="0"/>
              <a:buChar char="•"/>
            </a:pPr>
            <a:r>
              <a:rPr lang="fr-FR" sz="1600" dirty="0"/>
              <a:t>Sinusite</a:t>
            </a:r>
          </a:p>
          <a:p>
            <a:pPr marL="285750" indent="-285750">
              <a:buFont typeface="Arial" panose="020B0604020202020204" pitchFamily="34" charset="0"/>
              <a:buChar char="•"/>
            </a:pPr>
            <a:r>
              <a:rPr lang="fr-FR" sz="1600" dirty="0"/>
              <a:t>Encombrement des voies nasales</a:t>
            </a:r>
          </a:p>
        </p:txBody>
      </p:sp>
      <p:sp>
        <p:nvSpPr>
          <p:cNvPr id="7" name="ZoneTexte 6">
            <a:extLst>
              <a:ext uri="{FF2B5EF4-FFF2-40B4-BE49-F238E27FC236}">
                <a16:creationId xmlns:a16="http://schemas.microsoft.com/office/drawing/2014/main" id="{1EBBDF84-2219-9691-AD93-C8FF96FA68AA}"/>
              </a:ext>
            </a:extLst>
          </p:cNvPr>
          <p:cNvSpPr txBox="1"/>
          <p:nvPr/>
        </p:nvSpPr>
        <p:spPr>
          <a:xfrm>
            <a:off x="504354" y="4336945"/>
            <a:ext cx="6436091" cy="1077218"/>
          </a:xfrm>
          <a:prstGeom prst="rect">
            <a:avLst/>
          </a:prstGeom>
          <a:solidFill>
            <a:schemeClr val="accent4">
              <a:lumMod val="20000"/>
              <a:lumOff val="80000"/>
            </a:schemeClr>
          </a:solidFill>
          <a:ln>
            <a:solidFill>
              <a:schemeClr val="accent1">
                <a:lumMod val="50000"/>
              </a:schemeClr>
            </a:solidFill>
          </a:ln>
        </p:spPr>
        <p:txBody>
          <a:bodyPr wrap="square" rtlCol="0">
            <a:spAutoFit/>
          </a:bodyPr>
          <a:lstStyle/>
          <a:p>
            <a:r>
              <a:rPr lang="fr-FR" sz="1600" dirty="0"/>
              <a:t>Solution</a:t>
            </a:r>
          </a:p>
          <a:p>
            <a:pPr marL="285750" indent="-285750">
              <a:buFont typeface="Arial" panose="020B0604020202020204" pitchFamily="34" charset="0"/>
              <a:buChar char="•"/>
            </a:pPr>
            <a:r>
              <a:rPr lang="fr-FR" sz="1600" dirty="0"/>
              <a:t>Stopper la remontée / La descente</a:t>
            </a:r>
          </a:p>
          <a:p>
            <a:pPr marL="285750" indent="-285750">
              <a:buFont typeface="Arial" panose="020B0604020202020204" pitchFamily="34" charset="0"/>
              <a:buChar char="•"/>
            </a:pPr>
            <a:r>
              <a:rPr lang="fr-FR" sz="1600" dirty="0"/>
              <a:t>Si en remontée, redescendre jusqu’à l’arrêt de la douleur</a:t>
            </a:r>
          </a:p>
          <a:p>
            <a:pPr marL="285750" indent="-285750">
              <a:buFont typeface="Arial" panose="020B0604020202020204" pitchFamily="34" charset="0"/>
              <a:buChar char="•"/>
            </a:pPr>
            <a:r>
              <a:rPr lang="fr-FR" sz="1600" dirty="0"/>
              <a:t>Remonter très très doucement. Faire des pauses si nécessaire.</a:t>
            </a:r>
          </a:p>
        </p:txBody>
      </p:sp>
      <p:sp>
        <p:nvSpPr>
          <p:cNvPr id="8" name="ZoneTexte 7">
            <a:extLst>
              <a:ext uri="{FF2B5EF4-FFF2-40B4-BE49-F238E27FC236}">
                <a16:creationId xmlns:a16="http://schemas.microsoft.com/office/drawing/2014/main" id="{A742B2B2-59B3-A0FE-9DAC-B57CA5902E66}"/>
              </a:ext>
            </a:extLst>
          </p:cNvPr>
          <p:cNvSpPr txBox="1"/>
          <p:nvPr/>
        </p:nvSpPr>
        <p:spPr>
          <a:xfrm>
            <a:off x="504353" y="5530194"/>
            <a:ext cx="6436091" cy="830997"/>
          </a:xfrm>
          <a:prstGeom prst="rect">
            <a:avLst/>
          </a:prstGeom>
          <a:solidFill>
            <a:schemeClr val="bg1">
              <a:lumMod val="85000"/>
            </a:schemeClr>
          </a:solidFill>
          <a:ln>
            <a:solidFill>
              <a:schemeClr val="bg1">
                <a:lumMod val="50000"/>
              </a:schemeClr>
            </a:solidFill>
          </a:ln>
        </p:spPr>
        <p:txBody>
          <a:bodyPr wrap="square" rtlCol="0">
            <a:spAutoFit/>
          </a:bodyPr>
          <a:lstStyle/>
          <a:p>
            <a:r>
              <a:rPr lang="fr-FR" sz="1600" dirty="0"/>
              <a:t>Prévention</a:t>
            </a:r>
          </a:p>
          <a:p>
            <a:pPr marL="285750" indent="-285750">
              <a:buFont typeface="Arial" panose="020B0604020202020204" pitchFamily="34" charset="0"/>
              <a:buChar char="•"/>
            </a:pPr>
            <a:r>
              <a:rPr lang="fr-FR" sz="1600" dirty="0"/>
              <a:t>Ne pas plongée avec une sinusite</a:t>
            </a:r>
          </a:p>
          <a:p>
            <a:pPr marL="285750" indent="-285750">
              <a:buFont typeface="Arial" panose="020B0604020202020204" pitchFamily="34" charset="0"/>
              <a:buChar char="•"/>
            </a:pPr>
            <a:r>
              <a:rPr lang="fr-FR" sz="1600" dirty="0"/>
              <a:t>Ne pas plonger avec un rhume</a:t>
            </a:r>
          </a:p>
        </p:txBody>
      </p:sp>
    </p:spTree>
    <p:extLst>
      <p:ext uri="{BB962C8B-B14F-4D97-AF65-F5344CB8AC3E}">
        <p14:creationId xmlns:p14="http://schemas.microsoft.com/office/powerpoint/2010/main" val="2430353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8F0DE-BB79-EE6B-CCEA-33CC36772D4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1AEE5EA-C83A-9211-AE43-F7D5F7FE9176}"/>
              </a:ext>
            </a:extLst>
          </p:cNvPr>
          <p:cNvSpPr>
            <a:spLocks noGrp="1"/>
          </p:cNvSpPr>
          <p:nvPr>
            <p:ph type="title"/>
          </p:nvPr>
        </p:nvSpPr>
        <p:spPr>
          <a:xfrm>
            <a:off x="0" y="0"/>
            <a:ext cx="12192000" cy="611059"/>
          </a:xfrm>
        </p:spPr>
        <p:txBody>
          <a:bodyPr>
            <a:normAutofit fontScale="90000"/>
          </a:bodyPr>
          <a:lstStyle/>
          <a:p>
            <a:pPr algn="ctr"/>
            <a:r>
              <a:rPr lang="fr-FR" dirty="0"/>
              <a:t>Barotraumatismes: Les oreilles</a:t>
            </a:r>
          </a:p>
        </p:txBody>
      </p:sp>
      <p:sp>
        <p:nvSpPr>
          <p:cNvPr id="3" name="Espace réservé du contenu 2">
            <a:extLst>
              <a:ext uri="{FF2B5EF4-FFF2-40B4-BE49-F238E27FC236}">
                <a16:creationId xmlns:a16="http://schemas.microsoft.com/office/drawing/2014/main" id="{F610459D-EB3F-8B2C-8F70-8346A30EFD5F}"/>
              </a:ext>
            </a:extLst>
          </p:cNvPr>
          <p:cNvSpPr>
            <a:spLocks noGrp="1"/>
          </p:cNvSpPr>
          <p:nvPr>
            <p:ph idx="1"/>
          </p:nvPr>
        </p:nvSpPr>
        <p:spPr>
          <a:xfrm>
            <a:off x="608634" y="925055"/>
            <a:ext cx="4923333" cy="857977"/>
          </a:xfrm>
          <a:solidFill>
            <a:schemeClr val="accent6">
              <a:lumMod val="20000"/>
              <a:lumOff val="80000"/>
            </a:schemeClr>
          </a:solidFill>
          <a:ln>
            <a:solidFill>
              <a:schemeClr val="accent6">
                <a:lumMod val="50000"/>
              </a:schemeClr>
            </a:solidFill>
          </a:ln>
        </p:spPr>
        <p:txBody>
          <a:bodyPr>
            <a:normAutofit/>
          </a:bodyPr>
          <a:lstStyle/>
          <a:p>
            <a:pPr marL="0" indent="0" algn="ctr">
              <a:buNone/>
            </a:pPr>
            <a:r>
              <a:rPr lang="fr-FR" sz="1200" dirty="0"/>
              <a:t>La star, le problème que tout le monde a rencontré à la piscine en allant au fond.</a:t>
            </a:r>
          </a:p>
          <a:p>
            <a:pPr marL="0" indent="0" algn="ctr">
              <a:buNone/>
            </a:pPr>
            <a:r>
              <a:rPr lang="fr-FR" sz="1200" i="1" dirty="0"/>
              <a:t>Monsieur, la plongée c’est pas pour moi, à 2m j’ai mal aux oreilles…</a:t>
            </a:r>
          </a:p>
        </p:txBody>
      </p:sp>
      <p:sp>
        <p:nvSpPr>
          <p:cNvPr id="4" name="ZoneTexte 3">
            <a:extLst>
              <a:ext uri="{FF2B5EF4-FFF2-40B4-BE49-F238E27FC236}">
                <a16:creationId xmlns:a16="http://schemas.microsoft.com/office/drawing/2014/main" id="{8C356056-4A86-69C6-4C9A-A9D81A14F80F}"/>
              </a:ext>
            </a:extLst>
          </p:cNvPr>
          <p:cNvSpPr txBox="1"/>
          <p:nvPr/>
        </p:nvSpPr>
        <p:spPr>
          <a:xfrm>
            <a:off x="5715467" y="925055"/>
            <a:ext cx="6188753" cy="1569660"/>
          </a:xfrm>
          <a:prstGeom prst="rect">
            <a:avLst/>
          </a:prstGeom>
          <a:solidFill>
            <a:schemeClr val="accent2">
              <a:lumMod val="20000"/>
              <a:lumOff val="80000"/>
            </a:schemeClr>
          </a:solidFill>
          <a:ln>
            <a:solidFill>
              <a:schemeClr val="accent2">
                <a:lumMod val="50000"/>
              </a:schemeClr>
            </a:solidFill>
          </a:ln>
        </p:spPr>
        <p:txBody>
          <a:bodyPr wrap="square" rtlCol="0">
            <a:spAutoFit/>
          </a:bodyPr>
          <a:lstStyle/>
          <a:p>
            <a:r>
              <a:rPr lang="fr-FR" sz="1200" dirty="0"/>
              <a:t>D’où cela vient ?</a:t>
            </a:r>
          </a:p>
          <a:p>
            <a:pPr marL="285750" indent="-285750">
              <a:buFont typeface="Arial" panose="020B0604020202020204" pitchFamily="34" charset="0"/>
              <a:buChar char="•"/>
            </a:pPr>
            <a:r>
              <a:rPr lang="fr-FR" sz="1200" dirty="0"/>
              <a:t>Oreille composée de 3 zones</a:t>
            </a:r>
          </a:p>
          <a:p>
            <a:pPr marL="742950" lvl="1" indent="-285750">
              <a:buFont typeface="Arial" panose="020B0604020202020204" pitchFamily="34" charset="0"/>
              <a:buChar char="•"/>
            </a:pPr>
            <a:r>
              <a:rPr lang="fr-FR" sz="1200" dirty="0"/>
              <a:t>Oreille externe</a:t>
            </a:r>
          </a:p>
          <a:p>
            <a:pPr marL="742950" lvl="1" indent="-285750">
              <a:buFont typeface="Arial" panose="020B0604020202020204" pitchFamily="34" charset="0"/>
              <a:buChar char="•"/>
            </a:pPr>
            <a:r>
              <a:rPr lang="fr-FR" sz="1200" dirty="0"/>
              <a:t>Oreille moyenne</a:t>
            </a:r>
          </a:p>
          <a:p>
            <a:pPr marL="742950" lvl="1" indent="-285750">
              <a:buFont typeface="Arial" panose="020B0604020202020204" pitchFamily="34" charset="0"/>
              <a:buChar char="•"/>
            </a:pPr>
            <a:r>
              <a:rPr lang="fr-FR" sz="1200" dirty="0"/>
              <a:t>Oreille interne</a:t>
            </a:r>
          </a:p>
          <a:p>
            <a:pPr marL="285750" indent="-285750">
              <a:buFont typeface="Arial" panose="020B0604020202020204" pitchFamily="34" charset="0"/>
              <a:buChar char="•"/>
            </a:pPr>
            <a:r>
              <a:rPr lang="fr-FR" sz="1200" dirty="0"/>
              <a:t>Entre les deux premières zones, le tympan</a:t>
            </a:r>
          </a:p>
          <a:p>
            <a:pPr marL="285750" indent="-285750">
              <a:buFont typeface="Arial" panose="020B0604020202020204" pitchFamily="34" charset="0"/>
              <a:buChar char="•"/>
            </a:pPr>
            <a:r>
              <a:rPr lang="fr-FR" sz="1200" dirty="0"/>
              <a:t>Quand on descend l’eau appuie sur le tympan qui se déforme =&gt; douleur si trop grande</a:t>
            </a:r>
          </a:p>
          <a:p>
            <a:pPr marL="285750" indent="-285750">
              <a:buFont typeface="Arial" panose="020B0604020202020204" pitchFamily="34" charset="0"/>
              <a:buChar char="•"/>
            </a:pPr>
            <a:r>
              <a:rPr lang="fr-FR" sz="1200" dirty="0"/>
              <a:t>Quand on remonte si le rééquilibrage tarde, on peut avoir des vertiges</a:t>
            </a:r>
          </a:p>
        </p:txBody>
      </p:sp>
      <p:sp>
        <p:nvSpPr>
          <p:cNvPr id="5" name="ZoneTexte 4">
            <a:extLst>
              <a:ext uri="{FF2B5EF4-FFF2-40B4-BE49-F238E27FC236}">
                <a16:creationId xmlns:a16="http://schemas.microsoft.com/office/drawing/2014/main" id="{A6418F54-E930-4693-B38F-C0B8EEF1CB44}"/>
              </a:ext>
            </a:extLst>
          </p:cNvPr>
          <p:cNvSpPr txBox="1"/>
          <p:nvPr/>
        </p:nvSpPr>
        <p:spPr>
          <a:xfrm>
            <a:off x="5715467" y="5093530"/>
            <a:ext cx="6188753" cy="1569660"/>
          </a:xfrm>
          <a:prstGeom prst="rect">
            <a:avLst/>
          </a:prstGeom>
          <a:solidFill>
            <a:schemeClr val="accent4">
              <a:lumMod val="20000"/>
              <a:lumOff val="80000"/>
            </a:schemeClr>
          </a:solidFill>
          <a:ln>
            <a:solidFill>
              <a:schemeClr val="accent1">
                <a:lumMod val="50000"/>
              </a:schemeClr>
            </a:solidFill>
          </a:ln>
        </p:spPr>
        <p:txBody>
          <a:bodyPr wrap="square" rtlCol="0">
            <a:spAutoFit/>
          </a:bodyPr>
          <a:lstStyle/>
          <a:p>
            <a:r>
              <a:rPr lang="fr-FR" sz="1200" dirty="0"/>
              <a:t>Solution</a:t>
            </a:r>
          </a:p>
          <a:p>
            <a:pPr marL="285750" indent="-285750">
              <a:buFont typeface="Arial" panose="020B0604020202020204" pitchFamily="34" charset="0"/>
              <a:buChar char="•"/>
            </a:pPr>
            <a:r>
              <a:rPr lang="fr-FR" sz="1200" dirty="0"/>
              <a:t>Rééquilibrer la pression entre l’oreille externe et l’oreille moyenne</a:t>
            </a:r>
          </a:p>
          <a:p>
            <a:pPr marL="285750" indent="-285750">
              <a:buFont typeface="Arial" panose="020B0604020202020204" pitchFamily="34" charset="0"/>
              <a:buChar char="•"/>
            </a:pPr>
            <a:r>
              <a:rPr lang="fr-FR" sz="1200" dirty="0"/>
              <a:t>Coup de chance: La trompe d’Eustache assure la communication entre</a:t>
            </a:r>
          </a:p>
          <a:p>
            <a:pPr marL="742950" lvl="1" indent="-285750">
              <a:buFont typeface="Arial" panose="020B0604020202020204" pitchFamily="34" charset="0"/>
              <a:buChar char="•"/>
            </a:pPr>
            <a:r>
              <a:rPr lang="fr-FR" sz="1200" dirty="0"/>
              <a:t>Oreille moyenne</a:t>
            </a:r>
          </a:p>
          <a:p>
            <a:pPr marL="742950" lvl="1" indent="-285750">
              <a:buFont typeface="Arial" panose="020B0604020202020204" pitchFamily="34" charset="0"/>
              <a:buChar char="•"/>
            </a:pPr>
            <a:r>
              <a:rPr lang="fr-FR" sz="1200" dirty="0"/>
              <a:t>Le pharynx</a:t>
            </a:r>
          </a:p>
          <a:p>
            <a:r>
              <a:rPr lang="fr-FR" sz="1200" dirty="0"/>
              <a:t>Concrètement</a:t>
            </a:r>
          </a:p>
          <a:p>
            <a:pPr marL="285750" indent="-285750">
              <a:buFont typeface="Arial" panose="020B0604020202020204" pitchFamily="34" charset="0"/>
              <a:buChar char="•"/>
            </a:pPr>
            <a:r>
              <a:rPr lang="fr-FR" sz="1200" dirty="0"/>
              <a:t>On va envoyer de l’air dans l’oreille moyenne via la trompe d’Eustache</a:t>
            </a:r>
          </a:p>
          <a:p>
            <a:pPr marL="285750" indent="-285750">
              <a:buFont typeface="Arial" panose="020B0604020202020204" pitchFamily="34" charset="0"/>
              <a:buChar char="•"/>
            </a:pPr>
            <a:r>
              <a:rPr lang="fr-FR" sz="1200" dirty="0"/>
              <a:t>Technique: Valsalva, Frenzel, BTV</a:t>
            </a:r>
          </a:p>
        </p:txBody>
      </p:sp>
      <p:sp>
        <p:nvSpPr>
          <p:cNvPr id="6" name="ZoneTexte 5">
            <a:extLst>
              <a:ext uri="{FF2B5EF4-FFF2-40B4-BE49-F238E27FC236}">
                <a16:creationId xmlns:a16="http://schemas.microsoft.com/office/drawing/2014/main" id="{B9B091D0-9B66-75F7-4176-7BF8738296A8}"/>
              </a:ext>
            </a:extLst>
          </p:cNvPr>
          <p:cNvSpPr txBox="1"/>
          <p:nvPr/>
        </p:nvSpPr>
        <p:spPr>
          <a:xfrm>
            <a:off x="5715468" y="2621430"/>
            <a:ext cx="6188752" cy="2339102"/>
          </a:xfrm>
          <a:prstGeom prst="rect">
            <a:avLst/>
          </a:prstGeom>
          <a:solidFill>
            <a:schemeClr val="accent5">
              <a:lumMod val="20000"/>
              <a:lumOff val="80000"/>
            </a:schemeClr>
          </a:solidFill>
          <a:ln>
            <a:solidFill>
              <a:schemeClr val="accent5">
                <a:lumMod val="75000"/>
              </a:schemeClr>
            </a:solidFill>
          </a:ln>
        </p:spPr>
        <p:txBody>
          <a:bodyPr wrap="square" rtlCol="0">
            <a:spAutoFit/>
          </a:bodyPr>
          <a:lstStyle/>
          <a:p>
            <a:pPr algn="ctr"/>
            <a:r>
              <a:rPr lang="fr-FR" sz="1400" b="1" dirty="0"/>
              <a:t>Conduite </a:t>
            </a:r>
          </a:p>
          <a:p>
            <a:r>
              <a:rPr lang="fr-FR" sz="1200" dirty="0"/>
              <a:t>Principe de base</a:t>
            </a:r>
          </a:p>
          <a:p>
            <a:pPr marL="285750" indent="-285750">
              <a:buFont typeface="Arial" panose="020B0604020202020204" pitchFamily="34" charset="0"/>
              <a:buChar char="•"/>
            </a:pPr>
            <a:r>
              <a:rPr lang="fr-FR" sz="1200" dirty="0"/>
              <a:t>Remonter, réessayer</a:t>
            </a:r>
          </a:p>
          <a:p>
            <a:pPr marL="285750" indent="-285750">
              <a:buFont typeface="Arial" panose="020B0604020202020204" pitchFamily="34" charset="0"/>
              <a:buChar char="•"/>
            </a:pPr>
            <a:r>
              <a:rPr lang="fr-FR" sz="1200" dirty="0"/>
              <a:t>Ne pas forcer</a:t>
            </a:r>
          </a:p>
          <a:p>
            <a:r>
              <a:rPr lang="fr-FR" sz="1200" dirty="0"/>
              <a:t>En autonomie</a:t>
            </a:r>
          </a:p>
          <a:p>
            <a:pPr marL="285750" indent="-285750">
              <a:buFont typeface="Arial" panose="020B0604020202020204" pitchFamily="34" charset="0"/>
              <a:buChar char="•"/>
            </a:pPr>
            <a:r>
              <a:rPr lang="fr-FR" sz="1200" dirty="0"/>
              <a:t>On reste groupé</a:t>
            </a:r>
          </a:p>
          <a:p>
            <a:pPr marL="285750" indent="-285750">
              <a:buFont typeface="Arial" panose="020B0604020202020204" pitchFamily="34" charset="0"/>
              <a:buChar char="•"/>
            </a:pPr>
            <a:r>
              <a:rPr lang="fr-FR" sz="1200" dirty="0"/>
              <a:t>On accompagne celui qui rencontre le problème</a:t>
            </a:r>
          </a:p>
          <a:p>
            <a:r>
              <a:rPr lang="fr-FR" sz="1200" dirty="0"/>
              <a:t>En tant que GP</a:t>
            </a:r>
          </a:p>
          <a:p>
            <a:pPr marL="285750" indent="-285750">
              <a:buFont typeface="Arial" panose="020B0604020202020204" pitchFamily="34" charset="0"/>
              <a:buChar char="•"/>
            </a:pPr>
            <a:r>
              <a:rPr lang="fr-FR" sz="1200" dirty="0"/>
              <a:t>On surveille l’attitude de la palanquée</a:t>
            </a:r>
          </a:p>
          <a:p>
            <a:pPr marL="285750" indent="-285750">
              <a:buFont typeface="Arial" panose="020B0604020202020204" pitchFamily="34" charset="0"/>
              <a:buChar char="•"/>
            </a:pPr>
            <a:r>
              <a:rPr lang="fr-FR" sz="1200" dirty="0"/>
              <a:t>On stoppe la descente de la palanquée</a:t>
            </a:r>
          </a:p>
          <a:p>
            <a:pPr marL="285750" indent="-285750">
              <a:buFont typeface="Arial" panose="020B0604020202020204" pitchFamily="34" charset="0"/>
              <a:buChar char="•"/>
            </a:pPr>
            <a:r>
              <a:rPr lang="fr-FR" sz="1200" dirty="0"/>
              <a:t>On fait remonter la palanquée</a:t>
            </a:r>
          </a:p>
          <a:p>
            <a:pPr marL="285750" indent="-285750">
              <a:buFont typeface="Arial" panose="020B0604020202020204" pitchFamily="34" charset="0"/>
              <a:buChar char="•"/>
            </a:pPr>
            <a:r>
              <a:rPr lang="fr-FR" sz="1200" dirty="0"/>
              <a:t>Le GP limite son nombre de Valsalva pour protéger ses oreilles</a:t>
            </a:r>
          </a:p>
        </p:txBody>
      </p:sp>
      <p:pic>
        <p:nvPicPr>
          <p:cNvPr id="7" name="Image 6">
            <a:extLst>
              <a:ext uri="{FF2B5EF4-FFF2-40B4-BE49-F238E27FC236}">
                <a16:creationId xmlns:a16="http://schemas.microsoft.com/office/drawing/2014/main" id="{9A836D3F-0FF6-0D42-407D-FD667F205A60}"/>
              </a:ext>
            </a:extLst>
          </p:cNvPr>
          <p:cNvPicPr>
            <a:picLocks noChangeAspect="1"/>
          </p:cNvPicPr>
          <p:nvPr/>
        </p:nvPicPr>
        <p:blipFill>
          <a:blip r:embed="rId2"/>
          <a:stretch>
            <a:fillRect/>
          </a:stretch>
        </p:blipFill>
        <p:spPr>
          <a:xfrm>
            <a:off x="583573" y="2060792"/>
            <a:ext cx="4764894" cy="4690608"/>
          </a:xfrm>
          <a:prstGeom prst="rect">
            <a:avLst/>
          </a:prstGeom>
        </p:spPr>
      </p:pic>
    </p:spTree>
    <p:extLst>
      <p:ext uri="{BB962C8B-B14F-4D97-AF65-F5344CB8AC3E}">
        <p14:creationId xmlns:p14="http://schemas.microsoft.com/office/powerpoint/2010/main" val="36741117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1BFFB-7DBB-BD38-02E1-B62EF5AA427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2D3AEB6-0D5B-F501-24A0-FAC9F47262EA}"/>
              </a:ext>
            </a:extLst>
          </p:cNvPr>
          <p:cNvSpPr>
            <a:spLocks noGrp="1"/>
          </p:cNvSpPr>
          <p:nvPr>
            <p:ph type="title"/>
          </p:nvPr>
        </p:nvSpPr>
        <p:spPr>
          <a:xfrm>
            <a:off x="0" y="0"/>
            <a:ext cx="12192000" cy="611059"/>
          </a:xfrm>
        </p:spPr>
        <p:txBody>
          <a:bodyPr>
            <a:normAutofit fontScale="90000"/>
          </a:bodyPr>
          <a:lstStyle/>
          <a:p>
            <a:pPr algn="ctr"/>
            <a:r>
              <a:rPr lang="fr-FR" dirty="0"/>
              <a:t>Barotraumatismes: Plaquage de masque</a:t>
            </a:r>
          </a:p>
        </p:txBody>
      </p:sp>
      <p:sp>
        <p:nvSpPr>
          <p:cNvPr id="3" name="Espace réservé du contenu 2">
            <a:extLst>
              <a:ext uri="{FF2B5EF4-FFF2-40B4-BE49-F238E27FC236}">
                <a16:creationId xmlns:a16="http://schemas.microsoft.com/office/drawing/2014/main" id="{EDB2005E-DA26-6FE3-6D37-CE7725E141AE}"/>
              </a:ext>
            </a:extLst>
          </p:cNvPr>
          <p:cNvSpPr>
            <a:spLocks noGrp="1"/>
          </p:cNvSpPr>
          <p:nvPr>
            <p:ph idx="1"/>
          </p:nvPr>
        </p:nvSpPr>
        <p:spPr>
          <a:xfrm>
            <a:off x="504356" y="889836"/>
            <a:ext cx="11183288" cy="872863"/>
          </a:xfrm>
          <a:solidFill>
            <a:schemeClr val="accent6">
              <a:lumMod val="20000"/>
              <a:lumOff val="80000"/>
            </a:schemeClr>
          </a:solidFill>
          <a:ln>
            <a:solidFill>
              <a:schemeClr val="accent6">
                <a:lumMod val="50000"/>
              </a:schemeClr>
            </a:solidFill>
          </a:ln>
        </p:spPr>
        <p:txBody>
          <a:bodyPr>
            <a:normAutofit/>
          </a:bodyPr>
          <a:lstStyle/>
          <a:p>
            <a:pPr marL="0" indent="0" algn="ctr">
              <a:buNone/>
            </a:pPr>
            <a:r>
              <a:rPr lang="fr-FR" sz="1800" b="1" dirty="0"/>
              <a:t>Dit la brute</a:t>
            </a:r>
          </a:p>
          <a:p>
            <a:pPr marL="0" indent="0" algn="ctr">
              <a:buNone/>
            </a:pPr>
            <a:r>
              <a:rPr lang="fr-FR" sz="1800" i="1" dirty="0"/>
              <a:t>Tu as une de ces têtes avec tes hématomes autour des yeux</a:t>
            </a:r>
          </a:p>
        </p:txBody>
      </p:sp>
      <p:sp>
        <p:nvSpPr>
          <p:cNvPr id="5" name="ZoneTexte 4">
            <a:extLst>
              <a:ext uri="{FF2B5EF4-FFF2-40B4-BE49-F238E27FC236}">
                <a16:creationId xmlns:a16="http://schemas.microsoft.com/office/drawing/2014/main" id="{9396D642-2001-41FE-8D8E-DE030860D90C}"/>
              </a:ext>
            </a:extLst>
          </p:cNvPr>
          <p:cNvSpPr txBox="1"/>
          <p:nvPr/>
        </p:nvSpPr>
        <p:spPr>
          <a:xfrm>
            <a:off x="504356" y="1889248"/>
            <a:ext cx="11183287" cy="1323439"/>
          </a:xfrm>
          <a:prstGeom prst="rect">
            <a:avLst/>
          </a:prstGeom>
          <a:solidFill>
            <a:schemeClr val="accent2">
              <a:lumMod val="20000"/>
              <a:lumOff val="80000"/>
            </a:schemeClr>
          </a:solidFill>
          <a:ln>
            <a:solidFill>
              <a:schemeClr val="accent2">
                <a:lumMod val="50000"/>
              </a:schemeClr>
            </a:solidFill>
          </a:ln>
        </p:spPr>
        <p:txBody>
          <a:bodyPr wrap="square" rtlCol="0">
            <a:spAutoFit/>
          </a:bodyPr>
          <a:lstStyle/>
          <a:p>
            <a:r>
              <a:rPr lang="fr-FR" sz="1600" dirty="0"/>
              <a:t>D’où cela vient ?</a:t>
            </a:r>
          </a:p>
          <a:p>
            <a:pPr marL="285750" indent="-285750">
              <a:buFont typeface="Arial" panose="020B0604020202020204" pitchFamily="34" charset="0"/>
              <a:buChar char="•"/>
            </a:pPr>
            <a:r>
              <a:rPr lang="fr-FR" sz="1600" dirty="0"/>
              <a:t>Quand on descend</a:t>
            </a:r>
          </a:p>
          <a:p>
            <a:pPr marL="742950" lvl="1" indent="-285750">
              <a:buFont typeface="Arial" panose="020B0604020202020204" pitchFamily="34" charset="0"/>
              <a:buChar char="•"/>
            </a:pPr>
            <a:r>
              <a:rPr lang="fr-FR" sz="1600" dirty="0"/>
              <a:t>La pression à l’extérieur du masque augmente</a:t>
            </a:r>
          </a:p>
          <a:p>
            <a:pPr marL="742950" lvl="1" indent="-285750">
              <a:buFont typeface="Arial" panose="020B0604020202020204" pitchFamily="34" charset="0"/>
              <a:buChar char="•"/>
            </a:pPr>
            <a:r>
              <a:rPr lang="fr-FR" sz="1600" dirty="0"/>
              <a:t>La pression à l’intérieur du masque ne change pas</a:t>
            </a:r>
          </a:p>
          <a:p>
            <a:pPr marL="285750" indent="-285750">
              <a:buFont typeface="Arial" panose="020B0604020202020204" pitchFamily="34" charset="0"/>
              <a:buChar char="•"/>
            </a:pPr>
            <a:r>
              <a:rPr lang="fr-FR" sz="1600" dirty="0"/>
              <a:t>Le masque d’écrase contre le visage conduisant à un effet ventouse =&gt; Hématomes sur le visage autour des yeux</a:t>
            </a:r>
          </a:p>
        </p:txBody>
      </p:sp>
      <p:sp>
        <p:nvSpPr>
          <p:cNvPr id="6" name="ZoneTexte 5">
            <a:extLst>
              <a:ext uri="{FF2B5EF4-FFF2-40B4-BE49-F238E27FC236}">
                <a16:creationId xmlns:a16="http://schemas.microsoft.com/office/drawing/2014/main" id="{D61DA159-2015-6A1C-1338-CF1656E025A4}"/>
              </a:ext>
            </a:extLst>
          </p:cNvPr>
          <p:cNvSpPr txBox="1"/>
          <p:nvPr/>
        </p:nvSpPr>
        <p:spPr>
          <a:xfrm>
            <a:off x="504357" y="3339236"/>
            <a:ext cx="5701572" cy="1077218"/>
          </a:xfrm>
          <a:prstGeom prst="rect">
            <a:avLst/>
          </a:prstGeom>
          <a:solidFill>
            <a:schemeClr val="accent4">
              <a:lumMod val="20000"/>
              <a:lumOff val="80000"/>
            </a:schemeClr>
          </a:solidFill>
          <a:ln>
            <a:solidFill>
              <a:schemeClr val="accent1">
                <a:lumMod val="50000"/>
              </a:schemeClr>
            </a:solidFill>
          </a:ln>
        </p:spPr>
        <p:txBody>
          <a:bodyPr wrap="square" rtlCol="0">
            <a:spAutoFit/>
          </a:bodyPr>
          <a:lstStyle/>
          <a:p>
            <a:r>
              <a:rPr lang="fr-FR" sz="1600" dirty="0"/>
              <a:t>Solution</a:t>
            </a:r>
          </a:p>
          <a:p>
            <a:pPr marL="285750" indent="-285750">
              <a:buFont typeface="Arial" panose="020B0604020202020204" pitchFamily="34" charset="0"/>
              <a:buChar char="•"/>
            </a:pPr>
            <a:r>
              <a:rPr lang="fr-FR" sz="1600" dirty="0"/>
              <a:t>Rééquilibrer la pression pour éviter que le masque s’écrase</a:t>
            </a:r>
          </a:p>
          <a:p>
            <a:r>
              <a:rPr lang="fr-FR" sz="1600" dirty="0"/>
              <a:t>Concrètement</a:t>
            </a:r>
          </a:p>
          <a:p>
            <a:pPr marL="285750" indent="-285750">
              <a:buFont typeface="Arial" panose="020B0604020202020204" pitchFamily="34" charset="0"/>
              <a:buChar char="•"/>
            </a:pPr>
            <a:r>
              <a:rPr lang="fr-FR" sz="1600" dirty="0"/>
              <a:t>Souffler par le nez</a:t>
            </a:r>
          </a:p>
        </p:txBody>
      </p:sp>
      <p:sp>
        <p:nvSpPr>
          <p:cNvPr id="4" name="ZoneTexte 3">
            <a:extLst>
              <a:ext uri="{FF2B5EF4-FFF2-40B4-BE49-F238E27FC236}">
                <a16:creationId xmlns:a16="http://schemas.microsoft.com/office/drawing/2014/main" id="{5CAE7C28-B080-DF66-ACDC-771A7C5AC4F3}"/>
              </a:ext>
            </a:extLst>
          </p:cNvPr>
          <p:cNvSpPr txBox="1"/>
          <p:nvPr/>
        </p:nvSpPr>
        <p:spPr>
          <a:xfrm>
            <a:off x="7738897" y="3339236"/>
            <a:ext cx="3948746" cy="2462213"/>
          </a:xfrm>
          <a:prstGeom prst="rect">
            <a:avLst/>
          </a:prstGeom>
          <a:solidFill>
            <a:schemeClr val="accent5">
              <a:lumMod val="20000"/>
              <a:lumOff val="80000"/>
            </a:schemeClr>
          </a:solidFill>
          <a:ln>
            <a:solidFill>
              <a:schemeClr val="accent5">
                <a:lumMod val="75000"/>
              </a:schemeClr>
            </a:solidFill>
          </a:ln>
        </p:spPr>
        <p:txBody>
          <a:bodyPr wrap="square" rtlCol="0">
            <a:spAutoFit/>
          </a:bodyPr>
          <a:lstStyle/>
          <a:p>
            <a:pPr algn="ctr"/>
            <a:r>
              <a:rPr lang="fr-FR" sz="1400" b="1" dirty="0"/>
              <a:t>Conduite </a:t>
            </a:r>
          </a:p>
          <a:p>
            <a:r>
              <a:rPr lang="fr-FR" sz="1400" dirty="0"/>
              <a:t>Principe de base</a:t>
            </a:r>
          </a:p>
          <a:p>
            <a:pPr marL="285750" indent="-285750">
              <a:buFont typeface="Arial" panose="020B0604020202020204" pitchFamily="34" charset="0"/>
              <a:buChar char="•"/>
            </a:pPr>
            <a:r>
              <a:rPr lang="fr-FR" sz="1400" dirty="0"/>
              <a:t>Souffler par le nez</a:t>
            </a:r>
          </a:p>
          <a:p>
            <a:r>
              <a:rPr lang="fr-FR" sz="1400" dirty="0"/>
              <a:t>En autonomie</a:t>
            </a:r>
          </a:p>
          <a:p>
            <a:pPr marL="285750" indent="-285750">
              <a:buFont typeface="Arial" panose="020B0604020202020204" pitchFamily="34" charset="0"/>
              <a:buChar char="•"/>
            </a:pPr>
            <a:r>
              <a:rPr lang="fr-FR" sz="1400" dirty="0"/>
              <a:t>On reste groupé</a:t>
            </a:r>
          </a:p>
          <a:p>
            <a:pPr marL="285750" indent="-285750">
              <a:buFont typeface="Arial" panose="020B0604020202020204" pitchFamily="34" charset="0"/>
              <a:buChar char="•"/>
            </a:pPr>
            <a:r>
              <a:rPr lang="fr-FR" sz="1400" dirty="0"/>
              <a:t>Observer le visage de son binôme à la descente</a:t>
            </a:r>
          </a:p>
          <a:p>
            <a:r>
              <a:rPr lang="fr-FR" sz="1400" dirty="0"/>
              <a:t>En tant que GP</a:t>
            </a:r>
          </a:p>
          <a:p>
            <a:pPr marL="285750" indent="-285750">
              <a:buFont typeface="Arial" panose="020B0604020202020204" pitchFamily="34" charset="0"/>
              <a:buChar char="•"/>
            </a:pPr>
            <a:r>
              <a:rPr lang="fr-FR" sz="1400" dirty="0"/>
              <a:t>On observe le visage au niveau des yeux des membres de la palanquée</a:t>
            </a:r>
          </a:p>
          <a:p>
            <a:pPr marL="285750" indent="-285750">
              <a:buFont typeface="Arial" panose="020B0604020202020204" pitchFamily="34" charset="0"/>
              <a:buChar char="•"/>
            </a:pPr>
            <a:r>
              <a:rPr lang="fr-FR" sz="1400" dirty="0"/>
              <a:t>Faire souffler par le nez</a:t>
            </a:r>
          </a:p>
        </p:txBody>
      </p:sp>
    </p:spTree>
    <p:extLst>
      <p:ext uri="{BB962C8B-B14F-4D97-AF65-F5344CB8AC3E}">
        <p14:creationId xmlns:p14="http://schemas.microsoft.com/office/powerpoint/2010/main" val="25588108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67DA5-B861-65EE-9EF2-0322A7EC2C9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D0F84E-BC3C-5BCE-23F8-5EBD5F17D494}"/>
              </a:ext>
            </a:extLst>
          </p:cNvPr>
          <p:cNvSpPr>
            <a:spLocks noGrp="1"/>
          </p:cNvSpPr>
          <p:nvPr>
            <p:ph type="title"/>
          </p:nvPr>
        </p:nvSpPr>
        <p:spPr>
          <a:xfrm>
            <a:off x="0" y="0"/>
            <a:ext cx="12192000" cy="611059"/>
          </a:xfrm>
        </p:spPr>
        <p:txBody>
          <a:bodyPr>
            <a:normAutofit fontScale="90000"/>
          </a:bodyPr>
          <a:lstStyle/>
          <a:p>
            <a:pPr algn="ctr"/>
            <a:r>
              <a:rPr lang="fr-FR" dirty="0"/>
              <a:t>Barotraumatismes: Les dents</a:t>
            </a:r>
          </a:p>
        </p:txBody>
      </p:sp>
      <p:sp>
        <p:nvSpPr>
          <p:cNvPr id="3" name="Espace réservé du contenu 2">
            <a:extLst>
              <a:ext uri="{FF2B5EF4-FFF2-40B4-BE49-F238E27FC236}">
                <a16:creationId xmlns:a16="http://schemas.microsoft.com/office/drawing/2014/main" id="{43E3BBFF-B914-F7F4-A76A-9BDCC12FC292}"/>
              </a:ext>
            </a:extLst>
          </p:cNvPr>
          <p:cNvSpPr>
            <a:spLocks noGrp="1"/>
          </p:cNvSpPr>
          <p:nvPr>
            <p:ph idx="1"/>
          </p:nvPr>
        </p:nvSpPr>
        <p:spPr>
          <a:xfrm>
            <a:off x="504356" y="889837"/>
            <a:ext cx="11183288" cy="369338"/>
          </a:xfrm>
          <a:solidFill>
            <a:schemeClr val="accent6">
              <a:lumMod val="20000"/>
              <a:lumOff val="80000"/>
            </a:schemeClr>
          </a:solidFill>
          <a:ln>
            <a:solidFill>
              <a:schemeClr val="accent6">
                <a:lumMod val="50000"/>
              </a:schemeClr>
            </a:solidFill>
          </a:ln>
        </p:spPr>
        <p:txBody>
          <a:bodyPr>
            <a:normAutofit/>
          </a:bodyPr>
          <a:lstStyle/>
          <a:p>
            <a:pPr marL="0" indent="0" algn="ctr">
              <a:buNone/>
            </a:pPr>
            <a:r>
              <a:rPr lang="fr-FR" sz="1800" i="1" dirty="0"/>
              <a:t>Bien choisir son dentiste et lui rendre visite régulièrement même si on ne l’aime pas</a:t>
            </a:r>
          </a:p>
        </p:txBody>
      </p:sp>
      <p:sp>
        <p:nvSpPr>
          <p:cNvPr id="5" name="ZoneTexte 4">
            <a:extLst>
              <a:ext uri="{FF2B5EF4-FFF2-40B4-BE49-F238E27FC236}">
                <a16:creationId xmlns:a16="http://schemas.microsoft.com/office/drawing/2014/main" id="{27ED3519-4B23-767A-1986-07D0A24E26D5}"/>
              </a:ext>
            </a:extLst>
          </p:cNvPr>
          <p:cNvSpPr txBox="1"/>
          <p:nvPr/>
        </p:nvSpPr>
        <p:spPr>
          <a:xfrm>
            <a:off x="504356" y="1424553"/>
            <a:ext cx="11183287" cy="1077218"/>
          </a:xfrm>
          <a:prstGeom prst="rect">
            <a:avLst/>
          </a:prstGeom>
          <a:solidFill>
            <a:schemeClr val="accent2">
              <a:lumMod val="20000"/>
              <a:lumOff val="80000"/>
            </a:schemeClr>
          </a:solidFill>
          <a:ln>
            <a:solidFill>
              <a:schemeClr val="accent2">
                <a:lumMod val="50000"/>
              </a:schemeClr>
            </a:solidFill>
          </a:ln>
        </p:spPr>
        <p:txBody>
          <a:bodyPr wrap="square" rtlCol="0">
            <a:spAutoFit/>
          </a:bodyPr>
          <a:lstStyle/>
          <a:p>
            <a:r>
              <a:rPr lang="fr-FR" sz="1600" dirty="0"/>
              <a:t>D’où cela vient ?</a:t>
            </a:r>
          </a:p>
          <a:p>
            <a:pPr marL="285750" indent="-285750">
              <a:buFont typeface="Arial" panose="020B0604020202020204" pitchFamily="34" charset="0"/>
              <a:buChar char="•"/>
            </a:pPr>
            <a:r>
              <a:rPr lang="fr-FR" sz="1600" dirty="0"/>
              <a:t>Quand on descend</a:t>
            </a:r>
          </a:p>
          <a:p>
            <a:pPr marL="742950" lvl="1" indent="-285750">
              <a:buFont typeface="Arial" panose="020B0604020202020204" pitchFamily="34" charset="0"/>
              <a:buChar char="•"/>
            </a:pPr>
            <a:r>
              <a:rPr lang="fr-FR" sz="1600" dirty="0"/>
              <a:t>Des bulles d’air s’insère dans une carie mal soignée ou une couronne mal fixée </a:t>
            </a:r>
          </a:p>
          <a:p>
            <a:pPr marL="285750" indent="-285750">
              <a:buFont typeface="Arial" panose="020B0604020202020204" pitchFamily="34" charset="0"/>
              <a:buChar char="•"/>
            </a:pPr>
            <a:r>
              <a:rPr lang="fr-FR" sz="1600" dirty="0"/>
              <a:t>A la remontée, la bulle a du mal à s’échapper, elle se dilate et appuie sur un nerf d’où la douleur.</a:t>
            </a:r>
          </a:p>
        </p:txBody>
      </p:sp>
      <p:sp>
        <p:nvSpPr>
          <p:cNvPr id="6" name="ZoneTexte 5">
            <a:extLst>
              <a:ext uri="{FF2B5EF4-FFF2-40B4-BE49-F238E27FC236}">
                <a16:creationId xmlns:a16="http://schemas.microsoft.com/office/drawing/2014/main" id="{011B4EC4-B7DB-372C-ED55-417CFCF60D4C}"/>
              </a:ext>
            </a:extLst>
          </p:cNvPr>
          <p:cNvSpPr txBox="1"/>
          <p:nvPr/>
        </p:nvSpPr>
        <p:spPr>
          <a:xfrm>
            <a:off x="504356" y="2667149"/>
            <a:ext cx="6241218" cy="1077218"/>
          </a:xfrm>
          <a:prstGeom prst="rect">
            <a:avLst/>
          </a:prstGeom>
          <a:solidFill>
            <a:schemeClr val="accent4">
              <a:lumMod val="20000"/>
              <a:lumOff val="80000"/>
            </a:schemeClr>
          </a:solidFill>
          <a:ln>
            <a:solidFill>
              <a:schemeClr val="accent1">
                <a:lumMod val="50000"/>
              </a:schemeClr>
            </a:solidFill>
          </a:ln>
        </p:spPr>
        <p:txBody>
          <a:bodyPr wrap="square" rtlCol="0">
            <a:spAutoFit/>
          </a:bodyPr>
          <a:lstStyle/>
          <a:p>
            <a:r>
              <a:rPr lang="fr-FR" sz="1600" dirty="0"/>
              <a:t>Solution</a:t>
            </a:r>
          </a:p>
          <a:p>
            <a:pPr marL="285750" indent="-285750">
              <a:buFont typeface="Arial" panose="020B0604020202020204" pitchFamily="34" charset="0"/>
              <a:buChar char="•"/>
            </a:pPr>
            <a:r>
              <a:rPr lang="fr-FR" sz="1600" dirty="0"/>
              <a:t>Stopper la remontée</a:t>
            </a:r>
          </a:p>
          <a:p>
            <a:pPr marL="285750" indent="-285750">
              <a:buFont typeface="Arial" panose="020B0604020202020204" pitchFamily="34" charset="0"/>
              <a:buChar char="•"/>
            </a:pPr>
            <a:r>
              <a:rPr lang="fr-FR" sz="1600" dirty="0"/>
              <a:t>Redescendre jusqu’à l’arrêt de la douleur</a:t>
            </a:r>
          </a:p>
          <a:p>
            <a:pPr marL="285750" indent="-285750">
              <a:buFont typeface="Arial" panose="020B0604020202020204" pitchFamily="34" charset="0"/>
              <a:buChar char="•"/>
            </a:pPr>
            <a:r>
              <a:rPr lang="fr-FR" sz="1600" dirty="0"/>
              <a:t>Remonter très très doucement. Faire des pauses si nécessaire</a:t>
            </a:r>
          </a:p>
        </p:txBody>
      </p:sp>
      <p:sp>
        <p:nvSpPr>
          <p:cNvPr id="7" name="ZoneTexte 6">
            <a:extLst>
              <a:ext uri="{FF2B5EF4-FFF2-40B4-BE49-F238E27FC236}">
                <a16:creationId xmlns:a16="http://schemas.microsoft.com/office/drawing/2014/main" id="{49DC3911-BABE-86AE-052E-1B12FE49FC99}"/>
              </a:ext>
            </a:extLst>
          </p:cNvPr>
          <p:cNvSpPr txBox="1"/>
          <p:nvPr/>
        </p:nvSpPr>
        <p:spPr>
          <a:xfrm>
            <a:off x="6880485" y="2667149"/>
            <a:ext cx="4807158" cy="830997"/>
          </a:xfrm>
          <a:prstGeom prst="rect">
            <a:avLst/>
          </a:prstGeom>
          <a:solidFill>
            <a:schemeClr val="accent5">
              <a:lumMod val="20000"/>
              <a:lumOff val="80000"/>
            </a:schemeClr>
          </a:solidFill>
          <a:ln>
            <a:solidFill>
              <a:schemeClr val="accent5">
                <a:lumMod val="75000"/>
              </a:schemeClr>
            </a:solidFill>
          </a:ln>
        </p:spPr>
        <p:txBody>
          <a:bodyPr wrap="square" rtlCol="0">
            <a:spAutoFit/>
          </a:bodyPr>
          <a:lstStyle/>
          <a:p>
            <a:r>
              <a:rPr lang="fr-FR" sz="1600" dirty="0"/>
              <a:t>Prévention</a:t>
            </a:r>
          </a:p>
          <a:p>
            <a:pPr marL="285750" indent="-285750">
              <a:buFont typeface="Arial" panose="020B0604020202020204" pitchFamily="34" charset="0"/>
              <a:buChar char="•"/>
            </a:pPr>
            <a:r>
              <a:rPr lang="fr-FR" sz="1600" dirty="0"/>
              <a:t>Une bonne hygiène dentaire</a:t>
            </a:r>
          </a:p>
          <a:p>
            <a:pPr marL="285750" indent="-285750">
              <a:buFont typeface="Arial" panose="020B0604020202020204" pitchFamily="34" charset="0"/>
              <a:buChar char="•"/>
            </a:pPr>
            <a:r>
              <a:rPr lang="fr-FR" sz="1600" dirty="0"/>
              <a:t>Au moins une visite annuelle chez le dentiste</a:t>
            </a:r>
          </a:p>
        </p:txBody>
      </p:sp>
    </p:spTree>
    <p:extLst>
      <p:ext uri="{BB962C8B-B14F-4D97-AF65-F5344CB8AC3E}">
        <p14:creationId xmlns:p14="http://schemas.microsoft.com/office/powerpoint/2010/main" val="20081969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77E5B-A5B3-F5DB-335E-CC49CFD5F93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CD4B2AD-D12B-2ED7-0EF5-C666F210902A}"/>
              </a:ext>
            </a:extLst>
          </p:cNvPr>
          <p:cNvSpPr>
            <a:spLocks noGrp="1"/>
          </p:cNvSpPr>
          <p:nvPr>
            <p:ph type="title"/>
          </p:nvPr>
        </p:nvSpPr>
        <p:spPr>
          <a:xfrm>
            <a:off x="0" y="0"/>
            <a:ext cx="12192000" cy="611059"/>
          </a:xfrm>
        </p:spPr>
        <p:txBody>
          <a:bodyPr>
            <a:normAutofit fontScale="90000"/>
          </a:bodyPr>
          <a:lstStyle/>
          <a:p>
            <a:pPr algn="ctr"/>
            <a:r>
              <a:rPr lang="fr-FR" dirty="0"/>
              <a:t>Barotraumatismes: Estomac &amp; Intestin</a:t>
            </a:r>
          </a:p>
        </p:txBody>
      </p:sp>
      <p:sp>
        <p:nvSpPr>
          <p:cNvPr id="3" name="Espace réservé du contenu 2">
            <a:extLst>
              <a:ext uri="{FF2B5EF4-FFF2-40B4-BE49-F238E27FC236}">
                <a16:creationId xmlns:a16="http://schemas.microsoft.com/office/drawing/2014/main" id="{B9496478-F971-9859-15AF-CEACCC86C577}"/>
              </a:ext>
            </a:extLst>
          </p:cNvPr>
          <p:cNvSpPr>
            <a:spLocks noGrp="1"/>
          </p:cNvSpPr>
          <p:nvPr>
            <p:ph idx="1"/>
          </p:nvPr>
        </p:nvSpPr>
        <p:spPr>
          <a:xfrm>
            <a:off x="504356" y="889836"/>
            <a:ext cx="11183288" cy="459279"/>
          </a:xfrm>
          <a:solidFill>
            <a:schemeClr val="accent6">
              <a:lumMod val="20000"/>
              <a:lumOff val="80000"/>
            </a:schemeClr>
          </a:solidFill>
          <a:ln>
            <a:solidFill>
              <a:schemeClr val="accent6">
                <a:lumMod val="50000"/>
              </a:schemeClr>
            </a:solidFill>
          </a:ln>
        </p:spPr>
        <p:txBody>
          <a:bodyPr>
            <a:normAutofit/>
          </a:bodyPr>
          <a:lstStyle/>
          <a:p>
            <a:pPr marL="0" indent="0" algn="ctr">
              <a:buNone/>
            </a:pPr>
            <a:r>
              <a:rPr lang="fr-FR" sz="1800" i="1" dirty="0"/>
              <a:t>Le glouton doit savoir choisir ses plats….</a:t>
            </a:r>
          </a:p>
        </p:txBody>
      </p:sp>
      <p:sp>
        <p:nvSpPr>
          <p:cNvPr id="5" name="ZoneTexte 4">
            <a:extLst>
              <a:ext uri="{FF2B5EF4-FFF2-40B4-BE49-F238E27FC236}">
                <a16:creationId xmlns:a16="http://schemas.microsoft.com/office/drawing/2014/main" id="{FFB64A34-9CD1-3722-8574-3F3F27980319}"/>
              </a:ext>
            </a:extLst>
          </p:cNvPr>
          <p:cNvSpPr txBox="1"/>
          <p:nvPr/>
        </p:nvSpPr>
        <p:spPr>
          <a:xfrm>
            <a:off x="504354" y="1476151"/>
            <a:ext cx="11183287" cy="830997"/>
          </a:xfrm>
          <a:prstGeom prst="rect">
            <a:avLst/>
          </a:prstGeom>
          <a:solidFill>
            <a:schemeClr val="accent2">
              <a:lumMod val="20000"/>
              <a:lumOff val="80000"/>
            </a:schemeClr>
          </a:solidFill>
          <a:ln>
            <a:solidFill>
              <a:schemeClr val="accent2">
                <a:lumMod val="50000"/>
              </a:schemeClr>
            </a:solidFill>
          </a:ln>
        </p:spPr>
        <p:txBody>
          <a:bodyPr wrap="square" rtlCol="0">
            <a:spAutoFit/>
          </a:bodyPr>
          <a:lstStyle/>
          <a:p>
            <a:r>
              <a:rPr lang="fr-FR" sz="1600" dirty="0"/>
              <a:t>D’où cela vient ?</a:t>
            </a:r>
          </a:p>
          <a:p>
            <a:pPr marL="285750" indent="-285750">
              <a:buFont typeface="Arial" panose="020B0604020202020204" pitchFamily="34" charset="0"/>
              <a:buChar char="•"/>
            </a:pPr>
            <a:r>
              <a:rPr lang="fr-FR" sz="1600" dirty="0"/>
              <a:t>La digestion de certains aliments génère des gaz. A la remontée, ces gaz se dilatent et génère des douleurs abdominales.</a:t>
            </a:r>
          </a:p>
          <a:p>
            <a:pPr marL="285750" indent="-285750">
              <a:buFont typeface="Arial" panose="020B0604020202020204" pitchFamily="34" charset="0"/>
              <a:buChar char="•"/>
            </a:pPr>
            <a:r>
              <a:rPr lang="fr-FR" sz="1600" dirty="0"/>
              <a:t>Très rare en plongée loisir</a:t>
            </a:r>
          </a:p>
        </p:txBody>
      </p:sp>
      <p:sp>
        <p:nvSpPr>
          <p:cNvPr id="6" name="ZoneTexte 5">
            <a:extLst>
              <a:ext uri="{FF2B5EF4-FFF2-40B4-BE49-F238E27FC236}">
                <a16:creationId xmlns:a16="http://schemas.microsoft.com/office/drawing/2014/main" id="{EE3DC5FE-C219-B7E8-DB6B-63C489543651}"/>
              </a:ext>
            </a:extLst>
          </p:cNvPr>
          <p:cNvSpPr txBox="1"/>
          <p:nvPr/>
        </p:nvSpPr>
        <p:spPr>
          <a:xfrm>
            <a:off x="504353" y="2434184"/>
            <a:ext cx="11183287" cy="1477328"/>
          </a:xfrm>
          <a:prstGeom prst="rect">
            <a:avLst/>
          </a:prstGeom>
          <a:solidFill>
            <a:schemeClr val="accent4">
              <a:lumMod val="20000"/>
              <a:lumOff val="80000"/>
            </a:schemeClr>
          </a:solidFill>
          <a:ln>
            <a:solidFill>
              <a:schemeClr val="accent1">
                <a:lumMod val="50000"/>
              </a:schemeClr>
            </a:solidFill>
          </a:ln>
        </p:spPr>
        <p:txBody>
          <a:bodyPr wrap="square" rtlCol="0">
            <a:spAutoFit/>
          </a:bodyPr>
          <a:lstStyle/>
          <a:p>
            <a:r>
              <a:rPr lang="fr-FR" dirty="0"/>
              <a:t>Solution</a:t>
            </a:r>
          </a:p>
          <a:p>
            <a:pPr marL="285750" indent="-285750">
              <a:buFont typeface="Arial" panose="020B0604020202020204" pitchFamily="34" charset="0"/>
              <a:buChar char="•"/>
            </a:pPr>
            <a:r>
              <a:rPr lang="fr-FR" dirty="0"/>
              <a:t>Stopper la remontée</a:t>
            </a:r>
          </a:p>
          <a:p>
            <a:pPr marL="285750" indent="-285750">
              <a:buFont typeface="Arial" panose="020B0604020202020204" pitchFamily="34" charset="0"/>
              <a:buChar char="•"/>
            </a:pPr>
            <a:r>
              <a:rPr lang="fr-FR" dirty="0"/>
              <a:t>Redescendre jusqu’à l’arrêt de la douleur</a:t>
            </a:r>
          </a:p>
          <a:p>
            <a:pPr marL="285750" indent="-285750">
              <a:buFont typeface="Arial" panose="020B0604020202020204" pitchFamily="34" charset="0"/>
              <a:buChar char="•"/>
            </a:pPr>
            <a:r>
              <a:rPr lang="fr-FR" dirty="0"/>
              <a:t>Péter pour évacuer les gaz.</a:t>
            </a:r>
          </a:p>
          <a:p>
            <a:pPr marL="285750" indent="-285750">
              <a:buFont typeface="Arial" panose="020B0604020202020204" pitchFamily="34" charset="0"/>
              <a:buChar char="•"/>
            </a:pPr>
            <a:r>
              <a:rPr lang="fr-FR" dirty="0"/>
              <a:t>Remonter très très doucement. Faire des pauses si nécessaire</a:t>
            </a:r>
          </a:p>
        </p:txBody>
      </p:sp>
      <p:sp>
        <p:nvSpPr>
          <p:cNvPr id="7" name="ZoneTexte 6">
            <a:extLst>
              <a:ext uri="{FF2B5EF4-FFF2-40B4-BE49-F238E27FC236}">
                <a16:creationId xmlns:a16="http://schemas.microsoft.com/office/drawing/2014/main" id="{AF39555F-E763-D7CB-B227-DCF80000E172}"/>
              </a:ext>
            </a:extLst>
          </p:cNvPr>
          <p:cNvSpPr txBox="1"/>
          <p:nvPr/>
        </p:nvSpPr>
        <p:spPr>
          <a:xfrm>
            <a:off x="504353" y="4038548"/>
            <a:ext cx="11183287" cy="646331"/>
          </a:xfrm>
          <a:prstGeom prst="rect">
            <a:avLst/>
          </a:prstGeom>
          <a:solidFill>
            <a:schemeClr val="accent5">
              <a:lumMod val="20000"/>
              <a:lumOff val="80000"/>
            </a:schemeClr>
          </a:solidFill>
          <a:ln>
            <a:solidFill>
              <a:schemeClr val="accent5">
                <a:lumMod val="75000"/>
              </a:schemeClr>
            </a:solidFill>
          </a:ln>
        </p:spPr>
        <p:txBody>
          <a:bodyPr wrap="square" rtlCol="0">
            <a:spAutoFit/>
          </a:bodyPr>
          <a:lstStyle/>
          <a:p>
            <a:r>
              <a:rPr lang="fr-FR" dirty="0"/>
              <a:t>Prévention</a:t>
            </a:r>
          </a:p>
          <a:p>
            <a:pPr marL="285750" indent="-285750">
              <a:buFont typeface="Arial" panose="020B0604020202020204" pitchFamily="34" charset="0"/>
              <a:buChar char="•"/>
            </a:pPr>
            <a:r>
              <a:rPr lang="fr-FR" dirty="0"/>
              <a:t>Eviter les plats qui génèrent des gaz comme le Cassoulet.</a:t>
            </a:r>
          </a:p>
        </p:txBody>
      </p:sp>
    </p:spTree>
    <p:extLst>
      <p:ext uri="{BB962C8B-B14F-4D97-AF65-F5344CB8AC3E}">
        <p14:creationId xmlns:p14="http://schemas.microsoft.com/office/powerpoint/2010/main" val="27336201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F59E5-48BF-758A-EA58-386508932E3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8E994B8-25DB-C4F1-7C75-1B3F73C60AC7}"/>
              </a:ext>
            </a:extLst>
          </p:cNvPr>
          <p:cNvSpPr>
            <a:spLocks noGrp="1"/>
          </p:cNvSpPr>
          <p:nvPr>
            <p:ph type="title"/>
          </p:nvPr>
        </p:nvSpPr>
        <p:spPr>
          <a:xfrm>
            <a:off x="0" y="0"/>
            <a:ext cx="12192000" cy="611059"/>
          </a:xfrm>
        </p:spPr>
        <p:txBody>
          <a:bodyPr>
            <a:normAutofit fontScale="90000"/>
          </a:bodyPr>
          <a:lstStyle/>
          <a:p>
            <a:pPr algn="ctr"/>
            <a:r>
              <a:rPr lang="fr-FR" dirty="0"/>
              <a:t>Barotraumatismes: Surpression pulmonaire</a:t>
            </a:r>
          </a:p>
        </p:txBody>
      </p:sp>
      <p:sp>
        <p:nvSpPr>
          <p:cNvPr id="3" name="Espace réservé du contenu 2">
            <a:extLst>
              <a:ext uri="{FF2B5EF4-FFF2-40B4-BE49-F238E27FC236}">
                <a16:creationId xmlns:a16="http://schemas.microsoft.com/office/drawing/2014/main" id="{AF8BABFE-6BCF-E5F1-2631-F4575F6A145D}"/>
              </a:ext>
            </a:extLst>
          </p:cNvPr>
          <p:cNvSpPr>
            <a:spLocks noGrp="1"/>
          </p:cNvSpPr>
          <p:nvPr>
            <p:ph idx="1"/>
          </p:nvPr>
        </p:nvSpPr>
        <p:spPr>
          <a:xfrm>
            <a:off x="504355" y="715208"/>
            <a:ext cx="11183288" cy="611059"/>
          </a:xfrm>
          <a:solidFill>
            <a:schemeClr val="accent6">
              <a:lumMod val="20000"/>
              <a:lumOff val="80000"/>
            </a:schemeClr>
          </a:solidFill>
          <a:ln>
            <a:solidFill>
              <a:schemeClr val="accent6">
                <a:lumMod val="50000"/>
              </a:schemeClr>
            </a:solidFill>
          </a:ln>
        </p:spPr>
        <p:txBody>
          <a:bodyPr>
            <a:normAutofit/>
          </a:bodyPr>
          <a:lstStyle/>
          <a:p>
            <a:pPr marL="0" indent="0" algn="ctr">
              <a:buNone/>
            </a:pPr>
            <a:r>
              <a:rPr lang="fr-FR" sz="1400" b="1" dirty="0"/>
              <a:t>Dit le redoutable</a:t>
            </a:r>
          </a:p>
          <a:p>
            <a:pPr marL="0" indent="0" algn="ctr">
              <a:buNone/>
            </a:pPr>
            <a:r>
              <a:rPr lang="fr-FR" sz="1400" i="1" dirty="0"/>
              <a:t>Peut-être tellement grave que même Pamela n’y peut rien…</a:t>
            </a:r>
          </a:p>
        </p:txBody>
      </p:sp>
      <p:sp>
        <p:nvSpPr>
          <p:cNvPr id="5" name="ZoneTexte 4">
            <a:extLst>
              <a:ext uri="{FF2B5EF4-FFF2-40B4-BE49-F238E27FC236}">
                <a16:creationId xmlns:a16="http://schemas.microsoft.com/office/drawing/2014/main" id="{5C1D9DE3-F61B-1CB1-1CB6-4723984A20E3}"/>
              </a:ext>
            </a:extLst>
          </p:cNvPr>
          <p:cNvSpPr txBox="1"/>
          <p:nvPr/>
        </p:nvSpPr>
        <p:spPr>
          <a:xfrm>
            <a:off x="504355" y="1379181"/>
            <a:ext cx="7620314" cy="2031325"/>
          </a:xfrm>
          <a:prstGeom prst="rect">
            <a:avLst/>
          </a:prstGeom>
          <a:solidFill>
            <a:schemeClr val="accent2">
              <a:lumMod val="20000"/>
              <a:lumOff val="80000"/>
            </a:schemeClr>
          </a:solidFill>
          <a:ln>
            <a:solidFill>
              <a:schemeClr val="accent2">
                <a:lumMod val="50000"/>
              </a:schemeClr>
            </a:solidFill>
          </a:ln>
        </p:spPr>
        <p:txBody>
          <a:bodyPr wrap="square" rtlCol="0">
            <a:spAutoFit/>
          </a:bodyPr>
          <a:lstStyle/>
          <a:p>
            <a:r>
              <a:rPr lang="fr-FR" sz="1400" dirty="0"/>
              <a:t>D’où cela vient ?</a:t>
            </a:r>
          </a:p>
          <a:p>
            <a:pPr marL="285750" indent="-285750">
              <a:buFont typeface="Arial" panose="020B0604020202020204" pitchFamily="34" charset="0"/>
              <a:buChar char="•"/>
            </a:pPr>
            <a:r>
              <a:rPr lang="fr-FR" sz="1400" dirty="0"/>
              <a:t>Cause: Un blocage expiratoire ou une expiration insuffisante, l’air dans les poumons ne s’échappe pas suffisamment.</a:t>
            </a:r>
          </a:p>
          <a:p>
            <a:pPr marL="285750" indent="-285750">
              <a:buFont typeface="Arial" panose="020B0604020202020204" pitchFamily="34" charset="0"/>
              <a:buChar char="•"/>
            </a:pPr>
            <a:r>
              <a:rPr lang="fr-FR" sz="1400" dirty="0"/>
              <a:t>Conséquence: Dilatation des alvéoles pulmonaires (rupture possible) qui conduit à l ‘introduction d’air dans la circulation sanguine.</a:t>
            </a:r>
          </a:p>
          <a:p>
            <a:r>
              <a:rPr lang="fr-FR" sz="1400" dirty="0"/>
              <a:t>Symptômes</a:t>
            </a:r>
          </a:p>
          <a:p>
            <a:pPr marL="285750" indent="-285750">
              <a:buFont typeface="Arial" panose="020B0604020202020204" pitchFamily="34" charset="0"/>
              <a:buChar char="•"/>
            </a:pPr>
            <a:r>
              <a:rPr lang="fr-FR" sz="1400" dirty="0"/>
              <a:t>Trouble neurologique</a:t>
            </a:r>
          </a:p>
          <a:p>
            <a:pPr marL="285750" indent="-285750">
              <a:buFont typeface="Arial" panose="020B0604020202020204" pitchFamily="34" charset="0"/>
              <a:buChar char="•"/>
            </a:pPr>
            <a:r>
              <a:rPr lang="fr-FR" sz="1400" dirty="0"/>
              <a:t>Problèmes respiratoires</a:t>
            </a:r>
          </a:p>
          <a:p>
            <a:pPr marL="285750" indent="-285750">
              <a:buFont typeface="Arial" panose="020B0604020202020204" pitchFamily="34" charset="0"/>
              <a:buChar char="•"/>
            </a:pPr>
            <a:r>
              <a:rPr lang="fr-FR" sz="1400" dirty="0"/>
              <a:t>Toux et crachats sanglants</a:t>
            </a:r>
          </a:p>
        </p:txBody>
      </p:sp>
      <p:sp>
        <p:nvSpPr>
          <p:cNvPr id="6" name="ZoneTexte 5">
            <a:extLst>
              <a:ext uri="{FF2B5EF4-FFF2-40B4-BE49-F238E27FC236}">
                <a16:creationId xmlns:a16="http://schemas.microsoft.com/office/drawing/2014/main" id="{40767BEC-7D74-D70E-B51F-24F3C84E15E8}"/>
              </a:ext>
            </a:extLst>
          </p:cNvPr>
          <p:cNvSpPr txBox="1"/>
          <p:nvPr/>
        </p:nvSpPr>
        <p:spPr>
          <a:xfrm>
            <a:off x="8193624" y="1360601"/>
            <a:ext cx="3494019" cy="1815882"/>
          </a:xfrm>
          <a:prstGeom prst="rect">
            <a:avLst/>
          </a:prstGeom>
          <a:solidFill>
            <a:schemeClr val="accent5">
              <a:lumMod val="20000"/>
              <a:lumOff val="80000"/>
            </a:schemeClr>
          </a:solidFill>
          <a:ln>
            <a:solidFill>
              <a:schemeClr val="accent5">
                <a:lumMod val="75000"/>
              </a:schemeClr>
            </a:solidFill>
          </a:ln>
        </p:spPr>
        <p:txBody>
          <a:bodyPr wrap="square" rtlCol="0">
            <a:spAutoFit/>
          </a:bodyPr>
          <a:lstStyle/>
          <a:p>
            <a:r>
              <a:rPr lang="fr-FR" sz="1400" dirty="0"/>
              <a:t>Causes</a:t>
            </a:r>
          </a:p>
          <a:p>
            <a:pPr marL="285750" indent="-285750">
              <a:buFont typeface="Arial" panose="020B0604020202020204" pitchFamily="34" charset="0"/>
              <a:buChar char="•"/>
            </a:pPr>
            <a:r>
              <a:rPr lang="fr-FR" sz="1400" dirty="0"/>
              <a:t>Blocage expiration: </a:t>
            </a:r>
          </a:p>
          <a:p>
            <a:pPr marL="742950" lvl="1" indent="-285750">
              <a:buFont typeface="Arial" panose="020B0604020202020204" pitchFamily="34" charset="0"/>
              <a:buChar char="•"/>
            </a:pPr>
            <a:r>
              <a:rPr lang="fr-FR" sz="1400" dirty="0"/>
              <a:t>Mauvais reflexe</a:t>
            </a:r>
          </a:p>
          <a:p>
            <a:pPr marL="742950" lvl="1" indent="-285750">
              <a:buFont typeface="Arial" panose="020B0604020202020204" pitchFamily="34" charset="0"/>
              <a:buChar char="•"/>
            </a:pPr>
            <a:r>
              <a:rPr lang="fr-FR" sz="1400" dirty="0"/>
              <a:t>Panique</a:t>
            </a:r>
          </a:p>
          <a:p>
            <a:pPr marL="285750" indent="-285750">
              <a:buFont typeface="Arial" panose="020B0604020202020204" pitchFamily="34" charset="0"/>
              <a:buChar char="•"/>
            </a:pPr>
            <a:r>
              <a:rPr lang="fr-FR" sz="1400" dirty="0"/>
              <a:t>Expiration insuffisante: </a:t>
            </a:r>
          </a:p>
          <a:p>
            <a:pPr marL="742950" lvl="1" indent="-285750">
              <a:buFont typeface="Arial" panose="020B0604020202020204" pitchFamily="34" charset="0"/>
              <a:buChar char="•"/>
            </a:pPr>
            <a:r>
              <a:rPr lang="fr-FR" sz="1400" dirty="0"/>
              <a:t>Essoufflement, R</a:t>
            </a:r>
          </a:p>
          <a:p>
            <a:pPr marL="742950" lvl="1" indent="-285750">
              <a:buFont typeface="Arial" panose="020B0604020202020204" pitchFamily="34" charset="0"/>
              <a:buChar char="•"/>
            </a:pPr>
            <a:r>
              <a:rPr lang="fr-FR" sz="1400" dirty="0"/>
              <a:t>Remontée trop rapide</a:t>
            </a:r>
          </a:p>
          <a:p>
            <a:pPr marL="742950" lvl="1" indent="-285750">
              <a:buFont typeface="Arial" panose="020B0604020202020204" pitchFamily="34" charset="0"/>
              <a:buChar char="•"/>
            </a:pPr>
            <a:r>
              <a:rPr lang="fr-FR" sz="1400" dirty="0"/>
              <a:t>Effort, remontée à 2 sur embout</a:t>
            </a:r>
          </a:p>
        </p:txBody>
      </p:sp>
      <p:sp>
        <p:nvSpPr>
          <p:cNvPr id="7" name="ZoneTexte 6">
            <a:extLst>
              <a:ext uri="{FF2B5EF4-FFF2-40B4-BE49-F238E27FC236}">
                <a16:creationId xmlns:a16="http://schemas.microsoft.com/office/drawing/2014/main" id="{5B2B775E-EF61-9002-71CF-C4C59CC62D56}"/>
              </a:ext>
            </a:extLst>
          </p:cNvPr>
          <p:cNvSpPr txBox="1"/>
          <p:nvPr/>
        </p:nvSpPr>
        <p:spPr>
          <a:xfrm>
            <a:off x="504355" y="3474734"/>
            <a:ext cx="7620313" cy="1815882"/>
          </a:xfrm>
          <a:prstGeom prst="rect">
            <a:avLst/>
          </a:prstGeom>
          <a:solidFill>
            <a:schemeClr val="accent4">
              <a:lumMod val="20000"/>
              <a:lumOff val="80000"/>
            </a:schemeClr>
          </a:solidFill>
          <a:ln>
            <a:solidFill>
              <a:schemeClr val="accent1">
                <a:lumMod val="50000"/>
              </a:schemeClr>
            </a:solidFill>
          </a:ln>
        </p:spPr>
        <p:txBody>
          <a:bodyPr wrap="square" rtlCol="0">
            <a:spAutoFit/>
          </a:bodyPr>
          <a:lstStyle/>
          <a:p>
            <a:r>
              <a:rPr lang="fr-FR" sz="1400" dirty="0"/>
              <a:t>Prévention</a:t>
            </a:r>
          </a:p>
          <a:p>
            <a:pPr marL="285750" indent="-285750">
              <a:buFont typeface="Arial" panose="020B0604020202020204" pitchFamily="34" charset="0"/>
              <a:buChar char="•"/>
            </a:pPr>
            <a:r>
              <a:rPr lang="fr-FR" sz="1400" dirty="0"/>
              <a:t>Ne jamais bloquer l’expiration, pas d’apnée</a:t>
            </a:r>
          </a:p>
          <a:p>
            <a:pPr marL="285750" indent="-285750">
              <a:buFont typeface="Arial" panose="020B0604020202020204" pitchFamily="34" charset="0"/>
              <a:buChar char="•"/>
            </a:pPr>
            <a:r>
              <a:rPr lang="fr-FR" sz="1400" dirty="0"/>
              <a:t>Développer les bons reflexes</a:t>
            </a:r>
          </a:p>
          <a:p>
            <a:pPr marL="285750" indent="-285750">
              <a:buFont typeface="Arial" panose="020B0604020202020204" pitchFamily="34" charset="0"/>
              <a:buChar char="•"/>
            </a:pPr>
            <a:r>
              <a:rPr lang="fr-FR" sz="1400" dirty="0"/>
              <a:t>Respect des vitesses de remontée</a:t>
            </a:r>
          </a:p>
          <a:p>
            <a:pPr marL="285750" indent="-285750">
              <a:buFont typeface="Arial" panose="020B0604020202020204" pitchFamily="34" charset="0"/>
              <a:buChar char="•"/>
            </a:pPr>
            <a:r>
              <a:rPr lang="fr-FR" sz="1400" dirty="0"/>
              <a:t>Vigilance dans les 10 derniers mètres.</a:t>
            </a:r>
          </a:p>
          <a:p>
            <a:r>
              <a:rPr lang="fr-FR" sz="1400" dirty="0"/>
              <a:t>En tant que GP</a:t>
            </a:r>
          </a:p>
          <a:p>
            <a:pPr marL="285750" indent="-285750">
              <a:buFont typeface="Arial" panose="020B0604020202020204" pitchFamily="34" charset="0"/>
              <a:buChar char="•"/>
            </a:pPr>
            <a:r>
              <a:rPr lang="fr-FR" sz="1400" dirty="0"/>
              <a:t>Personne au-dessus de moi</a:t>
            </a:r>
          </a:p>
          <a:p>
            <a:pPr marL="285750" indent="-285750">
              <a:buFont typeface="Arial" panose="020B0604020202020204" pitchFamily="34" charset="0"/>
              <a:buChar char="•"/>
            </a:pPr>
            <a:r>
              <a:rPr lang="fr-FR" sz="1400" dirty="0"/>
              <a:t>Je vérifie que tout le monde expire régulièrement</a:t>
            </a:r>
          </a:p>
        </p:txBody>
      </p:sp>
      <p:pic>
        <p:nvPicPr>
          <p:cNvPr id="4" name="Image 3">
            <a:extLst>
              <a:ext uri="{FF2B5EF4-FFF2-40B4-BE49-F238E27FC236}">
                <a16:creationId xmlns:a16="http://schemas.microsoft.com/office/drawing/2014/main" id="{DA667358-D6C7-A89E-20C4-9EACFF10F209}"/>
              </a:ext>
            </a:extLst>
          </p:cNvPr>
          <p:cNvPicPr>
            <a:picLocks noChangeAspect="1"/>
          </p:cNvPicPr>
          <p:nvPr/>
        </p:nvPicPr>
        <p:blipFill>
          <a:blip r:embed="rId2"/>
          <a:stretch>
            <a:fillRect/>
          </a:stretch>
        </p:blipFill>
        <p:spPr>
          <a:xfrm>
            <a:off x="8193624" y="3210817"/>
            <a:ext cx="3494019" cy="3450883"/>
          </a:xfrm>
          <a:prstGeom prst="rect">
            <a:avLst/>
          </a:prstGeom>
        </p:spPr>
      </p:pic>
    </p:spTree>
    <p:extLst>
      <p:ext uri="{BB962C8B-B14F-4D97-AF65-F5344CB8AC3E}">
        <p14:creationId xmlns:p14="http://schemas.microsoft.com/office/powerpoint/2010/main" val="1758974353"/>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1902</TotalTime>
  <Words>1340</Words>
  <Application>Microsoft Macintosh PowerPoint</Application>
  <PresentationFormat>Grand écran</PresentationFormat>
  <Paragraphs>293</Paragraphs>
  <Slides>10</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10</vt:i4>
      </vt:variant>
    </vt:vector>
  </HeadingPairs>
  <TitlesOfParts>
    <vt:vector size="14" baseType="lpstr">
      <vt:lpstr>Aptos</vt:lpstr>
      <vt:lpstr>Aptos Display</vt:lpstr>
      <vt:lpstr>Arial</vt:lpstr>
      <vt:lpstr>Thème Office</vt:lpstr>
      <vt:lpstr>Présentation PowerPoint</vt:lpstr>
      <vt:lpstr>Présentation PowerPoint</vt:lpstr>
      <vt:lpstr>Barotraumatismes</vt:lpstr>
      <vt:lpstr>Barotraumatismes: Les sinus</vt:lpstr>
      <vt:lpstr>Barotraumatismes: Les sinus</vt:lpstr>
      <vt:lpstr>Barotraumatismes: Les oreilles</vt:lpstr>
      <vt:lpstr>Barotraumatismes: Plaquage de masque</vt:lpstr>
      <vt:lpstr>Barotraumatismes: Les dents</vt:lpstr>
      <vt:lpstr>Barotraumatismes: Estomac &amp; Intestin</vt:lpstr>
      <vt:lpstr>Barotraumatismes: Surpression pulmonaire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olivier artigue</dc:creator>
  <cp:lastModifiedBy>olivier artigue</cp:lastModifiedBy>
  <cp:revision>28</cp:revision>
  <dcterms:created xsi:type="dcterms:W3CDTF">2025-11-10T18:02:01Z</dcterms:created>
  <dcterms:modified xsi:type="dcterms:W3CDTF">2026-02-15T18:53:16Z</dcterms:modified>
</cp:coreProperties>
</file>
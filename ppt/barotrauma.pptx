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89"/>
    <p:restoredTop sz="94691"/>
  </p:normalViewPr>
  <p:slideViewPr>
    <p:cSldViewPr snapToGrid="0">
      <p:cViewPr varScale="1">
        <p:scale>
          <a:sx n="180" d="100"/>
          <a:sy n="180" d="100"/>
        </p:scale>
        <p:origin x="88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2B2954-693E-3492-D927-A47B6B8F97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8695DCC-82A5-968D-46B2-70C0A49742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5C72FFA-2060-5DAD-D2D1-F166546CF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79C388-506E-E5BC-7CEB-5721EE573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82020B3-E04D-F313-D222-5EC737DD5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6007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D84463-7229-4AE9-7295-C10E276D7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C06D1C-C18B-C85B-A2D1-D31692F20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D13C8CC-31FF-BE02-1BFC-9A45DFB25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7875DE-0D7F-2B57-72F1-EF927E94C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89BA54B-573A-6A13-40D2-D5A698F83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5387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2D51DB-7300-320A-57D1-5E6D1E219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31580C-2660-C337-092F-B26634DE6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4C5127-4703-46AB-57FC-D7D7BD41E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72BD039-47EC-583D-1E32-0ABC9450F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FFA652-6955-9F95-3153-BD9294D78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6310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828266-E2F9-BF45-60C2-3D300C424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439AB8-978A-396B-5ADD-D9A5A2E1C7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BFA41B7-970E-9AFA-8581-5C45ECA98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EAD829A-A6B6-F315-F7A2-96F9134E9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CE49B5-28D7-3A17-9D9B-2D2B4A901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6B73A19-42A0-B0A4-1BCC-BC19713C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5720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317201-2646-4CD0-7851-EAE12DBF6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161FE4F-EAE7-4EC0-D7DA-7CB45971C6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6B01E8-2DB1-3CA4-5C41-355180CBAD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1B9F158-97EE-D09E-7E4D-87CE5FD6DA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B3635A8-1101-4630-84F2-5A8BEF7BD4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DA7ED28-F37D-2384-FF4E-E9DA09A49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61C11A5-B933-EBD4-F103-AEA3913E0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0769FE1-A697-AF3B-959F-72D7E572C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2415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5DF6D1-0F9E-04A0-6509-7502ABA4A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DF04452-3B89-652B-AED9-7BE8106B4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F093F31-933A-8EFC-029A-437CE2D3A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DA7D25-C4E8-4449-5E3B-FF8D4657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4360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E6B589F-08FF-5DB4-CE82-7ACE21461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F6C3295-5512-D00F-07B8-6790AA50B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0C3FC57-70C0-037F-26D8-307FFFC5B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2536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EC076C-6397-35CB-AD1C-982A03E47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491226-A95A-9847-45E5-4E3DD49FAE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983A61A-77F9-D138-7197-FC414CBB47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7DD5E2D-81AF-5C39-1692-16206EE26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6F503B-FB9E-E0A7-2243-DC8B65AE8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F1EF03E-F860-8431-1BD9-BCAB83E69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457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7308C1-1AF9-AD49-E2A5-0665578B5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C021099-2B9F-3C56-5F47-D0D22AC020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B854C5A-46BE-3277-9F82-28307638F6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526CBF2-CC83-733A-17A8-EB4FE2EDA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D9D96C7-BA50-B186-8588-3C522F5A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17B499D-AD03-26A9-F93A-3C32809DF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384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A52DF4-C6B9-1366-B3A7-DBD2E5028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E9ADEE9-CB4E-F2F7-C684-55DD6F2CE1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6A5FF6-9EA1-BAF7-F6AE-1DB4FF68C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8D9224E-611F-ABA8-5256-005882201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A8BF05-4B8C-5832-BA2C-F0ACA1A00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8708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E524676-94A3-882F-48B0-EFFFF5A21B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D3219B7-5AF7-312E-21BB-4BC037FEC7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27A761-AA38-D008-C7BB-007D535BA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1FF072-B9E4-4B29-BAAF-F10F035AA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EE2D80-D9DE-703E-28F5-70F92392F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724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BA34B9F-37C5-9D79-9ED9-34C31FCAE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674762B-5E29-AB1F-9463-E408ED1D0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E8E176-06C8-0B54-CB9A-704CA4A86B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EC460-D793-0142-85E3-01B2E0242870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BBD273F-2270-6649-0D6C-2C2D9D6231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7AC3C0-3B78-DD60-4B68-3143881865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4E9EB6-2C6C-8140-AF57-3EC0F38B5C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404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110BB12C-E64A-498C-DABB-B828020EC78E}"/>
              </a:ext>
            </a:extLst>
          </p:cNvPr>
          <p:cNvSpPr/>
          <p:nvPr/>
        </p:nvSpPr>
        <p:spPr>
          <a:xfrm>
            <a:off x="1483100" y="3629433"/>
            <a:ext cx="2881350" cy="31431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F8DD811-E09D-EC33-317F-9D7891BF0A5D}"/>
              </a:ext>
            </a:extLst>
          </p:cNvPr>
          <p:cNvSpPr/>
          <p:nvPr/>
        </p:nvSpPr>
        <p:spPr>
          <a:xfrm>
            <a:off x="4185939" y="900793"/>
            <a:ext cx="906717" cy="137316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6EBFD0A9-6BCC-5787-EC98-0DE223102E26}"/>
              </a:ext>
            </a:extLst>
          </p:cNvPr>
          <p:cNvSpPr/>
          <p:nvPr/>
        </p:nvSpPr>
        <p:spPr>
          <a:xfrm>
            <a:off x="687720" y="1073684"/>
            <a:ext cx="906717" cy="137316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067A1DA-266F-497E-589A-2D78E5F344CA}"/>
              </a:ext>
            </a:extLst>
          </p:cNvPr>
          <p:cNvSpPr txBox="1"/>
          <p:nvPr/>
        </p:nvSpPr>
        <p:spPr>
          <a:xfrm>
            <a:off x="0" y="0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Barotraumatisme: Problèmes liés aux variations de pression sur les zones gazeuses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B5B3BC22-29FC-6775-388E-3DE14EAEA66F}"/>
              </a:ext>
            </a:extLst>
          </p:cNvPr>
          <p:cNvSpPr/>
          <p:nvPr/>
        </p:nvSpPr>
        <p:spPr>
          <a:xfrm>
            <a:off x="1483100" y="350574"/>
            <a:ext cx="2881431" cy="330702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 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741FEB18-1250-7B77-E576-76C55F07F2CA}"/>
              </a:ext>
            </a:extLst>
          </p:cNvPr>
          <p:cNvSpPr/>
          <p:nvPr/>
        </p:nvSpPr>
        <p:spPr>
          <a:xfrm>
            <a:off x="1844167" y="1414486"/>
            <a:ext cx="906717" cy="34578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4060696-5C50-BB49-9B34-D3737C7DA99B}"/>
              </a:ext>
            </a:extLst>
          </p:cNvPr>
          <p:cNvSpPr/>
          <p:nvPr/>
        </p:nvSpPr>
        <p:spPr>
          <a:xfrm>
            <a:off x="3096665" y="1414485"/>
            <a:ext cx="906717" cy="34578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Secteurs 8">
            <a:extLst>
              <a:ext uri="{FF2B5EF4-FFF2-40B4-BE49-F238E27FC236}">
                <a16:creationId xmlns:a16="http://schemas.microsoft.com/office/drawing/2014/main" id="{65ED0BCC-73EF-13B0-3DDB-41DA6F4A6ABA}"/>
              </a:ext>
            </a:extLst>
          </p:cNvPr>
          <p:cNvSpPr/>
          <p:nvPr/>
        </p:nvSpPr>
        <p:spPr>
          <a:xfrm>
            <a:off x="2074729" y="2553020"/>
            <a:ext cx="1698172" cy="875980"/>
          </a:xfrm>
          <a:prstGeom prst="pie">
            <a:avLst>
              <a:gd name="adj1" fmla="val 0"/>
              <a:gd name="adj2" fmla="val 1084119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0" name="Triangle 9">
            <a:extLst>
              <a:ext uri="{FF2B5EF4-FFF2-40B4-BE49-F238E27FC236}">
                <a16:creationId xmlns:a16="http://schemas.microsoft.com/office/drawing/2014/main" id="{884BDC92-358B-9CD6-1B2E-698AEB5A4CBB}"/>
              </a:ext>
            </a:extLst>
          </p:cNvPr>
          <p:cNvSpPr/>
          <p:nvPr/>
        </p:nvSpPr>
        <p:spPr>
          <a:xfrm>
            <a:off x="2639466" y="1760266"/>
            <a:ext cx="558077" cy="1076414"/>
          </a:xfrm>
          <a:prstGeom prst="triangle">
            <a:avLst>
              <a:gd name="adj" fmla="val 5131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1AB52A-1D9E-3B0D-AB91-5EA2A9DB9BDC}"/>
              </a:ext>
            </a:extLst>
          </p:cNvPr>
          <p:cNvSpPr/>
          <p:nvPr/>
        </p:nvSpPr>
        <p:spPr>
          <a:xfrm>
            <a:off x="2274493" y="2991010"/>
            <a:ext cx="153640" cy="145996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52A18A-FFF5-137A-7DBB-70A96318B6AC}"/>
              </a:ext>
            </a:extLst>
          </p:cNvPr>
          <p:cNvSpPr/>
          <p:nvPr/>
        </p:nvSpPr>
        <p:spPr>
          <a:xfrm>
            <a:off x="2465293" y="2991010"/>
            <a:ext cx="153640" cy="145996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F0F035-0271-4442-101B-21D8BA4BB8EF}"/>
              </a:ext>
            </a:extLst>
          </p:cNvPr>
          <p:cNvSpPr/>
          <p:nvPr/>
        </p:nvSpPr>
        <p:spPr>
          <a:xfrm>
            <a:off x="2674064" y="2991010"/>
            <a:ext cx="153640" cy="145996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10452A-6D3E-E951-68FA-AAB3D9791E15}"/>
              </a:ext>
            </a:extLst>
          </p:cNvPr>
          <p:cNvSpPr/>
          <p:nvPr/>
        </p:nvSpPr>
        <p:spPr>
          <a:xfrm>
            <a:off x="2893059" y="2986844"/>
            <a:ext cx="153640" cy="145996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D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4837FBCF-CF83-9DC1-08CF-FA4EFEFF890D}"/>
              </a:ext>
            </a:extLst>
          </p:cNvPr>
          <p:cNvSpPr/>
          <p:nvPr/>
        </p:nvSpPr>
        <p:spPr>
          <a:xfrm>
            <a:off x="3208084" y="1170192"/>
            <a:ext cx="583823" cy="160093"/>
          </a:xfrm>
          <a:prstGeom prst="ellipse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S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4B7049A3-13CB-5A01-DF57-07C8A0746B62}"/>
              </a:ext>
            </a:extLst>
          </p:cNvPr>
          <p:cNvSpPr/>
          <p:nvPr/>
        </p:nvSpPr>
        <p:spPr>
          <a:xfrm>
            <a:off x="2074729" y="1150961"/>
            <a:ext cx="583823" cy="160093"/>
          </a:xfrm>
          <a:prstGeom prst="ellipse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595D2A1D-7BD6-B62F-197C-38B44EDD522A}"/>
              </a:ext>
            </a:extLst>
          </p:cNvPr>
          <p:cNvSpPr/>
          <p:nvPr/>
        </p:nvSpPr>
        <p:spPr>
          <a:xfrm>
            <a:off x="3471486" y="2553019"/>
            <a:ext cx="583823" cy="160093"/>
          </a:xfrm>
          <a:prstGeom prst="ellipse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S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FF42E111-D300-AFB5-58B6-5CF9BB95EB07}"/>
              </a:ext>
            </a:extLst>
          </p:cNvPr>
          <p:cNvSpPr/>
          <p:nvPr/>
        </p:nvSpPr>
        <p:spPr>
          <a:xfrm>
            <a:off x="1854202" y="2559405"/>
            <a:ext cx="583823" cy="160093"/>
          </a:xfrm>
          <a:prstGeom prst="ellipse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S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88376C1D-9048-5351-C6D3-A8033DCEEFD0}"/>
              </a:ext>
            </a:extLst>
          </p:cNvPr>
          <p:cNvCxnSpPr>
            <a:cxnSpLocks/>
          </p:cNvCxnSpPr>
          <p:nvPr/>
        </p:nvCxnSpPr>
        <p:spPr>
          <a:xfrm flipH="1">
            <a:off x="4160780" y="1303814"/>
            <a:ext cx="73204" cy="4142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DDFE783B-7304-5879-D5A1-F8A1CA864078}"/>
              </a:ext>
            </a:extLst>
          </p:cNvPr>
          <p:cNvCxnSpPr>
            <a:cxnSpLocks/>
          </p:cNvCxnSpPr>
          <p:nvPr/>
        </p:nvCxnSpPr>
        <p:spPr>
          <a:xfrm flipH="1" flipV="1">
            <a:off x="4233984" y="1916565"/>
            <a:ext cx="130466" cy="2400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538C458E-F54B-C319-2E48-74BE49F5D022}"/>
              </a:ext>
            </a:extLst>
          </p:cNvPr>
          <p:cNvCxnSpPr>
            <a:cxnSpLocks/>
          </p:cNvCxnSpPr>
          <p:nvPr/>
        </p:nvCxnSpPr>
        <p:spPr>
          <a:xfrm flipV="1">
            <a:off x="3932804" y="1717581"/>
            <a:ext cx="240555" cy="853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0E76708E-2DF8-F346-B8FE-8AB4F88602C3}"/>
              </a:ext>
            </a:extLst>
          </p:cNvPr>
          <p:cNvCxnSpPr>
            <a:cxnSpLocks/>
          </p:cNvCxnSpPr>
          <p:nvPr/>
        </p:nvCxnSpPr>
        <p:spPr>
          <a:xfrm flipV="1">
            <a:off x="4055309" y="1908650"/>
            <a:ext cx="184623" cy="651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3AE0F867-BAC0-CE59-4E90-EC37BF5C08F1}"/>
              </a:ext>
            </a:extLst>
          </p:cNvPr>
          <p:cNvCxnSpPr>
            <a:cxnSpLocks/>
          </p:cNvCxnSpPr>
          <p:nvPr/>
        </p:nvCxnSpPr>
        <p:spPr>
          <a:xfrm flipH="1" flipV="1">
            <a:off x="3932804" y="1802952"/>
            <a:ext cx="66573" cy="2135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811DDCD3-D95B-51A6-0E9F-B7E30C65826D}"/>
              </a:ext>
            </a:extLst>
          </p:cNvPr>
          <p:cNvCxnSpPr>
            <a:cxnSpLocks/>
          </p:cNvCxnSpPr>
          <p:nvPr/>
        </p:nvCxnSpPr>
        <p:spPr>
          <a:xfrm flipH="1" flipV="1">
            <a:off x="4166780" y="1726024"/>
            <a:ext cx="54624" cy="182626"/>
          </a:xfrm>
          <a:prstGeom prst="line">
            <a:avLst/>
          </a:prstGeom>
          <a:ln w="444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E4724265-ED43-29A4-FC57-12EE205C5FEF}"/>
              </a:ext>
            </a:extLst>
          </p:cNvPr>
          <p:cNvCxnSpPr>
            <a:cxnSpLocks/>
          </p:cNvCxnSpPr>
          <p:nvPr/>
        </p:nvCxnSpPr>
        <p:spPr>
          <a:xfrm flipV="1">
            <a:off x="3896425" y="1973782"/>
            <a:ext cx="156656" cy="3339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D7678F56-EA11-EB03-0100-9344EFAC41C1}"/>
              </a:ext>
            </a:extLst>
          </p:cNvPr>
          <p:cNvCxnSpPr>
            <a:cxnSpLocks/>
          </p:cNvCxnSpPr>
          <p:nvPr/>
        </p:nvCxnSpPr>
        <p:spPr>
          <a:xfrm flipV="1">
            <a:off x="3847305" y="1989652"/>
            <a:ext cx="156656" cy="3339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56F07D15-16C0-D8A7-0194-26A42CCBA903}"/>
              </a:ext>
            </a:extLst>
          </p:cNvPr>
          <p:cNvSpPr txBox="1"/>
          <p:nvPr/>
        </p:nvSpPr>
        <p:spPr>
          <a:xfrm>
            <a:off x="4147620" y="1620320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solidFill>
                  <a:srgbClr val="FF0000"/>
                </a:solidFill>
              </a:rPr>
              <a:t>T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185F78B3-4A44-22A1-497F-9799DEF7E02D}"/>
              </a:ext>
            </a:extLst>
          </p:cNvPr>
          <p:cNvSpPr/>
          <p:nvPr/>
        </p:nvSpPr>
        <p:spPr>
          <a:xfrm>
            <a:off x="3242064" y="3888764"/>
            <a:ext cx="724026" cy="1370314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SP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147B1FD3-4122-A8BE-FD74-50543DC57CD7}"/>
              </a:ext>
            </a:extLst>
          </p:cNvPr>
          <p:cNvSpPr/>
          <p:nvPr/>
        </p:nvSpPr>
        <p:spPr>
          <a:xfrm>
            <a:off x="1814080" y="3882378"/>
            <a:ext cx="724026" cy="1370314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SP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0719BCCE-67FC-7618-2FEF-1A930A7B1E08}"/>
              </a:ext>
            </a:extLst>
          </p:cNvPr>
          <p:cNvSpPr/>
          <p:nvPr/>
        </p:nvSpPr>
        <p:spPr>
          <a:xfrm>
            <a:off x="2538105" y="4567534"/>
            <a:ext cx="703877" cy="152541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3ADB6218-0DD8-9B34-4A4F-3129B299F4EB}"/>
              </a:ext>
            </a:extLst>
          </p:cNvPr>
          <p:cNvSpPr/>
          <p:nvPr/>
        </p:nvSpPr>
        <p:spPr>
          <a:xfrm>
            <a:off x="2827704" y="3657601"/>
            <a:ext cx="132853" cy="909934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1" name="Forme libre 50">
            <a:extLst>
              <a:ext uri="{FF2B5EF4-FFF2-40B4-BE49-F238E27FC236}">
                <a16:creationId xmlns:a16="http://schemas.microsoft.com/office/drawing/2014/main" id="{E3A9A74A-2704-AE44-02A4-57D0A3988453}"/>
              </a:ext>
            </a:extLst>
          </p:cNvPr>
          <p:cNvSpPr/>
          <p:nvPr/>
        </p:nvSpPr>
        <p:spPr>
          <a:xfrm>
            <a:off x="2109305" y="5321508"/>
            <a:ext cx="1665722" cy="1439056"/>
          </a:xfrm>
          <a:custGeom>
            <a:avLst/>
            <a:gdLst>
              <a:gd name="connsiteX0" fmla="*/ 776302 w 1665722"/>
              <a:gd name="connsiteY0" fmla="*/ 0 h 1439056"/>
              <a:gd name="connsiteX1" fmla="*/ 768806 w 1665722"/>
              <a:gd name="connsiteY1" fmla="*/ 292308 h 1439056"/>
              <a:gd name="connsiteX2" fmla="*/ 1473344 w 1665722"/>
              <a:gd name="connsiteY2" fmla="*/ 337279 h 1439056"/>
              <a:gd name="connsiteX3" fmla="*/ 1570780 w 1665722"/>
              <a:gd name="connsiteY3" fmla="*/ 524656 h 1439056"/>
              <a:gd name="connsiteX4" fmla="*/ 251646 w 1665722"/>
              <a:gd name="connsiteY4" fmla="*/ 554636 h 1439056"/>
              <a:gd name="connsiteX5" fmla="*/ 101744 w 1665722"/>
              <a:gd name="connsiteY5" fmla="*/ 846944 h 1439056"/>
              <a:gd name="connsiteX6" fmla="*/ 1405888 w 1665722"/>
              <a:gd name="connsiteY6" fmla="*/ 816964 h 1439056"/>
              <a:gd name="connsiteX7" fmla="*/ 1360918 w 1665722"/>
              <a:gd name="connsiteY7" fmla="*/ 1019331 h 1439056"/>
              <a:gd name="connsiteX8" fmla="*/ 214170 w 1665722"/>
              <a:gd name="connsiteY8" fmla="*/ 1056807 h 1439056"/>
              <a:gd name="connsiteX9" fmla="*/ 191685 w 1665722"/>
              <a:gd name="connsiteY9" fmla="*/ 1229194 h 1439056"/>
              <a:gd name="connsiteX10" fmla="*/ 903718 w 1665722"/>
              <a:gd name="connsiteY10" fmla="*/ 1274164 h 1439056"/>
              <a:gd name="connsiteX11" fmla="*/ 948688 w 1665722"/>
              <a:gd name="connsiteY11" fmla="*/ 1439056 h 1439056"/>
              <a:gd name="connsiteX12" fmla="*/ 948688 w 1665722"/>
              <a:gd name="connsiteY12" fmla="*/ 1439056 h 1439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65722" h="1439056">
                <a:moveTo>
                  <a:pt x="776302" y="0"/>
                </a:moveTo>
                <a:cubicBezTo>
                  <a:pt x="714467" y="118047"/>
                  <a:pt x="652632" y="236095"/>
                  <a:pt x="768806" y="292308"/>
                </a:cubicBezTo>
                <a:cubicBezTo>
                  <a:pt x="884980" y="348521"/>
                  <a:pt x="1339682" y="298554"/>
                  <a:pt x="1473344" y="337279"/>
                </a:cubicBezTo>
                <a:cubicBezTo>
                  <a:pt x="1607006" y="376004"/>
                  <a:pt x="1774396" y="488430"/>
                  <a:pt x="1570780" y="524656"/>
                </a:cubicBezTo>
                <a:cubicBezTo>
                  <a:pt x="1367164" y="560882"/>
                  <a:pt x="496485" y="500921"/>
                  <a:pt x="251646" y="554636"/>
                </a:cubicBezTo>
                <a:cubicBezTo>
                  <a:pt x="6807" y="608351"/>
                  <a:pt x="-90630" y="803223"/>
                  <a:pt x="101744" y="846944"/>
                </a:cubicBezTo>
                <a:cubicBezTo>
                  <a:pt x="294118" y="890665"/>
                  <a:pt x="1196026" y="788233"/>
                  <a:pt x="1405888" y="816964"/>
                </a:cubicBezTo>
                <a:cubicBezTo>
                  <a:pt x="1615750" y="845695"/>
                  <a:pt x="1559538" y="979357"/>
                  <a:pt x="1360918" y="1019331"/>
                </a:cubicBezTo>
                <a:cubicBezTo>
                  <a:pt x="1162298" y="1059305"/>
                  <a:pt x="409042" y="1021830"/>
                  <a:pt x="214170" y="1056807"/>
                </a:cubicBezTo>
                <a:cubicBezTo>
                  <a:pt x="19298" y="1091784"/>
                  <a:pt x="76760" y="1192968"/>
                  <a:pt x="191685" y="1229194"/>
                </a:cubicBezTo>
                <a:cubicBezTo>
                  <a:pt x="306610" y="1265420"/>
                  <a:pt x="777551" y="1239187"/>
                  <a:pt x="903718" y="1274164"/>
                </a:cubicBezTo>
                <a:cubicBezTo>
                  <a:pt x="1029885" y="1309141"/>
                  <a:pt x="948688" y="1439056"/>
                  <a:pt x="948688" y="1439056"/>
                </a:cubicBezTo>
                <a:lnTo>
                  <a:pt x="948688" y="1439056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82B0A237-77E4-7D97-BA4E-F7E6BCB1AE69}"/>
              </a:ext>
            </a:extLst>
          </p:cNvPr>
          <p:cNvSpPr txBox="1"/>
          <p:nvPr/>
        </p:nvSpPr>
        <p:spPr>
          <a:xfrm>
            <a:off x="2776138" y="5837984"/>
            <a:ext cx="24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FFDBBEC6-AD16-D153-B87C-E1541D316DA7}"/>
              </a:ext>
            </a:extLst>
          </p:cNvPr>
          <p:cNvSpPr/>
          <p:nvPr/>
        </p:nvSpPr>
        <p:spPr>
          <a:xfrm>
            <a:off x="1809253" y="1375726"/>
            <a:ext cx="2220980" cy="1477170"/>
          </a:xfrm>
          <a:prstGeom prst="round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</a:t>
            </a:r>
          </a:p>
        </p:txBody>
      </p: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0615F732-421B-77B1-9D3D-A028F3787CF8}"/>
              </a:ext>
            </a:extLst>
          </p:cNvPr>
          <p:cNvCxnSpPr>
            <a:cxnSpLocks/>
          </p:cNvCxnSpPr>
          <p:nvPr/>
        </p:nvCxnSpPr>
        <p:spPr>
          <a:xfrm flipV="1">
            <a:off x="3959630" y="1197542"/>
            <a:ext cx="240555" cy="232237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00E1173A-8011-6747-3FD1-5029A1DD8278}"/>
              </a:ext>
            </a:extLst>
          </p:cNvPr>
          <p:cNvCxnSpPr>
            <a:cxnSpLocks/>
          </p:cNvCxnSpPr>
          <p:nvPr/>
        </p:nvCxnSpPr>
        <p:spPr>
          <a:xfrm flipH="1" flipV="1">
            <a:off x="1640028" y="1303814"/>
            <a:ext cx="204139" cy="160093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9" name="Tableau 58">
            <a:extLst>
              <a:ext uri="{FF2B5EF4-FFF2-40B4-BE49-F238E27FC236}">
                <a16:creationId xmlns:a16="http://schemas.microsoft.com/office/drawing/2014/main" id="{5F558BC3-235F-3DAB-EB73-4EF8D22CB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211204"/>
              </p:ext>
            </p:extLst>
          </p:nvPr>
        </p:nvGraphicFramePr>
        <p:xfrm>
          <a:off x="5651942" y="485396"/>
          <a:ext cx="6325198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3997">
                  <a:extLst>
                    <a:ext uri="{9D8B030D-6E8A-4147-A177-3AD203B41FA5}">
                      <a16:colId xmlns:a16="http://schemas.microsoft.com/office/drawing/2014/main" val="2989418248"/>
                    </a:ext>
                  </a:extLst>
                </a:gridCol>
                <a:gridCol w="2083386">
                  <a:extLst>
                    <a:ext uri="{9D8B030D-6E8A-4147-A177-3AD203B41FA5}">
                      <a16:colId xmlns:a16="http://schemas.microsoft.com/office/drawing/2014/main" val="3997699132"/>
                    </a:ext>
                  </a:extLst>
                </a:gridCol>
                <a:gridCol w="846944">
                  <a:extLst>
                    <a:ext uri="{9D8B030D-6E8A-4147-A177-3AD203B41FA5}">
                      <a16:colId xmlns:a16="http://schemas.microsoft.com/office/drawing/2014/main" val="2448774493"/>
                    </a:ext>
                  </a:extLst>
                </a:gridCol>
                <a:gridCol w="2480871">
                  <a:extLst>
                    <a:ext uri="{9D8B030D-6E8A-4147-A177-3AD203B41FA5}">
                      <a16:colId xmlns:a16="http://schemas.microsoft.com/office/drawing/2014/main" val="16442213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400" dirty="0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Signification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2009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400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Sinus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Douloureux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528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400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Masque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Douloureux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8855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Douloureux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8838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400" dirty="0" err="1"/>
                        <a:t>T</a:t>
                      </a:r>
                      <a:endParaRPr lang="fr-F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Tympan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Douloureux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897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400" dirty="0"/>
                        <a:t>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Surpression pulmonaire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Dangereux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7940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400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Intestins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Rare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333049"/>
                  </a:ext>
                </a:extLst>
              </a:tr>
            </a:tbl>
          </a:graphicData>
        </a:graphic>
      </p:graphicFrame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DEA6098B-011A-158C-57E2-92B0E235321D}"/>
              </a:ext>
            </a:extLst>
          </p:cNvPr>
          <p:cNvCxnSpPr>
            <a:cxnSpLocks/>
          </p:cNvCxnSpPr>
          <p:nvPr/>
        </p:nvCxnSpPr>
        <p:spPr>
          <a:xfrm>
            <a:off x="8822485" y="912466"/>
            <a:ext cx="194099" cy="2384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20C2471A-1A7D-4575-F51D-BDF5D3215DD1}"/>
              </a:ext>
            </a:extLst>
          </p:cNvPr>
          <p:cNvCxnSpPr>
            <a:cxnSpLocks/>
          </p:cNvCxnSpPr>
          <p:nvPr/>
        </p:nvCxnSpPr>
        <p:spPr>
          <a:xfrm>
            <a:off x="8822485" y="1304773"/>
            <a:ext cx="194099" cy="2384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DCD63CA2-F72C-7115-CE52-E24F43B6DDDF}"/>
              </a:ext>
            </a:extLst>
          </p:cNvPr>
          <p:cNvCxnSpPr>
            <a:cxnSpLocks/>
          </p:cNvCxnSpPr>
          <p:nvPr/>
        </p:nvCxnSpPr>
        <p:spPr>
          <a:xfrm>
            <a:off x="8822485" y="2021524"/>
            <a:ext cx="194099" cy="2384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1A5E1A33-20CF-F79C-E135-1AA828572DAF}"/>
              </a:ext>
            </a:extLst>
          </p:cNvPr>
          <p:cNvCxnSpPr>
            <a:cxnSpLocks/>
          </p:cNvCxnSpPr>
          <p:nvPr/>
        </p:nvCxnSpPr>
        <p:spPr>
          <a:xfrm flipV="1">
            <a:off x="9087312" y="2400869"/>
            <a:ext cx="236570" cy="243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B3114505-5CA1-2C2E-CD50-79A254BB0226}"/>
              </a:ext>
            </a:extLst>
          </p:cNvPr>
          <p:cNvCxnSpPr>
            <a:cxnSpLocks/>
          </p:cNvCxnSpPr>
          <p:nvPr/>
        </p:nvCxnSpPr>
        <p:spPr>
          <a:xfrm flipV="1">
            <a:off x="9087312" y="1673310"/>
            <a:ext cx="236570" cy="243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B1B0B251-5640-DE48-97CD-26BCB9933804}"/>
              </a:ext>
            </a:extLst>
          </p:cNvPr>
          <p:cNvCxnSpPr>
            <a:cxnSpLocks/>
          </p:cNvCxnSpPr>
          <p:nvPr/>
        </p:nvCxnSpPr>
        <p:spPr>
          <a:xfrm flipV="1">
            <a:off x="9088948" y="2743589"/>
            <a:ext cx="236570" cy="243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avec flèche 69">
            <a:extLst>
              <a:ext uri="{FF2B5EF4-FFF2-40B4-BE49-F238E27FC236}">
                <a16:creationId xmlns:a16="http://schemas.microsoft.com/office/drawing/2014/main" id="{9FF98215-854C-AA4B-FDA4-95395B3EDB05}"/>
              </a:ext>
            </a:extLst>
          </p:cNvPr>
          <p:cNvCxnSpPr>
            <a:cxnSpLocks/>
          </p:cNvCxnSpPr>
          <p:nvPr/>
        </p:nvCxnSpPr>
        <p:spPr>
          <a:xfrm flipV="1">
            <a:off x="9087312" y="894916"/>
            <a:ext cx="236570" cy="243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C5CD15A0-BD0E-25C8-87C2-040FEDA98131}"/>
              </a:ext>
            </a:extLst>
          </p:cNvPr>
          <p:cNvCxnSpPr>
            <a:cxnSpLocks/>
          </p:cNvCxnSpPr>
          <p:nvPr/>
        </p:nvCxnSpPr>
        <p:spPr>
          <a:xfrm flipV="1">
            <a:off x="9087312" y="2016467"/>
            <a:ext cx="236570" cy="243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3562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FE889B-8943-D850-8394-B9BD72C03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11059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Barotraumatismes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F4A8F-8484-8924-9371-DD84027967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79" y="889836"/>
            <a:ext cx="11183288" cy="828796"/>
          </a:xfr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fr-FR" sz="1800" b="1" dirty="0"/>
              <a:t>La base</a:t>
            </a:r>
          </a:p>
          <a:p>
            <a:pPr marL="0" indent="0" algn="ctr">
              <a:buNone/>
            </a:pPr>
            <a:r>
              <a:rPr lang="fr-FR" sz="1800" dirty="0"/>
              <a:t>Problèmes liés à la pression, plus particulièrement les variations de pressions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9DC994A2-5644-B54A-4AB3-946135DBBE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873446"/>
              </p:ext>
            </p:extLst>
          </p:nvPr>
        </p:nvGraphicFramePr>
        <p:xfrm>
          <a:off x="316979" y="1825097"/>
          <a:ext cx="11279924" cy="36233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212">
                  <a:extLst>
                    <a:ext uri="{9D8B030D-6E8A-4147-A177-3AD203B41FA5}">
                      <a16:colId xmlns:a16="http://schemas.microsoft.com/office/drawing/2014/main" val="2989418248"/>
                    </a:ext>
                  </a:extLst>
                </a:gridCol>
                <a:gridCol w="2048539">
                  <a:extLst>
                    <a:ext uri="{9D8B030D-6E8A-4147-A177-3AD203B41FA5}">
                      <a16:colId xmlns:a16="http://schemas.microsoft.com/office/drawing/2014/main" val="3997699132"/>
                    </a:ext>
                  </a:extLst>
                </a:gridCol>
                <a:gridCol w="850605">
                  <a:extLst>
                    <a:ext uri="{9D8B030D-6E8A-4147-A177-3AD203B41FA5}">
                      <a16:colId xmlns:a16="http://schemas.microsoft.com/office/drawing/2014/main" val="2448774493"/>
                    </a:ext>
                  </a:extLst>
                </a:gridCol>
                <a:gridCol w="1240465">
                  <a:extLst>
                    <a:ext uri="{9D8B030D-6E8A-4147-A177-3AD203B41FA5}">
                      <a16:colId xmlns:a16="http://schemas.microsoft.com/office/drawing/2014/main" val="1644221353"/>
                    </a:ext>
                  </a:extLst>
                </a:gridCol>
                <a:gridCol w="1637414">
                  <a:extLst>
                    <a:ext uri="{9D8B030D-6E8A-4147-A177-3AD203B41FA5}">
                      <a16:colId xmlns:a16="http://schemas.microsoft.com/office/drawing/2014/main" val="833044530"/>
                    </a:ext>
                  </a:extLst>
                </a:gridCol>
                <a:gridCol w="1197935">
                  <a:extLst>
                    <a:ext uri="{9D8B030D-6E8A-4147-A177-3AD203B41FA5}">
                      <a16:colId xmlns:a16="http://schemas.microsoft.com/office/drawing/2014/main" val="3392722564"/>
                    </a:ext>
                  </a:extLst>
                </a:gridCol>
                <a:gridCol w="1332614">
                  <a:extLst>
                    <a:ext uri="{9D8B030D-6E8A-4147-A177-3AD203B41FA5}">
                      <a16:colId xmlns:a16="http://schemas.microsoft.com/office/drawing/2014/main" val="92623426"/>
                    </a:ext>
                  </a:extLst>
                </a:gridCol>
                <a:gridCol w="1290084">
                  <a:extLst>
                    <a:ext uri="{9D8B030D-6E8A-4147-A177-3AD203B41FA5}">
                      <a16:colId xmlns:a16="http://schemas.microsoft.com/office/drawing/2014/main" val="3953576913"/>
                    </a:ext>
                  </a:extLst>
                </a:gridCol>
                <a:gridCol w="1262056">
                  <a:extLst>
                    <a:ext uri="{9D8B030D-6E8A-4147-A177-3AD203B41FA5}">
                      <a16:colId xmlns:a16="http://schemas.microsoft.com/office/drawing/2014/main" val="3269262327"/>
                    </a:ext>
                  </a:extLst>
                </a:gridCol>
              </a:tblGrid>
              <a:tr h="362036">
                <a:tc>
                  <a:txBody>
                    <a:bodyPr/>
                    <a:lstStyle/>
                    <a:p>
                      <a:r>
                        <a:rPr lang="fr-FR" sz="1400" dirty="0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Signification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Principes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Symptômes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Prévention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Conduite</a:t>
                      </a:r>
                    </a:p>
                    <a:p>
                      <a:r>
                        <a:rPr lang="fr-FR" sz="1400" dirty="0"/>
                        <a:t>À tenir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200950"/>
                  </a:ext>
                </a:extLst>
              </a:tr>
              <a:tr h="362036">
                <a:tc>
                  <a:txBody>
                    <a:bodyPr/>
                    <a:lstStyle/>
                    <a:p>
                      <a:r>
                        <a:rPr lang="fr-FR" sz="1400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Sinus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 - 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Douloureux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N1 - P20 – PA40 - 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528701"/>
                  </a:ext>
                </a:extLst>
              </a:tr>
              <a:tr h="362036">
                <a:tc>
                  <a:txBody>
                    <a:bodyPr/>
                    <a:lstStyle/>
                    <a:p>
                      <a:r>
                        <a:rPr lang="fr-FR" sz="1400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Masque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Douloureux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N1 - P20 – PA40 - 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8855915"/>
                  </a:ext>
                </a:extLst>
              </a:tr>
              <a:tr h="362036">
                <a:tc>
                  <a:txBody>
                    <a:bodyPr/>
                    <a:lstStyle/>
                    <a:p>
                      <a:r>
                        <a:rPr lang="fr-FR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Douloureux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N1 - P20 – PA40 - 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8838900"/>
                  </a:ext>
                </a:extLst>
              </a:tr>
              <a:tr h="362036">
                <a:tc>
                  <a:txBody>
                    <a:bodyPr/>
                    <a:lstStyle/>
                    <a:p>
                      <a:r>
                        <a:rPr lang="fr-FR" sz="1400" dirty="0" err="1"/>
                        <a:t>T</a:t>
                      </a:r>
                      <a:endParaRPr lang="fr-F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Tympan (oreille)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 - 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Douloureux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N1 - P20 – PA40 - 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897378"/>
                  </a:ext>
                </a:extLst>
              </a:tr>
              <a:tr h="362036">
                <a:tc>
                  <a:txBody>
                    <a:bodyPr/>
                    <a:lstStyle/>
                    <a:p>
                      <a:r>
                        <a:rPr lang="fr-FR" sz="1400" dirty="0"/>
                        <a:t>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Surpression pulmonaire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Dangereux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N1 - P20 – PA40 - 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794078"/>
                  </a:ext>
                </a:extLst>
              </a:tr>
              <a:tr h="362036">
                <a:tc>
                  <a:txBody>
                    <a:bodyPr/>
                    <a:lstStyle/>
                    <a:p>
                      <a:r>
                        <a:rPr lang="fr-FR" sz="1400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Intestins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N4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333049"/>
                  </a:ext>
                </a:extLst>
              </a:tr>
              <a:tr h="362036">
                <a:tc>
                  <a:txBody>
                    <a:bodyPr/>
                    <a:lstStyle/>
                    <a:p>
                      <a:r>
                        <a:rPr lang="fr-FR" sz="1400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Vertige (oreille)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 - 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Perturbant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N1 - P20 – PA40 - N3 – 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P20 – PA40</a:t>
                      </a:r>
                    </a:p>
                    <a:p>
                      <a:r>
                        <a:rPr lang="fr-FR" sz="1200" dirty="0"/>
                        <a:t>N3 – N4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70020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3508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8F0DE-BB79-EE6B-CCEA-33CC36772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AEE5EA-C83A-9211-AE43-F7D5F7FE9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11059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Barotraumatismes: Les oreilles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10459D-EB3F-8B2C-8F70-8346A30EF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634" y="925055"/>
            <a:ext cx="4923333" cy="857977"/>
          </a:xfr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fr-FR" sz="1200" dirty="0"/>
              <a:t>La star, le problème que tout le monde a rencontré à la piscine en allant au fond.</a:t>
            </a:r>
          </a:p>
          <a:p>
            <a:pPr marL="0" indent="0" algn="ctr">
              <a:buNone/>
            </a:pPr>
            <a:r>
              <a:rPr lang="fr-FR" sz="1200" i="1" dirty="0"/>
              <a:t>Monsieur, la plongée c’est pas pour moi, à 2m j’ai mal aux oreilles…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C356056-4A86-69C6-4C9A-A9D81A14F80F}"/>
              </a:ext>
            </a:extLst>
          </p:cNvPr>
          <p:cNvSpPr txBox="1"/>
          <p:nvPr/>
        </p:nvSpPr>
        <p:spPr>
          <a:xfrm>
            <a:off x="5715467" y="925055"/>
            <a:ext cx="6188753" cy="15696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D’où cela vient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Oreille composée de 3 zones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200" dirty="0"/>
              <a:t>Oreille externe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200" dirty="0"/>
              <a:t>Oreille moyenne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200" dirty="0"/>
              <a:t>Oreille interne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Entre les deux premières zones, le tympan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Quand on descend l’eau appuie sur le tympan qui se déforme =&gt; douleur si trop grande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Quand on remonte si le rééquilibrage tarde, on peut avoir des vertiges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6418F54-E930-4693-B38F-C0B8EEF1CB44}"/>
              </a:ext>
            </a:extLst>
          </p:cNvPr>
          <p:cNvSpPr txBox="1"/>
          <p:nvPr/>
        </p:nvSpPr>
        <p:spPr>
          <a:xfrm>
            <a:off x="5715467" y="5093530"/>
            <a:ext cx="6188753" cy="1569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Rééquilibrer la pression entre l’oreille externe et l’oreille moyenne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Coup de chance: La trompe d’Eustache assure la communication entre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200" dirty="0"/>
              <a:t>Oreille moyenne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200" dirty="0"/>
              <a:t>Le pharynx</a:t>
            </a:r>
          </a:p>
          <a:p>
            <a:r>
              <a:rPr lang="fr-FR" sz="1200" dirty="0"/>
              <a:t>Concrètement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On va envoyer de l’air dans l’oreille moyenne via la trompe d’Eustache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Technique: Valsalva, Frenzel, BTV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9B091D0-9B66-75F7-4176-7BF8738296A8}"/>
              </a:ext>
            </a:extLst>
          </p:cNvPr>
          <p:cNvSpPr txBox="1"/>
          <p:nvPr/>
        </p:nvSpPr>
        <p:spPr>
          <a:xfrm>
            <a:off x="5715468" y="2621430"/>
            <a:ext cx="6188752" cy="23391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/>
              <a:t>Conduite </a:t>
            </a:r>
          </a:p>
          <a:p>
            <a:r>
              <a:rPr lang="fr-FR" sz="1200" dirty="0"/>
              <a:t>Principe de 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Remonter, réessayer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Ne pas forcer</a:t>
            </a:r>
          </a:p>
          <a:p>
            <a:r>
              <a:rPr lang="fr-FR" sz="1200" dirty="0"/>
              <a:t>En autonomie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On reste groupé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On accompagne celui qui rencontre le problème</a:t>
            </a:r>
          </a:p>
          <a:p>
            <a:r>
              <a:rPr lang="fr-FR" sz="1200" dirty="0"/>
              <a:t>En tant que GP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On surveille l’attitude de la palanquée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On stoppe la descente de la palanquée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On fait remonter la palanquée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Le GP limite son nombre de Valsalva pour protéger ses oreilles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A836D3F-0FF6-0D42-407D-FD667F205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573" y="2060792"/>
            <a:ext cx="4764894" cy="469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111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1BFFB-7DBB-BD38-02E1-B62EF5AA4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D3AEB6-0D5B-F501-24A0-FAC9F4726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11059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Barotraumatismes: Plaquage de masque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B2005E-DA26-6FE3-6D37-CE7725E14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56" y="889836"/>
            <a:ext cx="11183288" cy="872863"/>
          </a:xfr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fr-FR" sz="1800" b="1" dirty="0"/>
              <a:t>Dit la brute</a:t>
            </a:r>
          </a:p>
          <a:p>
            <a:pPr marL="0" indent="0" algn="ctr">
              <a:buNone/>
            </a:pPr>
            <a:r>
              <a:rPr lang="fr-FR" sz="1800" i="1" dirty="0"/>
              <a:t>Tu as une de ces têtes avec tes hématomes autour des yeux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396D642-2001-41FE-8D8E-DE030860D90C}"/>
              </a:ext>
            </a:extLst>
          </p:cNvPr>
          <p:cNvSpPr txBox="1"/>
          <p:nvPr/>
        </p:nvSpPr>
        <p:spPr>
          <a:xfrm>
            <a:off x="504356" y="1889248"/>
            <a:ext cx="11183287" cy="13234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/>
              <a:t>D’où cela vient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Quand on descend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La pression à l’extérieur du masque augmente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La pression à l’intérieur du masque ne change pas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Le masque d’écrase contre le visage conduisant à un effet ventouse =&gt; Hématomes sur le visage autour des yeux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61DA159-2015-6A1C-1338-CF1656E025A4}"/>
              </a:ext>
            </a:extLst>
          </p:cNvPr>
          <p:cNvSpPr txBox="1"/>
          <p:nvPr/>
        </p:nvSpPr>
        <p:spPr>
          <a:xfrm>
            <a:off x="504357" y="3339236"/>
            <a:ext cx="5701572" cy="10772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/>
              <a:t>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Rééquilibrer la pression pour éviter que le masque s’écrase</a:t>
            </a:r>
          </a:p>
          <a:p>
            <a:r>
              <a:rPr lang="fr-FR" sz="1600" dirty="0"/>
              <a:t>Concrètement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Souffler par le nez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CAE7C28-B080-DF66-ACDC-771A7C5AC4F3}"/>
              </a:ext>
            </a:extLst>
          </p:cNvPr>
          <p:cNvSpPr txBox="1"/>
          <p:nvPr/>
        </p:nvSpPr>
        <p:spPr>
          <a:xfrm>
            <a:off x="7738897" y="3339236"/>
            <a:ext cx="3948746" cy="24622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/>
              <a:t>Conduite </a:t>
            </a:r>
          </a:p>
          <a:p>
            <a:r>
              <a:rPr lang="fr-FR" sz="1400" dirty="0"/>
              <a:t>Principe de 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Souffler par le nez</a:t>
            </a:r>
          </a:p>
          <a:p>
            <a:r>
              <a:rPr lang="fr-FR" sz="1400" dirty="0"/>
              <a:t>En autonomie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On reste groupé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Observer le visage de son binôme à la descente</a:t>
            </a:r>
          </a:p>
          <a:p>
            <a:r>
              <a:rPr lang="fr-FR" sz="1400" dirty="0"/>
              <a:t>En tant que GP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On observe le visage au niveau des yeux des membres de la palanquée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Faire souffler par le nez</a:t>
            </a:r>
          </a:p>
        </p:txBody>
      </p:sp>
    </p:spTree>
    <p:extLst>
      <p:ext uri="{BB962C8B-B14F-4D97-AF65-F5344CB8AC3E}">
        <p14:creationId xmlns:p14="http://schemas.microsoft.com/office/powerpoint/2010/main" val="2558810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67DA5-B861-65EE-9EF2-0322A7EC2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D0F84E-BC3C-5BCE-23F8-5EBD5F17D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11059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Barotraumatismes: Les dents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3E3BBFF-B914-F7F4-A76A-9BDCC12FC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56" y="889837"/>
            <a:ext cx="11183288" cy="369338"/>
          </a:xfr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fr-FR" sz="1800" i="1" dirty="0"/>
              <a:t>Bien choisir son dentiste et lui rendre visite régulièrement même si on ne l’aime pas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7ED3519-4B23-767A-1986-07D0A24E26D5}"/>
              </a:ext>
            </a:extLst>
          </p:cNvPr>
          <p:cNvSpPr txBox="1"/>
          <p:nvPr/>
        </p:nvSpPr>
        <p:spPr>
          <a:xfrm>
            <a:off x="504356" y="1424553"/>
            <a:ext cx="11183287" cy="10772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/>
              <a:t>D’où cela vient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Quand on descend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Des bulles d’air s’insère dans une carie mal soignée ou une couronne mal fixée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A la remontée, la bulle a du mal à s’échapper, elle se dilate et appuie sur un nerf d’où la douleur.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11B4EC4-B7DB-372C-ED55-417CFCF60D4C}"/>
              </a:ext>
            </a:extLst>
          </p:cNvPr>
          <p:cNvSpPr txBox="1"/>
          <p:nvPr/>
        </p:nvSpPr>
        <p:spPr>
          <a:xfrm>
            <a:off x="504356" y="2667149"/>
            <a:ext cx="6241218" cy="10772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/>
              <a:t>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Stopper la remontée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Redescendre jusqu’à l’arrêt de la douleur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Remonter très très doucement. Faire des pauses si nécessaire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9DC3911-BABE-86AE-052E-1B12FE49FC99}"/>
              </a:ext>
            </a:extLst>
          </p:cNvPr>
          <p:cNvSpPr txBox="1"/>
          <p:nvPr/>
        </p:nvSpPr>
        <p:spPr>
          <a:xfrm>
            <a:off x="6880485" y="2667149"/>
            <a:ext cx="4807158" cy="8309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/>
              <a:t>Prévention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Une bonne hygiène dentaire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Au moins une visite annuelle chez le dentiste</a:t>
            </a:r>
          </a:p>
        </p:txBody>
      </p:sp>
    </p:spTree>
    <p:extLst>
      <p:ext uri="{BB962C8B-B14F-4D97-AF65-F5344CB8AC3E}">
        <p14:creationId xmlns:p14="http://schemas.microsoft.com/office/powerpoint/2010/main" val="2008196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880D0-65E2-9A17-6B66-E37F9295A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4538E9-7D43-CA0A-E031-D1B2D032C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11059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Barotraumatismes: Les sinus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62A1FC-760A-C102-17E0-99AA62944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55" y="684554"/>
            <a:ext cx="11183288" cy="872863"/>
          </a:xfr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fr-FR" sz="1800" b="1" dirty="0"/>
              <a:t>Dit le matheux</a:t>
            </a:r>
          </a:p>
          <a:p>
            <a:pPr marL="0" indent="0" algn="ctr">
              <a:buNone/>
            </a:pPr>
            <a:r>
              <a:rPr lang="fr-FR" sz="1800" i="1" dirty="0"/>
              <a:t>4 sinus, 4 fois plus de chance d’avoir une sinusite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5F6F612-55F6-3CA9-AE04-F31C1DDFEFCF}"/>
              </a:ext>
            </a:extLst>
          </p:cNvPr>
          <p:cNvSpPr txBox="1"/>
          <p:nvPr/>
        </p:nvSpPr>
        <p:spPr>
          <a:xfrm>
            <a:off x="504356" y="1673448"/>
            <a:ext cx="11183287" cy="16004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/>
              <a:t>D’où cela vient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Les sinus (frontaux, maxillaires, ethmoïdales et sphénoïdal) sont des cavités remplie d’air. Les ethmoïdales et sphénoïdal sont derrière les frontaux et communiques directement.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une triple fonction: respiratoire, immunologique et olfactive.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L’équilibre se fait automatiquement par les fosses nasales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Si l’équilibre ne se faire, on ressent une douleur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1207726-82A5-8085-4102-11E667533320}"/>
              </a:ext>
            </a:extLst>
          </p:cNvPr>
          <p:cNvSpPr txBox="1"/>
          <p:nvPr/>
        </p:nvSpPr>
        <p:spPr>
          <a:xfrm>
            <a:off x="504355" y="3389917"/>
            <a:ext cx="6436091" cy="8309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/>
              <a:t>Causes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Sinusite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Encombrement des voies nasales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EBBDF84-2219-9691-AD93-C8FF96FA68AA}"/>
              </a:ext>
            </a:extLst>
          </p:cNvPr>
          <p:cNvSpPr txBox="1"/>
          <p:nvPr/>
        </p:nvSpPr>
        <p:spPr>
          <a:xfrm>
            <a:off x="504354" y="4336945"/>
            <a:ext cx="6436091" cy="10772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/>
              <a:t>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Stopper la remontée / La descente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Si en remontée, redescendre jusqu’à l’arrêt de la douleur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Remonter très très doucement. Faire des pauses si nécessaire.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742B2B2-59B3-A0FE-9DAC-B57CA5902E66}"/>
              </a:ext>
            </a:extLst>
          </p:cNvPr>
          <p:cNvSpPr txBox="1"/>
          <p:nvPr/>
        </p:nvSpPr>
        <p:spPr>
          <a:xfrm>
            <a:off x="504353" y="5530194"/>
            <a:ext cx="6436091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/>
              <a:t>Prévention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Ne pas plongée avec une sinusite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Ne pas plonger avec un rhume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6DB9A1E-8BC7-5CC3-72EC-70CFBF755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5337" y="3389917"/>
            <a:ext cx="3240686" cy="3240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35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77E5B-A5B3-F5DB-335E-CC49CFD5F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D4B2AD-D12B-2ED7-0EF5-C666F2109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11059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Barotraumatismes: Estomac &amp; Intestin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496478-F971-9859-15AF-CEACCC86C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56" y="889836"/>
            <a:ext cx="11183288" cy="459279"/>
          </a:xfr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fr-FR" sz="1800" i="1" dirty="0"/>
              <a:t>Le glouton doit savoir choisir ses plats….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FB64A34-9CD1-3722-8574-3F3F27980319}"/>
              </a:ext>
            </a:extLst>
          </p:cNvPr>
          <p:cNvSpPr txBox="1"/>
          <p:nvPr/>
        </p:nvSpPr>
        <p:spPr>
          <a:xfrm>
            <a:off x="504354" y="1476151"/>
            <a:ext cx="11183287" cy="8309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/>
              <a:t>D’où cela vient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La digestion de certains aliments génère des gaz. A la remontée, ces gaz se dilatent et génère des douleurs abdominales.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Très rare en plongée loisir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E3DC5FE-C219-B7E8-DB6B-63C489543651}"/>
              </a:ext>
            </a:extLst>
          </p:cNvPr>
          <p:cNvSpPr txBox="1"/>
          <p:nvPr/>
        </p:nvSpPr>
        <p:spPr>
          <a:xfrm>
            <a:off x="504353" y="2434184"/>
            <a:ext cx="11183287" cy="14773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Stopper la remontée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Redescendre jusqu’à l’arrêt de la douleur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Péter pour évacuer les gaz.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Remonter très très doucement. Faire des pauses si nécessaire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F39555F-E763-D7CB-B227-DCF80000E172}"/>
              </a:ext>
            </a:extLst>
          </p:cNvPr>
          <p:cNvSpPr txBox="1"/>
          <p:nvPr/>
        </p:nvSpPr>
        <p:spPr>
          <a:xfrm>
            <a:off x="504353" y="4038548"/>
            <a:ext cx="11183287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Prévention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Eviter les plats qui génèrent des gaz comme le Cassoulet.</a:t>
            </a:r>
          </a:p>
        </p:txBody>
      </p:sp>
    </p:spTree>
    <p:extLst>
      <p:ext uri="{BB962C8B-B14F-4D97-AF65-F5344CB8AC3E}">
        <p14:creationId xmlns:p14="http://schemas.microsoft.com/office/powerpoint/2010/main" val="2733620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F59E5-48BF-758A-EA58-386508932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E994B8-25DB-C4F1-7C75-1B3F73C60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11059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Barotraumatismes: Surpression pulmonaire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8BABFE-6BCF-E5F1-2631-F4575F6A1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55" y="715208"/>
            <a:ext cx="11183288" cy="611059"/>
          </a:xfr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fr-FR" sz="1400" b="1" dirty="0"/>
              <a:t>Dit le redoutable</a:t>
            </a:r>
          </a:p>
          <a:p>
            <a:pPr marL="0" indent="0" algn="ctr">
              <a:buNone/>
            </a:pPr>
            <a:r>
              <a:rPr lang="fr-FR" sz="1400" i="1" dirty="0"/>
              <a:t>Peut-être tellement grave que même Pamela n’y peut rien…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C1D9DE3-F61B-1CB1-1CB6-4723984A20E3}"/>
              </a:ext>
            </a:extLst>
          </p:cNvPr>
          <p:cNvSpPr txBox="1"/>
          <p:nvPr/>
        </p:nvSpPr>
        <p:spPr>
          <a:xfrm>
            <a:off x="504355" y="1379181"/>
            <a:ext cx="7620314" cy="20313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D’où cela vient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Cause: Un blocage expiratoire ou une expiration insuffisante, l’air dans les poumons ne s’échappe pas suffisamment.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Conséquence: Dilatation des alvéoles pulmonaires (rupture possible) qui conduit à l ‘introduction d’air dans la circulation sanguine.</a:t>
            </a:r>
          </a:p>
          <a:p>
            <a:r>
              <a:rPr lang="fr-FR" sz="1400" dirty="0"/>
              <a:t>Symptômes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Trouble neurologique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Problèmes respiratoires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Toux et crachats sanglants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0767BEC-7D74-D70E-B51F-24F3C84E15E8}"/>
              </a:ext>
            </a:extLst>
          </p:cNvPr>
          <p:cNvSpPr txBox="1"/>
          <p:nvPr/>
        </p:nvSpPr>
        <p:spPr>
          <a:xfrm>
            <a:off x="8193624" y="1360601"/>
            <a:ext cx="34940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Causes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Blocage expiration: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400" dirty="0"/>
              <a:t>Mauvais reflexe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400" dirty="0"/>
              <a:t>Panique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Expiration insuffisante: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400" dirty="0"/>
              <a:t>Essoufflement, 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400" dirty="0"/>
              <a:t>Remontée trop rapide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400" dirty="0"/>
              <a:t>Effort, remontée à 2 sur embout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B2B775E-EF61-9002-71CF-C4C59CC62D56}"/>
              </a:ext>
            </a:extLst>
          </p:cNvPr>
          <p:cNvSpPr txBox="1"/>
          <p:nvPr/>
        </p:nvSpPr>
        <p:spPr>
          <a:xfrm>
            <a:off x="504355" y="3474734"/>
            <a:ext cx="7620313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Prévention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Ne jamais bloquer l’expiration, pas d’apnée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Développer les bons reflexes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Respect des vitesses de remontée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Vigilance dans les 10 derniers mètres.</a:t>
            </a:r>
          </a:p>
          <a:p>
            <a:r>
              <a:rPr lang="fr-FR" sz="1400" dirty="0"/>
              <a:t>En tant que GP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Personne au-dessus de moi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Je vérifie que tout le monde expire régulièrement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A667358-D6C7-A89E-20C4-9EACFF10F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624" y="3210817"/>
            <a:ext cx="3494019" cy="3450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97435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1769</TotalTime>
  <Words>1038</Words>
  <Application>Microsoft Macintosh PowerPoint</Application>
  <PresentationFormat>Grand écran</PresentationFormat>
  <Paragraphs>249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Thème Office</vt:lpstr>
      <vt:lpstr>Présentation PowerPoint</vt:lpstr>
      <vt:lpstr>Barotraumatismes</vt:lpstr>
      <vt:lpstr>Barotraumatismes: Les oreilles</vt:lpstr>
      <vt:lpstr>Barotraumatismes: Plaquage de masque</vt:lpstr>
      <vt:lpstr>Barotraumatismes: Les dents</vt:lpstr>
      <vt:lpstr>Barotraumatismes: Les sinus</vt:lpstr>
      <vt:lpstr>Barotraumatismes: Estomac &amp; Intestin</vt:lpstr>
      <vt:lpstr>Barotraumatismes: Surpression pulmonaire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olivier artigue</dc:creator>
  <cp:lastModifiedBy>olivier artigue</cp:lastModifiedBy>
  <cp:revision>21</cp:revision>
  <dcterms:created xsi:type="dcterms:W3CDTF">2025-11-10T18:02:01Z</dcterms:created>
  <dcterms:modified xsi:type="dcterms:W3CDTF">2026-01-04T19:31:43Z</dcterms:modified>
</cp:coreProperties>
</file>
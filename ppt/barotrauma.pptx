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65" r:id="rId3"/>
    <p:sldId id="264" r:id="rId4"/>
    <p:sldId id="261" r:id="rId5"/>
    <p:sldId id="267" r:id="rId6"/>
    <p:sldId id="266" r:id="rId7"/>
    <p:sldId id="258" r:id="rId8"/>
    <p:sldId id="259" r:id="rId9"/>
    <p:sldId id="263" r:id="rId10"/>
    <p:sldId id="260" r:id="rId11"/>
    <p:sldId id="262"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16"/>
    <p:restoredTop sz="94697"/>
  </p:normalViewPr>
  <p:slideViewPr>
    <p:cSldViewPr snapToGrid="0">
      <p:cViewPr>
        <p:scale>
          <a:sx n="90" d="100"/>
          <a:sy n="90" d="100"/>
        </p:scale>
        <p:origin x="872"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2B2954-693E-3492-D927-A47B6B8F97A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8695DCC-82A5-968D-46B2-70C0A49742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5C72FFA-2060-5DAD-D2D1-F166546CFE1F}"/>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5" name="Espace réservé du pied de page 4">
            <a:extLst>
              <a:ext uri="{FF2B5EF4-FFF2-40B4-BE49-F238E27FC236}">
                <a16:creationId xmlns:a16="http://schemas.microsoft.com/office/drawing/2014/main" id="{C079C388-506E-E5BC-7CEB-5721EE5733B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2020B3-E04D-F313-D222-5EC737DD5E45}"/>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2356007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D84463-7229-4AE9-7295-C10E276D746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CC06D1C-C18B-C85B-A2D1-D31692F2028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D13C8CC-31FF-BE02-1BFC-9A45DFB25165}"/>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5" name="Espace réservé du pied de page 4">
            <a:extLst>
              <a:ext uri="{FF2B5EF4-FFF2-40B4-BE49-F238E27FC236}">
                <a16:creationId xmlns:a16="http://schemas.microsoft.com/office/drawing/2014/main" id="{C47875DE-0D7F-2B57-72F1-EF927E94C59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89BA54B-573A-6A13-40D2-D5A698F83082}"/>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3345387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2D51DB-7300-320A-57D1-5E6D1E2191A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F31580C-2660-C337-092F-B26634DE6E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34C5127-4703-46AB-57FC-D7D7BD41E07E}"/>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5" name="Espace réservé du pied de page 4">
            <a:extLst>
              <a:ext uri="{FF2B5EF4-FFF2-40B4-BE49-F238E27FC236}">
                <a16:creationId xmlns:a16="http://schemas.microsoft.com/office/drawing/2014/main" id="{072BD039-47EC-583D-1E32-0ABC9450FD0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1FFA652-6955-9F95-3153-BD9294D78D32}"/>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736310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828266-E2F9-BF45-60C2-3D300C424D7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D439AB8-978A-396B-5ADD-D9A5A2E1C76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BFA41B7-970E-9AFA-8581-5C45ECA9867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EAD829A-A6B6-F315-F7A2-96F9134E9D3E}"/>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6" name="Espace réservé du pied de page 5">
            <a:extLst>
              <a:ext uri="{FF2B5EF4-FFF2-40B4-BE49-F238E27FC236}">
                <a16:creationId xmlns:a16="http://schemas.microsoft.com/office/drawing/2014/main" id="{2BCE49B5-28D7-3A17-9D9B-2D2B4A901DA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6B73A19-42A0-B0A4-1BCC-BC19713C67F0}"/>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4255720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317201-2646-4CD0-7851-EAE12DBF655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161FE4F-EAE7-4EC0-D7DA-7CB45971C6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66B01E8-2DB1-3CA4-5C41-355180CBADD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1B9F158-97EE-D09E-7E4D-87CE5FD6DA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B3635A8-1101-4630-84F2-5A8BEF7BD4C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4DA7ED28-F37D-2384-FF4E-E9DA09A497F3}"/>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8" name="Espace réservé du pied de page 7">
            <a:extLst>
              <a:ext uri="{FF2B5EF4-FFF2-40B4-BE49-F238E27FC236}">
                <a16:creationId xmlns:a16="http://schemas.microsoft.com/office/drawing/2014/main" id="{361C11A5-B933-EBD4-F103-AEA3913E02B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0769FE1-A697-AF3B-959F-72D7E572C6AE}"/>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2492415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DF6D1-0F9E-04A0-6509-7502ABA4A00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DF04452-3B89-652B-AED9-7BE8106B4888}"/>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4" name="Espace réservé du pied de page 3">
            <a:extLst>
              <a:ext uri="{FF2B5EF4-FFF2-40B4-BE49-F238E27FC236}">
                <a16:creationId xmlns:a16="http://schemas.microsoft.com/office/drawing/2014/main" id="{7F093F31-933A-8EFC-029A-437CE2D3AE7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ADA7D25-C4E8-4449-5E3B-FF8D4657A116}"/>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451436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E6B589F-08FF-5DB4-CE82-7ACE214610F4}"/>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3" name="Espace réservé du pied de page 2">
            <a:extLst>
              <a:ext uri="{FF2B5EF4-FFF2-40B4-BE49-F238E27FC236}">
                <a16:creationId xmlns:a16="http://schemas.microsoft.com/office/drawing/2014/main" id="{5F6C3295-5512-D00F-07B8-6790AA50BF6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0C3FC57-70C0-037F-26D8-307FFFC5B60B}"/>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1272536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EC076C-6397-35CB-AD1C-982A03E47BC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47491226-A95A-9847-45E5-4E3DD49FAE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983A61A-77F9-D138-7197-FC414CBB47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7DD5E2D-81AF-5C39-1692-16206EE26F94}"/>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6" name="Espace réservé du pied de page 5">
            <a:extLst>
              <a:ext uri="{FF2B5EF4-FFF2-40B4-BE49-F238E27FC236}">
                <a16:creationId xmlns:a16="http://schemas.microsoft.com/office/drawing/2014/main" id="{A06F503B-FB9E-E0A7-2243-DC8B65AE89F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F1EF03E-F860-8431-1BD9-BCAB83E69587}"/>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152457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7308C1-1AF9-AD49-E2A5-0665578B507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C021099-2B9F-3C56-5F47-D0D22AC020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B854C5A-46BE-3277-9F82-28307638F6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526CBF2-CC83-733A-17A8-EB4FE2EDA1EA}"/>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6" name="Espace réservé du pied de page 5">
            <a:extLst>
              <a:ext uri="{FF2B5EF4-FFF2-40B4-BE49-F238E27FC236}">
                <a16:creationId xmlns:a16="http://schemas.microsoft.com/office/drawing/2014/main" id="{6D9D96C7-BA50-B186-8588-3C522F5A730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17B499D-AD03-26A9-F93A-3C32809DF221}"/>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1813840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A52DF4-C6B9-1366-B3A7-DBD2E5028B8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E9ADEE9-CB4E-F2F7-C684-55DD6F2CE18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A6A5FF6-9EA1-BAF7-F6AE-1DB4FF68CFD8}"/>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5" name="Espace réservé du pied de page 4">
            <a:extLst>
              <a:ext uri="{FF2B5EF4-FFF2-40B4-BE49-F238E27FC236}">
                <a16:creationId xmlns:a16="http://schemas.microsoft.com/office/drawing/2014/main" id="{28D9224E-611F-ABA8-5256-005882201EB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1A8BF05-4B8C-5832-BA2C-F0ACA1A00287}"/>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1738708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E524676-94A3-882F-48B0-EFFFF5A21B3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D3219B7-5AF7-312E-21BB-4BC037FEC7D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C27A761-AA38-D008-C7BB-007D535BA4DB}"/>
              </a:ext>
            </a:extLst>
          </p:cNvPr>
          <p:cNvSpPr>
            <a:spLocks noGrp="1"/>
          </p:cNvSpPr>
          <p:nvPr>
            <p:ph type="dt" sz="half" idx="10"/>
          </p:nvPr>
        </p:nvSpPr>
        <p:spPr/>
        <p:txBody>
          <a:bodyPr/>
          <a:lstStyle/>
          <a:p>
            <a:fld id="{479EC460-D793-0142-85E3-01B2E0242870}" type="datetimeFigureOut">
              <a:rPr lang="fr-FR" smtClean="0"/>
              <a:t>16/02/2026</a:t>
            </a:fld>
            <a:endParaRPr lang="fr-FR"/>
          </a:p>
        </p:txBody>
      </p:sp>
      <p:sp>
        <p:nvSpPr>
          <p:cNvPr id="5" name="Espace réservé du pied de page 4">
            <a:extLst>
              <a:ext uri="{FF2B5EF4-FFF2-40B4-BE49-F238E27FC236}">
                <a16:creationId xmlns:a16="http://schemas.microsoft.com/office/drawing/2014/main" id="{DD1FF072-B9E4-4B29-BAAF-F10F035AAB4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AEE2D80-D9DE-703E-28F5-70F92392FC6F}"/>
              </a:ext>
            </a:extLst>
          </p:cNvPr>
          <p:cNvSpPr>
            <a:spLocks noGrp="1"/>
          </p:cNvSpPr>
          <p:nvPr>
            <p:ph type="sldNum" sz="quarter" idx="12"/>
          </p:nvPr>
        </p:nvSpPr>
        <p:spPr/>
        <p:txBody>
          <a:bodyPr/>
          <a:lstStyle/>
          <a:p>
            <a:fld id="{E44E9EB6-2C6C-8140-AF57-3EC0F38B5C8E}" type="slidenum">
              <a:rPr lang="fr-FR" smtClean="0"/>
              <a:t>‹N°›</a:t>
            </a:fld>
            <a:endParaRPr lang="fr-FR"/>
          </a:p>
        </p:txBody>
      </p:sp>
    </p:spTree>
    <p:extLst>
      <p:ext uri="{BB962C8B-B14F-4D97-AF65-F5344CB8AC3E}">
        <p14:creationId xmlns:p14="http://schemas.microsoft.com/office/powerpoint/2010/main" val="2107724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BA34B9F-37C5-9D79-9ED9-34C31FCAE7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674762B-5E29-AB1F-9463-E408ED1D0E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6E8E176-06C8-0B54-CB9A-704CA4A86B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9EC460-D793-0142-85E3-01B2E0242870}" type="datetimeFigureOut">
              <a:rPr lang="fr-FR" smtClean="0"/>
              <a:t>16/02/2026</a:t>
            </a:fld>
            <a:endParaRPr lang="fr-FR"/>
          </a:p>
        </p:txBody>
      </p:sp>
      <p:sp>
        <p:nvSpPr>
          <p:cNvPr id="5" name="Espace réservé du pied de page 4">
            <a:extLst>
              <a:ext uri="{FF2B5EF4-FFF2-40B4-BE49-F238E27FC236}">
                <a16:creationId xmlns:a16="http://schemas.microsoft.com/office/drawing/2014/main" id="{5BBD273F-2270-6649-0D6C-2C2D9D6231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F7AC3C0-3B78-DD60-4B68-3143881865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4E9EB6-2C6C-8140-AF57-3EC0F38B5C8E}" type="slidenum">
              <a:rPr lang="fr-FR" smtClean="0"/>
              <a:t>‹N°›</a:t>
            </a:fld>
            <a:endParaRPr lang="fr-FR"/>
          </a:p>
        </p:txBody>
      </p:sp>
    </p:spTree>
    <p:extLst>
      <p:ext uri="{BB962C8B-B14F-4D97-AF65-F5344CB8AC3E}">
        <p14:creationId xmlns:p14="http://schemas.microsoft.com/office/powerpoint/2010/main" val="3745404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FE889B-8943-D850-8394-B9BD72C036CE}"/>
              </a:ext>
            </a:extLst>
          </p:cNvPr>
          <p:cNvSpPr>
            <a:spLocks noGrp="1"/>
          </p:cNvSpPr>
          <p:nvPr>
            <p:ph type="title"/>
          </p:nvPr>
        </p:nvSpPr>
        <p:spPr>
          <a:xfrm>
            <a:off x="0" y="0"/>
            <a:ext cx="12192000" cy="611059"/>
          </a:xfrm>
        </p:spPr>
        <p:txBody>
          <a:bodyPr>
            <a:normAutofit fontScale="90000"/>
          </a:bodyPr>
          <a:lstStyle/>
          <a:p>
            <a:pPr algn="ctr"/>
            <a:r>
              <a:rPr lang="fr-FR" dirty="0"/>
              <a:t>Barotraumatismes</a:t>
            </a:r>
          </a:p>
        </p:txBody>
      </p:sp>
      <p:sp>
        <p:nvSpPr>
          <p:cNvPr id="3" name="Espace réservé du contenu 2">
            <a:extLst>
              <a:ext uri="{FF2B5EF4-FFF2-40B4-BE49-F238E27FC236}">
                <a16:creationId xmlns:a16="http://schemas.microsoft.com/office/drawing/2014/main" id="{0EDF4A8F-8484-8924-9371-DD8402796741}"/>
              </a:ext>
            </a:extLst>
          </p:cNvPr>
          <p:cNvSpPr>
            <a:spLocks noGrp="1"/>
          </p:cNvSpPr>
          <p:nvPr>
            <p:ph idx="1"/>
          </p:nvPr>
        </p:nvSpPr>
        <p:spPr>
          <a:xfrm>
            <a:off x="316979" y="889836"/>
            <a:ext cx="11183288" cy="828796"/>
          </a:xfrm>
          <a:solidFill>
            <a:schemeClr val="accent6">
              <a:lumMod val="20000"/>
              <a:lumOff val="80000"/>
            </a:schemeClr>
          </a:solidFill>
          <a:ln>
            <a:solidFill>
              <a:schemeClr val="accent6">
                <a:lumMod val="50000"/>
              </a:schemeClr>
            </a:solidFill>
          </a:ln>
        </p:spPr>
        <p:txBody>
          <a:bodyPr>
            <a:normAutofit/>
          </a:bodyPr>
          <a:lstStyle/>
          <a:p>
            <a:pPr marL="0" indent="0" algn="ctr">
              <a:buNone/>
            </a:pPr>
            <a:r>
              <a:rPr lang="fr-FR" sz="1800" b="1" dirty="0"/>
              <a:t>La base</a:t>
            </a:r>
          </a:p>
          <a:p>
            <a:pPr marL="0" indent="0" algn="ctr">
              <a:buNone/>
            </a:pPr>
            <a:r>
              <a:rPr lang="fr-FR" sz="1800" dirty="0"/>
              <a:t>Problèmes liés à la pression, plus particulièrement les variations de pressions</a:t>
            </a:r>
          </a:p>
        </p:txBody>
      </p:sp>
      <p:graphicFrame>
        <p:nvGraphicFramePr>
          <p:cNvPr id="5" name="Tableau 4">
            <a:extLst>
              <a:ext uri="{FF2B5EF4-FFF2-40B4-BE49-F238E27FC236}">
                <a16:creationId xmlns:a16="http://schemas.microsoft.com/office/drawing/2014/main" id="{9DC994A2-5644-B54A-4AB3-946135DBBE32}"/>
              </a:ext>
            </a:extLst>
          </p:cNvPr>
          <p:cNvGraphicFramePr>
            <a:graphicFrameLocks noGrp="1"/>
          </p:cNvGraphicFramePr>
          <p:nvPr>
            <p:extLst>
              <p:ext uri="{D42A27DB-BD31-4B8C-83A1-F6EECF244321}">
                <p14:modId xmlns:p14="http://schemas.microsoft.com/office/powerpoint/2010/main" val="965310512"/>
              </p:ext>
            </p:extLst>
          </p:nvPr>
        </p:nvGraphicFramePr>
        <p:xfrm>
          <a:off x="316979" y="2202215"/>
          <a:ext cx="10768228" cy="3684356"/>
        </p:xfrm>
        <a:graphic>
          <a:graphicData uri="http://schemas.openxmlformats.org/drawingml/2006/table">
            <a:tbl>
              <a:tblPr firstRow="1" bandRow="1">
                <a:tableStyleId>{5C22544A-7EE6-4342-B048-85BDC9FD1C3A}</a:tableStyleId>
              </a:tblPr>
              <a:tblGrid>
                <a:gridCol w="1568025">
                  <a:extLst>
                    <a:ext uri="{9D8B030D-6E8A-4147-A177-3AD203B41FA5}">
                      <a16:colId xmlns:a16="http://schemas.microsoft.com/office/drawing/2014/main" val="3997699132"/>
                    </a:ext>
                  </a:extLst>
                </a:gridCol>
                <a:gridCol w="716566">
                  <a:extLst>
                    <a:ext uri="{9D8B030D-6E8A-4147-A177-3AD203B41FA5}">
                      <a16:colId xmlns:a16="http://schemas.microsoft.com/office/drawing/2014/main" val="2448774493"/>
                    </a:ext>
                  </a:extLst>
                </a:gridCol>
                <a:gridCol w="1044991">
                  <a:extLst>
                    <a:ext uri="{9D8B030D-6E8A-4147-A177-3AD203B41FA5}">
                      <a16:colId xmlns:a16="http://schemas.microsoft.com/office/drawing/2014/main" val="1644221353"/>
                    </a:ext>
                  </a:extLst>
                </a:gridCol>
                <a:gridCol w="1099543">
                  <a:extLst>
                    <a:ext uri="{9D8B030D-6E8A-4147-A177-3AD203B41FA5}">
                      <a16:colId xmlns:a16="http://schemas.microsoft.com/office/drawing/2014/main" val="833044530"/>
                    </a:ext>
                  </a:extLst>
                </a:gridCol>
                <a:gridCol w="1014413">
                  <a:extLst>
                    <a:ext uri="{9D8B030D-6E8A-4147-A177-3AD203B41FA5}">
                      <a16:colId xmlns:a16="http://schemas.microsoft.com/office/drawing/2014/main" val="3392722564"/>
                    </a:ext>
                  </a:extLst>
                </a:gridCol>
                <a:gridCol w="1243012">
                  <a:extLst>
                    <a:ext uri="{9D8B030D-6E8A-4147-A177-3AD203B41FA5}">
                      <a16:colId xmlns:a16="http://schemas.microsoft.com/office/drawing/2014/main" val="92623426"/>
                    </a:ext>
                  </a:extLst>
                </a:gridCol>
                <a:gridCol w="1285875">
                  <a:extLst>
                    <a:ext uri="{9D8B030D-6E8A-4147-A177-3AD203B41FA5}">
                      <a16:colId xmlns:a16="http://schemas.microsoft.com/office/drawing/2014/main" val="3953576913"/>
                    </a:ext>
                  </a:extLst>
                </a:gridCol>
                <a:gridCol w="1300163">
                  <a:extLst>
                    <a:ext uri="{9D8B030D-6E8A-4147-A177-3AD203B41FA5}">
                      <a16:colId xmlns:a16="http://schemas.microsoft.com/office/drawing/2014/main" val="3269262327"/>
                    </a:ext>
                  </a:extLst>
                </a:gridCol>
                <a:gridCol w="1495640">
                  <a:extLst>
                    <a:ext uri="{9D8B030D-6E8A-4147-A177-3AD203B41FA5}">
                      <a16:colId xmlns:a16="http://schemas.microsoft.com/office/drawing/2014/main" val="101862230"/>
                    </a:ext>
                  </a:extLst>
                </a:gridCol>
              </a:tblGrid>
              <a:tr h="362036">
                <a:tc>
                  <a:txBody>
                    <a:bodyPr/>
                    <a:lstStyle/>
                    <a:p>
                      <a:r>
                        <a:rPr lang="fr-FR" sz="1400" dirty="0"/>
                        <a:t>Signification</a:t>
                      </a:r>
                    </a:p>
                  </a:txBody>
                  <a:tcPr/>
                </a:tc>
                <a:tc>
                  <a:txBody>
                    <a:bodyPr/>
                    <a:lstStyle/>
                    <a:p>
                      <a:r>
                        <a:rPr lang="fr-FR" sz="1400" dirty="0"/>
                        <a:t>Phase</a:t>
                      </a:r>
                    </a:p>
                  </a:txBody>
                  <a:tcPr/>
                </a:tc>
                <a:tc>
                  <a:txBody>
                    <a:bodyPr/>
                    <a:lstStyle/>
                    <a:p>
                      <a:endParaRPr lang="fr-FR" sz="1400" dirty="0"/>
                    </a:p>
                  </a:txBody>
                  <a:tcPr/>
                </a:tc>
                <a:tc>
                  <a:txBody>
                    <a:bodyPr/>
                    <a:lstStyle/>
                    <a:p>
                      <a:r>
                        <a:rPr lang="fr-FR" sz="1400" dirty="0"/>
                        <a:t>Principes</a:t>
                      </a:r>
                    </a:p>
                  </a:txBody>
                  <a:tcPr/>
                </a:tc>
                <a:tc>
                  <a:txBody>
                    <a:bodyPr/>
                    <a:lstStyle/>
                    <a:p>
                      <a:r>
                        <a:rPr lang="fr-FR" sz="1400" dirty="0"/>
                        <a:t>Cause</a:t>
                      </a:r>
                    </a:p>
                  </a:txBody>
                  <a:tcPr/>
                </a:tc>
                <a:tc>
                  <a:txBody>
                    <a:bodyPr/>
                    <a:lstStyle/>
                    <a:p>
                      <a:r>
                        <a:rPr lang="fr-FR" sz="1400" dirty="0"/>
                        <a:t>Symptômes</a:t>
                      </a:r>
                    </a:p>
                  </a:txBody>
                  <a:tcPr/>
                </a:tc>
                <a:tc>
                  <a:txBody>
                    <a:bodyPr/>
                    <a:lstStyle/>
                    <a:p>
                      <a:r>
                        <a:rPr lang="fr-FR" sz="1400" dirty="0"/>
                        <a:t>Prévention</a:t>
                      </a:r>
                    </a:p>
                  </a:txBody>
                  <a:tcPr/>
                </a:tc>
                <a:tc>
                  <a:txBody>
                    <a:bodyPr/>
                    <a:lstStyle/>
                    <a:p>
                      <a:r>
                        <a:rPr lang="fr-FR" sz="1400" dirty="0"/>
                        <a:t>Conduite</a:t>
                      </a:r>
                    </a:p>
                    <a:p>
                      <a:r>
                        <a:rPr lang="fr-FR" sz="1400" dirty="0"/>
                        <a:t>À tenir</a:t>
                      </a:r>
                    </a:p>
                  </a:txBody>
                  <a:tcPr/>
                </a:tc>
                <a:tc>
                  <a:txBody>
                    <a:bodyPr/>
                    <a:lstStyle/>
                    <a:p>
                      <a:r>
                        <a:rPr lang="fr-FR" sz="1400" dirty="0"/>
                        <a:t>Facteurs favorisants</a:t>
                      </a:r>
                    </a:p>
                  </a:txBody>
                  <a:tcPr/>
                </a:tc>
                <a:extLst>
                  <a:ext uri="{0D108BD9-81ED-4DB2-BD59-A6C34878D82A}">
                    <a16:rowId xmlns:a16="http://schemas.microsoft.com/office/drawing/2014/main" val="178200950"/>
                  </a:ext>
                </a:extLst>
              </a:tr>
              <a:tr h="362036">
                <a:tc>
                  <a:txBody>
                    <a:bodyPr/>
                    <a:lstStyle/>
                    <a:p>
                      <a:r>
                        <a:rPr lang="fr-FR" sz="1400" dirty="0"/>
                        <a:t>Sinus</a:t>
                      </a:r>
                    </a:p>
                  </a:txBody>
                  <a:tcPr/>
                </a:tc>
                <a:tc>
                  <a:txBody>
                    <a:bodyPr/>
                    <a:lstStyle/>
                    <a:p>
                      <a:r>
                        <a:rPr lang="fr-FR" sz="1200" dirty="0"/>
                        <a:t>D - R</a:t>
                      </a:r>
                    </a:p>
                  </a:txBody>
                  <a:tcPr/>
                </a:tc>
                <a:tc>
                  <a:txBody>
                    <a:bodyPr/>
                    <a:lstStyle/>
                    <a:p>
                      <a:r>
                        <a:rPr lang="fr-FR" sz="1200" dirty="0"/>
                        <a:t>Douloureux</a:t>
                      </a:r>
                    </a:p>
                  </a:txBody>
                  <a:tcPr/>
                </a:tc>
                <a:tc>
                  <a:txBody>
                    <a:bodyPr/>
                    <a:lstStyle/>
                    <a:p>
                      <a:r>
                        <a:rPr lang="fr-FR" sz="1200" dirty="0"/>
                        <a:t>N1</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tc>
                  <a:txBody>
                    <a:bodyPr/>
                    <a:lstStyle/>
                    <a:p>
                      <a:r>
                        <a:rPr lang="fr-FR" sz="1200" dirty="0"/>
                        <a:t>N1 - PA20 – PA40 - N3 – N4</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extLst>
                  <a:ext uri="{0D108BD9-81ED-4DB2-BD59-A6C34878D82A}">
                    <a16:rowId xmlns:a16="http://schemas.microsoft.com/office/drawing/2014/main" val="1313528701"/>
                  </a:ext>
                </a:extLst>
              </a:tr>
              <a:tr h="362036">
                <a:tc>
                  <a:txBody>
                    <a:bodyPr/>
                    <a:lstStyle/>
                    <a:p>
                      <a:r>
                        <a:rPr lang="fr-FR" sz="1400" dirty="0"/>
                        <a:t>Masque</a:t>
                      </a:r>
                    </a:p>
                  </a:txBody>
                  <a:tcPr/>
                </a:tc>
                <a:tc>
                  <a:txBody>
                    <a:bodyPr/>
                    <a:lstStyle/>
                    <a:p>
                      <a:r>
                        <a:rPr lang="fr-FR" sz="1200" dirty="0"/>
                        <a:t>D</a:t>
                      </a:r>
                    </a:p>
                  </a:txBody>
                  <a:tcPr/>
                </a:tc>
                <a:tc>
                  <a:txBody>
                    <a:bodyPr/>
                    <a:lstStyle/>
                    <a:p>
                      <a:r>
                        <a:rPr lang="fr-FR" sz="1200" dirty="0"/>
                        <a:t>Douloureux</a:t>
                      </a:r>
                    </a:p>
                  </a:txBody>
                  <a:tcPr/>
                </a:tc>
                <a:tc>
                  <a:txBody>
                    <a:bodyPr/>
                    <a:lstStyle/>
                    <a:p>
                      <a:r>
                        <a:rPr lang="fr-FR" sz="1200" dirty="0"/>
                        <a:t>N1</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N1 - PA20 – PA40 - N3 – N4</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extLst>
                  <a:ext uri="{0D108BD9-81ED-4DB2-BD59-A6C34878D82A}">
                    <a16:rowId xmlns:a16="http://schemas.microsoft.com/office/drawing/2014/main" val="818855915"/>
                  </a:ext>
                </a:extLst>
              </a:tr>
              <a:tr h="362036">
                <a:tc>
                  <a:txBody>
                    <a:bodyPr/>
                    <a:lstStyle/>
                    <a:p>
                      <a:r>
                        <a:rPr lang="fr-FR" sz="1400" dirty="0"/>
                        <a:t>Dents</a:t>
                      </a:r>
                    </a:p>
                  </a:txBody>
                  <a:tcPr/>
                </a:tc>
                <a:tc>
                  <a:txBody>
                    <a:bodyPr/>
                    <a:lstStyle/>
                    <a:p>
                      <a:r>
                        <a:rPr lang="fr-FR" sz="1200" dirty="0"/>
                        <a:t>R</a:t>
                      </a:r>
                    </a:p>
                  </a:txBody>
                  <a:tcPr/>
                </a:tc>
                <a:tc>
                  <a:txBody>
                    <a:bodyPr/>
                    <a:lstStyle/>
                    <a:p>
                      <a:r>
                        <a:rPr lang="fr-FR" sz="1200" dirty="0"/>
                        <a:t>Douloureux</a:t>
                      </a:r>
                    </a:p>
                  </a:txBody>
                  <a:tcPr/>
                </a:tc>
                <a:tc>
                  <a:txBody>
                    <a:bodyPr/>
                    <a:lstStyle/>
                    <a:p>
                      <a:endParaRPr lang="fr-FR" sz="1200" dirty="0"/>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N1 - PA20 – PA40 - N3 – N4</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extLst>
                  <a:ext uri="{0D108BD9-81ED-4DB2-BD59-A6C34878D82A}">
                    <a16:rowId xmlns:a16="http://schemas.microsoft.com/office/drawing/2014/main" val="3468838900"/>
                  </a:ext>
                </a:extLst>
              </a:tr>
              <a:tr h="362036">
                <a:tc>
                  <a:txBody>
                    <a:bodyPr/>
                    <a:lstStyle/>
                    <a:p>
                      <a:r>
                        <a:rPr lang="fr-FR" sz="1400" dirty="0"/>
                        <a:t>Tympan (oreille)</a:t>
                      </a:r>
                    </a:p>
                  </a:txBody>
                  <a:tcPr/>
                </a:tc>
                <a:tc>
                  <a:txBody>
                    <a:bodyPr/>
                    <a:lstStyle/>
                    <a:p>
                      <a:r>
                        <a:rPr lang="fr-FR" sz="1200" dirty="0"/>
                        <a:t>D - R</a:t>
                      </a:r>
                    </a:p>
                  </a:txBody>
                  <a:tcPr/>
                </a:tc>
                <a:tc>
                  <a:txBody>
                    <a:bodyPr/>
                    <a:lstStyle/>
                    <a:p>
                      <a:r>
                        <a:rPr lang="fr-FR" sz="1200" dirty="0"/>
                        <a:t>Douloureux</a:t>
                      </a:r>
                    </a:p>
                  </a:txBody>
                  <a:tcPr/>
                </a:tc>
                <a:tc>
                  <a:txBody>
                    <a:bodyPr/>
                    <a:lstStyle/>
                    <a:p>
                      <a:r>
                        <a:rPr lang="fr-FR" sz="1200" dirty="0"/>
                        <a:t>N1</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N1 - PA20 – PA40 - N3 – N4</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extLst>
                  <a:ext uri="{0D108BD9-81ED-4DB2-BD59-A6C34878D82A}">
                    <a16:rowId xmlns:a16="http://schemas.microsoft.com/office/drawing/2014/main" val="740897378"/>
                  </a:ext>
                </a:extLst>
              </a:tr>
              <a:tr h="362036">
                <a:tc>
                  <a:txBody>
                    <a:bodyPr/>
                    <a:lstStyle/>
                    <a:p>
                      <a:r>
                        <a:rPr lang="fr-FR" sz="1400" dirty="0"/>
                        <a:t>Surpression pulmonaire</a:t>
                      </a:r>
                    </a:p>
                  </a:txBody>
                  <a:tcPr/>
                </a:tc>
                <a:tc>
                  <a:txBody>
                    <a:bodyPr/>
                    <a:lstStyle/>
                    <a:p>
                      <a:r>
                        <a:rPr lang="fr-FR" sz="1200" dirty="0"/>
                        <a:t>R</a:t>
                      </a:r>
                    </a:p>
                  </a:txBody>
                  <a:tcPr/>
                </a:tc>
                <a:tc>
                  <a:txBody>
                    <a:bodyPr/>
                    <a:lstStyle/>
                    <a:p>
                      <a:r>
                        <a:rPr lang="fr-FR" sz="1200" dirty="0"/>
                        <a:t>Dangereux</a:t>
                      </a:r>
                    </a:p>
                  </a:txBody>
                  <a:tcPr/>
                </a:tc>
                <a:tc>
                  <a:txBody>
                    <a:bodyPr/>
                    <a:lstStyle/>
                    <a:p>
                      <a:r>
                        <a:rPr lang="fr-FR" sz="1200" dirty="0"/>
                        <a:t>N1</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N1 - PA20 – PA40 - N3 – N4</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extLst>
                  <a:ext uri="{0D108BD9-81ED-4DB2-BD59-A6C34878D82A}">
                    <a16:rowId xmlns:a16="http://schemas.microsoft.com/office/drawing/2014/main" val="4189794078"/>
                  </a:ext>
                </a:extLst>
              </a:tr>
              <a:tr h="362036">
                <a:tc>
                  <a:txBody>
                    <a:bodyPr/>
                    <a:lstStyle/>
                    <a:p>
                      <a:r>
                        <a:rPr lang="fr-FR" sz="1400" dirty="0"/>
                        <a:t>Intestins</a:t>
                      </a:r>
                    </a:p>
                  </a:txBody>
                  <a:tcPr/>
                </a:tc>
                <a:tc>
                  <a:txBody>
                    <a:bodyPr/>
                    <a:lstStyle/>
                    <a:p>
                      <a:r>
                        <a:rPr lang="fr-FR" sz="1200" dirty="0"/>
                        <a:t>R</a:t>
                      </a:r>
                    </a:p>
                  </a:txBody>
                  <a:tcPr/>
                </a:tc>
                <a:tc>
                  <a:txBody>
                    <a:bodyPr/>
                    <a:lstStyle/>
                    <a:p>
                      <a:r>
                        <a:rPr lang="fr-FR" sz="1200" dirty="0"/>
                        <a:t>Rare</a:t>
                      </a:r>
                    </a:p>
                  </a:txBody>
                  <a:tcPr/>
                </a:tc>
                <a:tc>
                  <a:txBody>
                    <a:bodyPr/>
                    <a:lstStyle/>
                    <a:p>
                      <a:endParaRPr lang="fr-FR" sz="1200" dirty="0"/>
                    </a:p>
                  </a:txBody>
                  <a:tcPr/>
                </a:tc>
                <a:tc>
                  <a:txBody>
                    <a:bodyPr/>
                    <a:lstStyle/>
                    <a:p>
                      <a:r>
                        <a:rPr lang="fr-FR" sz="1200" dirty="0"/>
                        <a:t>N4</a:t>
                      </a:r>
                    </a:p>
                  </a:txBody>
                  <a:tcPr/>
                </a:tc>
                <a:tc>
                  <a:txBody>
                    <a:bodyPr/>
                    <a:lstStyle/>
                    <a:p>
                      <a:r>
                        <a:rPr lang="fr-FR" sz="1200" dirty="0"/>
                        <a:t>N4</a:t>
                      </a:r>
                    </a:p>
                  </a:txBody>
                  <a:tcPr/>
                </a:tc>
                <a:tc>
                  <a:txBody>
                    <a:bodyPr/>
                    <a:lstStyle/>
                    <a:p>
                      <a:r>
                        <a:rPr lang="fr-FR" sz="1200" dirty="0"/>
                        <a:t>N4</a:t>
                      </a:r>
                    </a:p>
                  </a:txBody>
                  <a:tcPr/>
                </a:tc>
                <a:tc>
                  <a:txBody>
                    <a:bodyPr/>
                    <a:lstStyle/>
                    <a:p>
                      <a:r>
                        <a:rPr lang="fr-FR" sz="1200" dirty="0"/>
                        <a:t>N4</a:t>
                      </a:r>
                    </a:p>
                  </a:txBody>
                  <a:tcPr/>
                </a:tc>
                <a:tc>
                  <a:txBody>
                    <a:bodyPr/>
                    <a:lstStyle/>
                    <a:p>
                      <a:r>
                        <a:rPr lang="fr-FR" sz="1200" dirty="0"/>
                        <a:t>N4</a:t>
                      </a:r>
                    </a:p>
                  </a:txBody>
                  <a:tcPr/>
                </a:tc>
                <a:extLst>
                  <a:ext uri="{0D108BD9-81ED-4DB2-BD59-A6C34878D82A}">
                    <a16:rowId xmlns:a16="http://schemas.microsoft.com/office/drawing/2014/main" val="1150333049"/>
                  </a:ext>
                </a:extLst>
              </a:tr>
              <a:tr h="362036">
                <a:tc>
                  <a:txBody>
                    <a:bodyPr/>
                    <a:lstStyle/>
                    <a:p>
                      <a:r>
                        <a:rPr lang="fr-FR" sz="1400" dirty="0"/>
                        <a:t>Vertige (oreille)</a:t>
                      </a:r>
                    </a:p>
                  </a:txBody>
                  <a:tcPr/>
                </a:tc>
                <a:tc>
                  <a:txBody>
                    <a:bodyPr/>
                    <a:lstStyle/>
                    <a:p>
                      <a:r>
                        <a:rPr lang="fr-FR" sz="1200" dirty="0"/>
                        <a:t>D - R</a:t>
                      </a:r>
                    </a:p>
                  </a:txBody>
                  <a:tcPr/>
                </a:tc>
                <a:tc>
                  <a:txBody>
                    <a:bodyPr/>
                    <a:lstStyle/>
                    <a:p>
                      <a:r>
                        <a:rPr lang="fr-FR" sz="1200" dirty="0"/>
                        <a:t>Perturbant</a:t>
                      </a:r>
                    </a:p>
                  </a:txBody>
                  <a:tcPr/>
                </a:tc>
                <a:tc>
                  <a:txBody>
                    <a:bodyPr/>
                    <a:lstStyle/>
                    <a:p>
                      <a:r>
                        <a:rPr lang="fr-FR" sz="1200" dirty="0"/>
                        <a:t>N1</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N1 - PA20 – PA40 - N3 – N4</a:t>
                      </a:r>
                    </a:p>
                  </a:txBody>
                  <a:tcPr/>
                </a:tc>
                <a:tc>
                  <a:txBody>
                    <a:bodyPr/>
                    <a:lstStyle/>
                    <a:p>
                      <a:r>
                        <a:rPr lang="fr-FR" sz="1200" dirty="0"/>
                        <a:t>PA20 – PA40</a:t>
                      </a:r>
                    </a:p>
                    <a:p>
                      <a:r>
                        <a:rPr lang="fr-FR" sz="1200" dirty="0"/>
                        <a:t>N3 – N4</a:t>
                      </a:r>
                    </a:p>
                  </a:txBody>
                  <a:tcPr/>
                </a:tc>
                <a:tc>
                  <a:txBody>
                    <a:bodyPr/>
                    <a:lstStyle/>
                    <a:p>
                      <a:r>
                        <a:rPr lang="fr-FR" sz="1200" dirty="0"/>
                        <a:t>PA20 – PA40</a:t>
                      </a:r>
                    </a:p>
                    <a:p>
                      <a:r>
                        <a:rPr lang="fr-FR" sz="1200" dirty="0"/>
                        <a:t>N3 – N4</a:t>
                      </a:r>
                    </a:p>
                  </a:txBody>
                  <a:tcPr/>
                </a:tc>
                <a:extLst>
                  <a:ext uri="{0D108BD9-81ED-4DB2-BD59-A6C34878D82A}">
                    <a16:rowId xmlns:a16="http://schemas.microsoft.com/office/drawing/2014/main" val="3977002084"/>
                  </a:ext>
                </a:extLst>
              </a:tr>
            </a:tbl>
          </a:graphicData>
        </a:graphic>
      </p:graphicFrame>
    </p:spTree>
    <p:extLst>
      <p:ext uri="{BB962C8B-B14F-4D97-AF65-F5344CB8AC3E}">
        <p14:creationId xmlns:p14="http://schemas.microsoft.com/office/powerpoint/2010/main" val="903508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AC5C6-248F-801C-47E7-FF8908BF8A36}"/>
            </a:ext>
          </a:extLst>
        </p:cNvPr>
        <p:cNvGrpSpPr/>
        <p:nvPr/>
      </p:nvGrpSpPr>
      <p:grpSpPr>
        <a:xfrm>
          <a:off x="0" y="0"/>
          <a:ext cx="0" cy="0"/>
          <a:chOff x="0" y="0"/>
          <a:chExt cx="0" cy="0"/>
        </a:xfrm>
      </p:grpSpPr>
      <p:sp>
        <p:nvSpPr>
          <p:cNvPr id="100" name="Rectangle : coins arrondis 99">
            <a:extLst>
              <a:ext uri="{FF2B5EF4-FFF2-40B4-BE49-F238E27FC236}">
                <a16:creationId xmlns:a16="http://schemas.microsoft.com/office/drawing/2014/main" id="{5E6BF254-7291-565B-0F83-ECF9852112E4}"/>
              </a:ext>
            </a:extLst>
          </p:cNvPr>
          <p:cNvSpPr/>
          <p:nvPr/>
        </p:nvSpPr>
        <p:spPr>
          <a:xfrm>
            <a:off x="8785537" y="3929113"/>
            <a:ext cx="2881350" cy="28367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 coins arrondis 145">
            <a:extLst>
              <a:ext uri="{FF2B5EF4-FFF2-40B4-BE49-F238E27FC236}">
                <a16:creationId xmlns:a16="http://schemas.microsoft.com/office/drawing/2014/main" id="{51DD0DCA-D08C-3C00-BF02-7C307E1878F1}"/>
              </a:ext>
            </a:extLst>
          </p:cNvPr>
          <p:cNvSpPr/>
          <p:nvPr/>
        </p:nvSpPr>
        <p:spPr>
          <a:xfrm>
            <a:off x="10164653" y="3951474"/>
            <a:ext cx="132853" cy="909934"/>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2" name="Rectangle : coins arrondis 41">
            <a:extLst>
              <a:ext uri="{FF2B5EF4-FFF2-40B4-BE49-F238E27FC236}">
                <a16:creationId xmlns:a16="http://schemas.microsoft.com/office/drawing/2014/main" id="{068A3195-1412-2B79-D24A-261189754CC0}"/>
              </a:ext>
            </a:extLst>
          </p:cNvPr>
          <p:cNvSpPr/>
          <p:nvPr/>
        </p:nvSpPr>
        <p:spPr>
          <a:xfrm>
            <a:off x="4711870" y="3918859"/>
            <a:ext cx="2881350" cy="28367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 coins arrondis 89">
            <a:extLst>
              <a:ext uri="{FF2B5EF4-FFF2-40B4-BE49-F238E27FC236}">
                <a16:creationId xmlns:a16="http://schemas.microsoft.com/office/drawing/2014/main" id="{9FF5A9B6-71FD-30E2-379C-B63E6F010601}"/>
              </a:ext>
            </a:extLst>
          </p:cNvPr>
          <p:cNvSpPr/>
          <p:nvPr/>
        </p:nvSpPr>
        <p:spPr>
          <a:xfrm>
            <a:off x="6056474" y="3947026"/>
            <a:ext cx="132853" cy="909934"/>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Rectangle : coins arrondis 45">
            <a:extLst>
              <a:ext uri="{FF2B5EF4-FFF2-40B4-BE49-F238E27FC236}">
                <a16:creationId xmlns:a16="http://schemas.microsoft.com/office/drawing/2014/main" id="{60AA1827-B3EF-0FA3-4B11-006FA850B496}"/>
              </a:ext>
            </a:extLst>
          </p:cNvPr>
          <p:cNvSpPr/>
          <p:nvPr/>
        </p:nvSpPr>
        <p:spPr>
          <a:xfrm>
            <a:off x="582453" y="3921572"/>
            <a:ext cx="2881350" cy="28367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168FCEAE-CE97-40C2-BBBD-35C927D653B1}"/>
              </a:ext>
            </a:extLst>
          </p:cNvPr>
          <p:cNvSpPr/>
          <p:nvPr/>
        </p:nvSpPr>
        <p:spPr>
          <a:xfrm>
            <a:off x="3285293" y="1192931"/>
            <a:ext cx="564983" cy="137316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931550C7-9894-BA80-9101-E6DC873DD3B4}"/>
              </a:ext>
            </a:extLst>
          </p:cNvPr>
          <p:cNvSpPr/>
          <p:nvPr/>
        </p:nvSpPr>
        <p:spPr>
          <a:xfrm>
            <a:off x="208258" y="1235330"/>
            <a:ext cx="613929" cy="137316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F76C6C9B-DF15-D0A8-A092-6E2231CC369D}"/>
              </a:ext>
            </a:extLst>
          </p:cNvPr>
          <p:cNvSpPr txBox="1"/>
          <p:nvPr/>
        </p:nvSpPr>
        <p:spPr>
          <a:xfrm>
            <a:off x="0" y="7504"/>
            <a:ext cx="12192000" cy="461665"/>
          </a:xfrm>
          <a:prstGeom prst="rect">
            <a:avLst/>
          </a:prstGeom>
          <a:noFill/>
        </p:spPr>
        <p:txBody>
          <a:bodyPr wrap="square" rtlCol="0">
            <a:spAutoFit/>
          </a:bodyPr>
          <a:lstStyle/>
          <a:p>
            <a:pPr algn="ctr"/>
            <a:r>
              <a:rPr lang="fr-FR" sz="2400" dirty="0"/>
              <a:t>Barotraumatisme: Bonhomme</a:t>
            </a:r>
          </a:p>
        </p:txBody>
      </p:sp>
      <p:sp>
        <p:nvSpPr>
          <p:cNvPr id="6" name="Ellipse 5">
            <a:extLst>
              <a:ext uri="{FF2B5EF4-FFF2-40B4-BE49-F238E27FC236}">
                <a16:creationId xmlns:a16="http://schemas.microsoft.com/office/drawing/2014/main" id="{09B22E7D-2E35-F29E-E1B5-CAA96DCDCCDD}"/>
              </a:ext>
            </a:extLst>
          </p:cNvPr>
          <p:cNvSpPr/>
          <p:nvPr/>
        </p:nvSpPr>
        <p:spPr>
          <a:xfrm>
            <a:off x="582453" y="642712"/>
            <a:ext cx="2881431" cy="330702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    </a:t>
            </a:r>
          </a:p>
        </p:txBody>
      </p:sp>
      <p:sp>
        <p:nvSpPr>
          <p:cNvPr id="7" name="Ellipse 6">
            <a:extLst>
              <a:ext uri="{FF2B5EF4-FFF2-40B4-BE49-F238E27FC236}">
                <a16:creationId xmlns:a16="http://schemas.microsoft.com/office/drawing/2014/main" id="{FA04C4D5-F551-BCAE-7613-A3401760CC99}"/>
              </a:ext>
            </a:extLst>
          </p:cNvPr>
          <p:cNvSpPr/>
          <p:nvPr/>
        </p:nvSpPr>
        <p:spPr>
          <a:xfrm>
            <a:off x="943520" y="1706624"/>
            <a:ext cx="906717" cy="34578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7E47088E-C8F9-EF0E-9840-21C2F993BF18}"/>
              </a:ext>
            </a:extLst>
          </p:cNvPr>
          <p:cNvSpPr/>
          <p:nvPr/>
        </p:nvSpPr>
        <p:spPr>
          <a:xfrm>
            <a:off x="2196018" y="1706623"/>
            <a:ext cx="906717" cy="34578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ecteurs 8">
            <a:extLst>
              <a:ext uri="{FF2B5EF4-FFF2-40B4-BE49-F238E27FC236}">
                <a16:creationId xmlns:a16="http://schemas.microsoft.com/office/drawing/2014/main" id="{DF73BE77-0745-F9EC-3E5A-A3AA8B89E4C1}"/>
              </a:ext>
            </a:extLst>
          </p:cNvPr>
          <p:cNvSpPr/>
          <p:nvPr/>
        </p:nvSpPr>
        <p:spPr>
          <a:xfrm>
            <a:off x="1174082" y="2845158"/>
            <a:ext cx="1698172" cy="875980"/>
          </a:xfrm>
          <a:prstGeom prst="pie">
            <a:avLst>
              <a:gd name="adj1" fmla="val 0"/>
              <a:gd name="adj2" fmla="val 108411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Triangle 9">
            <a:extLst>
              <a:ext uri="{FF2B5EF4-FFF2-40B4-BE49-F238E27FC236}">
                <a16:creationId xmlns:a16="http://schemas.microsoft.com/office/drawing/2014/main" id="{CA945DB5-B229-08C4-3F32-F37A1BB38114}"/>
              </a:ext>
            </a:extLst>
          </p:cNvPr>
          <p:cNvSpPr/>
          <p:nvPr/>
        </p:nvSpPr>
        <p:spPr>
          <a:xfrm>
            <a:off x="1738819" y="2052404"/>
            <a:ext cx="558077" cy="1076414"/>
          </a:xfrm>
          <a:prstGeom prst="triangle">
            <a:avLst>
              <a:gd name="adj" fmla="val 5131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C4E19F5D-B1D9-4880-B752-CB7916615AF0}"/>
              </a:ext>
            </a:extLst>
          </p:cNvPr>
          <p:cNvSpPr/>
          <p:nvPr/>
        </p:nvSpPr>
        <p:spPr>
          <a:xfrm>
            <a:off x="2307437" y="1462330"/>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sp>
        <p:nvSpPr>
          <p:cNvPr id="16" name="Ellipse 15">
            <a:extLst>
              <a:ext uri="{FF2B5EF4-FFF2-40B4-BE49-F238E27FC236}">
                <a16:creationId xmlns:a16="http://schemas.microsoft.com/office/drawing/2014/main" id="{18E682DE-4994-CDAE-FE12-59BB1A0541DA}"/>
              </a:ext>
            </a:extLst>
          </p:cNvPr>
          <p:cNvSpPr/>
          <p:nvPr/>
        </p:nvSpPr>
        <p:spPr>
          <a:xfrm>
            <a:off x="1174082" y="1443099"/>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sp>
        <p:nvSpPr>
          <p:cNvPr id="17" name="Ellipse 16">
            <a:extLst>
              <a:ext uri="{FF2B5EF4-FFF2-40B4-BE49-F238E27FC236}">
                <a16:creationId xmlns:a16="http://schemas.microsoft.com/office/drawing/2014/main" id="{8205C8DC-21DB-DE35-7ED3-3B06DC8FE36E}"/>
              </a:ext>
            </a:extLst>
          </p:cNvPr>
          <p:cNvSpPr/>
          <p:nvPr/>
        </p:nvSpPr>
        <p:spPr>
          <a:xfrm>
            <a:off x="2570839" y="2845157"/>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sp>
        <p:nvSpPr>
          <p:cNvPr id="18" name="Ellipse 17">
            <a:extLst>
              <a:ext uri="{FF2B5EF4-FFF2-40B4-BE49-F238E27FC236}">
                <a16:creationId xmlns:a16="http://schemas.microsoft.com/office/drawing/2014/main" id="{F45B15F7-1963-A1DF-237C-4A40055B8D39}"/>
              </a:ext>
            </a:extLst>
          </p:cNvPr>
          <p:cNvSpPr/>
          <p:nvPr/>
        </p:nvSpPr>
        <p:spPr>
          <a:xfrm>
            <a:off x="953555" y="2851543"/>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cxnSp>
        <p:nvCxnSpPr>
          <p:cNvPr id="23" name="Connecteur droit 22">
            <a:extLst>
              <a:ext uri="{FF2B5EF4-FFF2-40B4-BE49-F238E27FC236}">
                <a16:creationId xmlns:a16="http://schemas.microsoft.com/office/drawing/2014/main" id="{A0598BC5-C08F-B049-EFAC-88EFD4AA89D9}"/>
              </a:ext>
            </a:extLst>
          </p:cNvPr>
          <p:cNvCxnSpPr>
            <a:cxnSpLocks/>
          </p:cNvCxnSpPr>
          <p:nvPr/>
        </p:nvCxnSpPr>
        <p:spPr>
          <a:xfrm flipH="1">
            <a:off x="3260133" y="1595952"/>
            <a:ext cx="73204" cy="41429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5A156C2C-0613-FAB1-68A6-00AEA07A6321}"/>
              </a:ext>
            </a:extLst>
          </p:cNvPr>
          <p:cNvCxnSpPr>
            <a:cxnSpLocks/>
          </p:cNvCxnSpPr>
          <p:nvPr/>
        </p:nvCxnSpPr>
        <p:spPr>
          <a:xfrm flipH="1" flipV="1">
            <a:off x="3333337" y="2208703"/>
            <a:ext cx="130466" cy="24007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Connecteur droit 29">
            <a:extLst>
              <a:ext uri="{FF2B5EF4-FFF2-40B4-BE49-F238E27FC236}">
                <a16:creationId xmlns:a16="http://schemas.microsoft.com/office/drawing/2014/main" id="{2BA640C4-9568-9961-52F7-519C71FB1BD3}"/>
              </a:ext>
            </a:extLst>
          </p:cNvPr>
          <p:cNvCxnSpPr>
            <a:cxnSpLocks/>
          </p:cNvCxnSpPr>
          <p:nvPr/>
        </p:nvCxnSpPr>
        <p:spPr>
          <a:xfrm flipV="1">
            <a:off x="3032157" y="2009719"/>
            <a:ext cx="240555" cy="8537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122B9B85-E917-C637-45A4-653AB21B92D0}"/>
              </a:ext>
            </a:extLst>
          </p:cNvPr>
          <p:cNvCxnSpPr>
            <a:cxnSpLocks/>
          </p:cNvCxnSpPr>
          <p:nvPr/>
        </p:nvCxnSpPr>
        <p:spPr>
          <a:xfrm flipV="1">
            <a:off x="3154662" y="2200788"/>
            <a:ext cx="184623" cy="6513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Connecteur droit 32">
            <a:extLst>
              <a:ext uri="{FF2B5EF4-FFF2-40B4-BE49-F238E27FC236}">
                <a16:creationId xmlns:a16="http://schemas.microsoft.com/office/drawing/2014/main" id="{E1E76A57-2C31-F3BF-E1C2-0D32E9A52C63}"/>
              </a:ext>
            </a:extLst>
          </p:cNvPr>
          <p:cNvCxnSpPr>
            <a:cxnSpLocks/>
          </p:cNvCxnSpPr>
          <p:nvPr/>
        </p:nvCxnSpPr>
        <p:spPr>
          <a:xfrm flipH="1" flipV="1">
            <a:off x="3032157" y="2095090"/>
            <a:ext cx="66573" cy="2135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Connecteur droit 35">
            <a:extLst>
              <a:ext uri="{FF2B5EF4-FFF2-40B4-BE49-F238E27FC236}">
                <a16:creationId xmlns:a16="http://schemas.microsoft.com/office/drawing/2014/main" id="{E7F9217C-14F2-36D5-F1AB-3BDA54DA972C}"/>
              </a:ext>
            </a:extLst>
          </p:cNvPr>
          <p:cNvCxnSpPr>
            <a:cxnSpLocks/>
          </p:cNvCxnSpPr>
          <p:nvPr/>
        </p:nvCxnSpPr>
        <p:spPr>
          <a:xfrm flipH="1" flipV="1">
            <a:off x="3266133" y="2018162"/>
            <a:ext cx="54624" cy="182626"/>
          </a:xfrm>
          <a:prstGeom prst="line">
            <a:avLst/>
          </a:prstGeom>
          <a:ln w="444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8" name="Connecteur droit 37">
            <a:extLst>
              <a:ext uri="{FF2B5EF4-FFF2-40B4-BE49-F238E27FC236}">
                <a16:creationId xmlns:a16="http://schemas.microsoft.com/office/drawing/2014/main" id="{3322CC9D-97F4-FF29-4793-785074B7B73F}"/>
              </a:ext>
            </a:extLst>
          </p:cNvPr>
          <p:cNvCxnSpPr>
            <a:cxnSpLocks/>
          </p:cNvCxnSpPr>
          <p:nvPr/>
        </p:nvCxnSpPr>
        <p:spPr>
          <a:xfrm flipV="1">
            <a:off x="2196018" y="2265920"/>
            <a:ext cx="956416" cy="41891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Connecteur droit 40">
            <a:extLst>
              <a:ext uri="{FF2B5EF4-FFF2-40B4-BE49-F238E27FC236}">
                <a16:creationId xmlns:a16="http://schemas.microsoft.com/office/drawing/2014/main" id="{38E64505-4813-CC4A-8988-D4FF396D6811}"/>
              </a:ext>
            </a:extLst>
          </p:cNvPr>
          <p:cNvCxnSpPr>
            <a:cxnSpLocks/>
          </p:cNvCxnSpPr>
          <p:nvPr/>
        </p:nvCxnSpPr>
        <p:spPr>
          <a:xfrm flipV="1">
            <a:off x="2193790" y="2243724"/>
            <a:ext cx="898405" cy="401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4" name="ZoneTexte 43">
            <a:extLst>
              <a:ext uri="{FF2B5EF4-FFF2-40B4-BE49-F238E27FC236}">
                <a16:creationId xmlns:a16="http://schemas.microsoft.com/office/drawing/2014/main" id="{A2617F7B-7DD4-72E8-D1E7-C76F9DE26E33}"/>
              </a:ext>
            </a:extLst>
          </p:cNvPr>
          <p:cNvSpPr txBox="1"/>
          <p:nvPr/>
        </p:nvSpPr>
        <p:spPr>
          <a:xfrm>
            <a:off x="3246973" y="1912458"/>
            <a:ext cx="295274" cy="369332"/>
          </a:xfrm>
          <a:prstGeom prst="rect">
            <a:avLst/>
          </a:prstGeom>
          <a:noFill/>
        </p:spPr>
        <p:txBody>
          <a:bodyPr wrap="square" rtlCol="0">
            <a:spAutoFit/>
          </a:bodyPr>
          <a:lstStyle/>
          <a:p>
            <a:r>
              <a:rPr lang="fr-FR" dirty="0" err="1">
                <a:solidFill>
                  <a:srgbClr val="FF0000"/>
                </a:solidFill>
              </a:rPr>
              <a:t>T</a:t>
            </a:r>
            <a:endParaRPr lang="fr-FR" dirty="0">
              <a:solidFill>
                <a:srgbClr val="FF0000"/>
              </a:solidFill>
            </a:endParaRPr>
          </a:p>
        </p:txBody>
      </p:sp>
      <p:sp>
        <p:nvSpPr>
          <p:cNvPr id="47" name="Rectangle : coins arrondis 46">
            <a:extLst>
              <a:ext uri="{FF2B5EF4-FFF2-40B4-BE49-F238E27FC236}">
                <a16:creationId xmlns:a16="http://schemas.microsoft.com/office/drawing/2014/main" id="{49667D5A-DBA5-C3BB-D14A-079273B6CC33}"/>
              </a:ext>
            </a:extLst>
          </p:cNvPr>
          <p:cNvSpPr/>
          <p:nvPr/>
        </p:nvSpPr>
        <p:spPr>
          <a:xfrm>
            <a:off x="2341417" y="4471206"/>
            <a:ext cx="724026" cy="913755"/>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48" name="Rectangle : coins arrondis 47">
            <a:extLst>
              <a:ext uri="{FF2B5EF4-FFF2-40B4-BE49-F238E27FC236}">
                <a16:creationId xmlns:a16="http://schemas.microsoft.com/office/drawing/2014/main" id="{0E61D6DC-B5B9-56F2-05A6-432F7EB1994E}"/>
              </a:ext>
            </a:extLst>
          </p:cNvPr>
          <p:cNvSpPr/>
          <p:nvPr/>
        </p:nvSpPr>
        <p:spPr>
          <a:xfrm>
            <a:off x="913391" y="4034003"/>
            <a:ext cx="724026" cy="1370314"/>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49" name="Rectangle : coins arrondis 48">
            <a:extLst>
              <a:ext uri="{FF2B5EF4-FFF2-40B4-BE49-F238E27FC236}">
                <a16:creationId xmlns:a16="http://schemas.microsoft.com/office/drawing/2014/main" id="{4ED9E519-389B-3C77-593F-86D0CC7F45CE}"/>
              </a:ext>
            </a:extLst>
          </p:cNvPr>
          <p:cNvSpPr/>
          <p:nvPr/>
        </p:nvSpPr>
        <p:spPr>
          <a:xfrm>
            <a:off x="1637458" y="4859672"/>
            <a:ext cx="703877" cy="152541"/>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0" name="Rectangle : coins arrondis 49">
            <a:extLst>
              <a:ext uri="{FF2B5EF4-FFF2-40B4-BE49-F238E27FC236}">
                <a16:creationId xmlns:a16="http://schemas.microsoft.com/office/drawing/2014/main" id="{7A6CAF3C-B670-4D94-201A-35CFAED470CE}"/>
              </a:ext>
            </a:extLst>
          </p:cNvPr>
          <p:cNvSpPr/>
          <p:nvPr/>
        </p:nvSpPr>
        <p:spPr>
          <a:xfrm>
            <a:off x="1927057" y="3949739"/>
            <a:ext cx="132853" cy="909934"/>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3" name="Rectangle : coins arrondis 52">
            <a:extLst>
              <a:ext uri="{FF2B5EF4-FFF2-40B4-BE49-F238E27FC236}">
                <a16:creationId xmlns:a16="http://schemas.microsoft.com/office/drawing/2014/main" id="{472F84E6-53C9-2796-BF02-A3958C3FCAA8}"/>
              </a:ext>
            </a:extLst>
          </p:cNvPr>
          <p:cNvSpPr/>
          <p:nvPr/>
        </p:nvSpPr>
        <p:spPr>
          <a:xfrm>
            <a:off x="908606" y="1667864"/>
            <a:ext cx="2220980" cy="1477170"/>
          </a:xfrm>
          <a:prstGeom prst="round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F0000"/>
                </a:solidFill>
              </a:rPr>
              <a:t>M</a:t>
            </a:r>
          </a:p>
        </p:txBody>
      </p:sp>
      <p:cxnSp>
        <p:nvCxnSpPr>
          <p:cNvPr id="54" name="Connecteur droit 53">
            <a:extLst>
              <a:ext uri="{FF2B5EF4-FFF2-40B4-BE49-F238E27FC236}">
                <a16:creationId xmlns:a16="http://schemas.microsoft.com/office/drawing/2014/main" id="{74D9B807-70AA-7672-F03C-4635D15E4075}"/>
              </a:ext>
            </a:extLst>
          </p:cNvPr>
          <p:cNvCxnSpPr>
            <a:cxnSpLocks/>
          </p:cNvCxnSpPr>
          <p:nvPr/>
        </p:nvCxnSpPr>
        <p:spPr>
          <a:xfrm flipV="1">
            <a:off x="3058983" y="1489680"/>
            <a:ext cx="240555" cy="232237"/>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Connecteur droit 54">
            <a:extLst>
              <a:ext uri="{FF2B5EF4-FFF2-40B4-BE49-F238E27FC236}">
                <a16:creationId xmlns:a16="http://schemas.microsoft.com/office/drawing/2014/main" id="{950F1BBA-909B-CC6D-C2D6-AA76A65D8D4C}"/>
              </a:ext>
            </a:extLst>
          </p:cNvPr>
          <p:cNvCxnSpPr>
            <a:cxnSpLocks/>
          </p:cNvCxnSpPr>
          <p:nvPr/>
        </p:nvCxnSpPr>
        <p:spPr>
          <a:xfrm flipH="1" flipV="1">
            <a:off x="739381" y="1595952"/>
            <a:ext cx="204139" cy="160093"/>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 name="Connecteur droit 21">
            <a:extLst>
              <a:ext uri="{FF2B5EF4-FFF2-40B4-BE49-F238E27FC236}">
                <a16:creationId xmlns:a16="http://schemas.microsoft.com/office/drawing/2014/main" id="{F96A574A-C55B-E949-532E-42315BA49BAE}"/>
              </a:ext>
            </a:extLst>
          </p:cNvPr>
          <p:cNvCxnSpPr>
            <a:cxnSpLocks/>
          </p:cNvCxnSpPr>
          <p:nvPr/>
        </p:nvCxnSpPr>
        <p:spPr>
          <a:xfrm>
            <a:off x="2214910" y="2818780"/>
            <a:ext cx="351332" cy="91451"/>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8245CCBD-DB6E-89FC-124F-8F73D2C7ACB6}"/>
              </a:ext>
            </a:extLst>
          </p:cNvPr>
          <p:cNvCxnSpPr>
            <a:cxnSpLocks/>
            <a:stCxn id="18" idx="6"/>
          </p:cNvCxnSpPr>
          <p:nvPr/>
        </p:nvCxnSpPr>
        <p:spPr>
          <a:xfrm flipV="1">
            <a:off x="1537378" y="2821827"/>
            <a:ext cx="287983" cy="109763"/>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C45533A1-4622-4614-FE30-E2F2AC82A224}"/>
              </a:ext>
            </a:extLst>
          </p:cNvPr>
          <p:cNvCxnSpPr>
            <a:cxnSpLocks/>
          </p:cNvCxnSpPr>
          <p:nvPr/>
        </p:nvCxnSpPr>
        <p:spPr>
          <a:xfrm>
            <a:off x="1767430" y="1506191"/>
            <a:ext cx="219075" cy="657366"/>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5" name="Connecteur droit 34">
            <a:extLst>
              <a:ext uri="{FF2B5EF4-FFF2-40B4-BE49-F238E27FC236}">
                <a16:creationId xmlns:a16="http://schemas.microsoft.com/office/drawing/2014/main" id="{FCD562E5-D1D8-0778-4AFB-B22AB5786B86}"/>
              </a:ext>
            </a:extLst>
          </p:cNvPr>
          <p:cNvCxnSpPr>
            <a:cxnSpLocks/>
            <a:stCxn id="15" idx="2"/>
          </p:cNvCxnSpPr>
          <p:nvPr/>
        </p:nvCxnSpPr>
        <p:spPr>
          <a:xfrm flipH="1">
            <a:off x="2057233" y="1542377"/>
            <a:ext cx="250204" cy="62812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43" name="Ellipse 42">
            <a:extLst>
              <a:ext uri="{FF2B5EF4-FFF2-40B4-BE49-F238E27FC236}">
                <a16:creationId xmlns:a16="http://schemas.microsoft.com/office/drawing/2014/main" id="{39F43597-84D5-E926-1EDD-AB1209CAC76C}"/>
              </a:ext>
            </a:extLst>
          </p:cNvPr>
          <p:cNvSpPr/>
          <p:nvPr/>
        </p:nvSpPr>
        <p:spPr>
          <a:xfrm>
            <a:off x="7414710" y="1190218"/>
            <a:ext cx="564983" cy="137316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Ellipse 44">
            <a:extLst>
              <a:ext uri="{FF2B5EF4-FFF2-40B4-BE49-F238E27FC236}">
                <a16:creationId xmlns:a16="http://schemas.microsoft.com/office/drawing/2014/main" id="{0341F019-F415-92EC-1791-65B572109811}"/>
              </a:ext>
            </a:extLst>
          </p:cNvPr>
          <p:cNvSpPr/>
          <p:nvPr/>
        </p:nvSpPr>
        <p:spPr>
          <a:xfrm>
            <a:off x="4337675" y="1177617"/>
            <a:ext cx="613929" cy="137316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Ellipse 55">
            <a:extLst>
              <a:ext uri="{FF2B5EF4-FFF2-40B4-BE49-F238E27FC236}">
                <a16:creationId xmlns:a16="http://schemas.microsoft.com/office/drawing/2014/main" id="{7BC0EC7D-85FA-7B83-F526-8B68B734861B}"/>
              </a:ext>
            </a:extLst>
          </p:cNvPr>
          <p:cNvSpPr/>
          <p:nvPr/>
        </p:nvSpPr>
        <p:spPr>
          <a:xfrm>
            <a:off x="4711870" y="639999"/>
            <a:ext cx="2881431" cy="330702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    </a:t>
            </a:r>
          </a:p>
        </p:txBody>
      </p:sp>
      <p:sp>
        <p:nvSpPr>
          <p:cNvPr id="57" name="Ellipse 56">
            <a:extLst>
              <a:ext uri="{FF2B5EF4-FFF2-40B4-BE49-F238E27FC236}">
                <a16:creationId xmlns:a16="http://schemas.microsoft.com/office/drawing/2014/main" id="{60C69F66-97EB-7604-B7C0-6953A3BA6C5A}"/>
              </a:ext>
            </a:extLst>
          </p:cNvPr>
          <p:cNvSpPr/>
          <p:nvPr/>
        </p:nvSpPr>
        <p:spPr>
          <a:xfrm>
            <a:off x="5072937" y="1703911"/>
            <a:ext cx="906717" cy="34578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Ellipse 57">
            <a:extLst>
              <a:ext uri="{FF2B5EF4-FFF2-40B4-BE49-F238E27FC236}">
                <a16:creationId xmlns:a16="http://schemas.microsoft.com/office/drawing/2014/main" id="{9BD56D4D-3ECB-AE0D-4ECE-E2B2C842941B}"/>
              </a:ext>
            </a:extLst>
          </p:cNvPr>
          <p:cNvSpPr/>
          <p:nvPr/>
        </p:nvSpPr>
        <p:spPr>
          <a:xfrm>
            <a:off x="6325435" y="1703910"/>
            <a:ext cx="906717" cy="34578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Secteurs 59">
            <a:extLst>
              <a:ext uri="{FF2B5EF4-FFF2-40B4-BE49-F238E27FC236}">
                <a16:creationId xmlns:a16="http://schemas.microsoft.com/office/drawing/2014/main" id="{36DE2754-BA72-5E30-E3E1-A049700EE531}"/>
              </a:ext>
            </a:extLst>
          </p:cNvPr>
          <p:cNvSpPr/>
          <p:nvPr/>
        </p:nvSpPr>
        <p:spPr>
          <a:xfrm>
            <a:off x="5303499" y="2842445"/>
            <a:ext cx="1698172" cy="875980"/>
          </a:xfrm>
          <a:prstGeom prst="pie">
            <a:avLst>
              <a:gd name="adj1" fmla="val 0"/>
              <a:gd name="adj2" fmla="val 108411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2" name="Triangle 61">
            <a:extLst>
              <a:ext uri="{FF2B5EF4-FFF2-40B4-BE49-F238E27FC236}">
                <a16:creationId xmlns:a16="http://schemas.microsoft.com/office/drawing/2014/main" id="{CA9A88C3-EB11-354B-C2F1-B09404F7642A}"/>
              </a:ext>
            </a:extLst>
          </p:cNvPr>
          <p:cNvSpPr/>
          <p:nvPr/>
        </p:nvSpPr>
        <p:spPr>
          <a:xfrm>
            <a:off x="5868236" y="2049691"/>
            <a:ext cx="558077" cy="1076414"/>
          </a:xfrm>
          <a:prstGeom prst="triangle">
            <a:avLst>
              <a:gd name="adj" fmla="val 5131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C11855D7-CF4B-AA8F-AE19-2DC8F557EE6B}"/>
              </a:ext>
            </a:extLst>
          </p:cNvPr>
          <p:cNvSpPr/>
          <p:nvPr/>
        </p:nvSpPr>
        <p:spPr>
          <a:xfrm>
            <a:off x="5503263" y="3280435"/>
            <a:ext cx="153640" cy="145996"/>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D</a:t>
            </a:r>
          </a:p>
        </p:txBody>
      </p:sp>
      <p:sp>
        <p:nvSpPr>
          <p:cNvPr id="67" name="Rectangle 66">
            <a:extLst>
              <a:ext uri="{FF2B5EF4-FFF2-40B4-BE49-F238E27FC236}">
                <a16:creationId xmlns:a16="http://schemas.microsoft.com/office/drawing/2014/main" id="{661378B8-EE73-2F43-0F9A-02092BBC9752}"/>
              </a:ext>
            </a:extLst>
          </p:cNvPr>
          <p:cNvSpPr/>
          <p:nvPr/>
        </p:nvSpPr>
        <p:spPr>
          <a:xfrm>
            <a:off x="5694063" y="3280435"/>
            <a:ext cx="153640" cy="145996"/>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D</a:t>
            </a:r>
          </a:p>
        </p:txBody>
      </p:sp>
      <p:sp>
        <p:nvSpPr>
          <p:cNvPr id="72" name="Rectangle 71">
            <a:extLst>
              <a:ext uri="{FF2B5EF4-FFF2-40B4-BE49-F238E27FC236}">
                <a16:creationId xmlns:a16="http://schemas.microsoft.com/office/drawing/2014/main" id="{18CA7148-5AB7-492B-D460-E5EEDFD69F6E}"/>
              </a:ext>
            </a:extLst>
          </p:cNvPr>
          <p:cNvSpPr/>
          <p:nvPr/>
        </p:nvSpPr>
        <p:spPr>
          <a:xfrm>
            <a:off x="5902834" y="3280435"/>
            <a:ext cx="153640" cy="145996"/>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D</a:t>
            </a:r>
          </a:p>
        </p:txBody>
      </p:sp>
      <p:sp>
        <p:nvSpPr>
          <p:cNvPr id="73" name="Rectangle 72">
            <a:extLst>
              <a:ext uri="{FF2B5EF4-FFF2-40B4-BE49-F238E27FC236}">
                <a16:creationId xmlns:a16="http://schemas.microsoft.com/office/drawing/2014/main" id="{849676CB-BFC5-4307-F9A5-FB9C65633448}"/>
              </a:ext>
            </a:extLst>
          </p:cNvPr>
          <p:cNvSpPr/>
          <p:nvPr/>
        </p:nvSpPr>
        <p:spPr>
          <a:xfrm>
            <a:off x="6121829" y="3276269"/>
            <a:ext cx="153640" cy="145996"/>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D</a:t>
            </a:r>
          </a:p>
        </p:txBody>
      </p:sp>
      <p:sp>
        <p:nvSpPr>
          <p:cNvPr id="74" name="Ellipse 73">
            <a:extLst>
              <a:ext uri="{FF2B5EF4-FFF2-40B4-BE49-F238E27FC236}">
                <a16:creationId xmlns:a16="http://schemas.microsoft.com/office/drawing/2014/main" id="{665E2394-CCE0-57EF-E6D2-74B1C7E6BD77}"/>
              </a:ext>
            </a:extLst>
          </p:cNvPr>
          <p:cNvSpPr/>
          <p:nvPr/>
        </p:nvSpPr>
        <p:spPr>
          <a:xfrm>
            <a:off x="6436854" y="1459617"/>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sp>
        <p:nvSpPr>
          <p:cNvPr id="75" name="Ellipse 74">
            <a:extLst>
              <a:ext uri="{FF2B5EF4-FFF2-40B4-BE49-F238E27FC236}">
                <a16:creationId xmlns:a16="http://schemas.microsoft.com/office/drawing/2014/main" id="{D8290D2E-F5D5-77BA-9346-279159FB9361}"/>
              </a:ext>
            </a:extLst>
          </p:cNvPr>
          <p:cNvSpPr/>
          <p:nvPr/>
        </p:nvSpPr>
        <p:spPr>
          <a:xfrm>
            <a:off x="5303499" y="1440386"/>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sp>
        <p:nvSpPr>
          <p:cNvPr id="76" name="Ellipse 75">
            <a:extLst>
              <a:ext uri="{FF2B5EF4-FFF2-40B4-BE49-F238E27FC236}">
                <a16:creationId xmlns:a16="http://schemas.microsoft.com/office/drawing/2014/main" id="{89CC70F1-FD51-95B1-823A-C42188FF4647}"/>
              </a:ext>
            </a:extLst>
          </p:cNvPr>
          <p:cNvSpPr/>
          <p:nvPr/>
        </p:nvSpPr>
        <p:spPr>
          <a:xfrm>
            <a:off x="6700256" y="2842444"/>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sp>
        <p:nvSpPr>
          <p:cNvPr id="77" name="Ellipse 76">
            <a:extLst>
              <a:ext uri="{FF2B5EF4-FFF2-40B4-BE49-F238E27FC236}">
                <a16:creationId xmlns:a16="http://schemas.microsoft.com/office/drawing/2014/main" id="{A22E706D-E2F7-87A2-CAA4-2E226AFB226A}"/>
              </a:ext>
            </a:extLst>
          </p:cNvPr>
          <p:cNvSpPr/>
          <p:nvPr/>
        </p:nvSpPr>
        <p:spPr>
          <a:xfrm>
            <a:off x="5082972" y="2848830"/>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cxnSp>
        <p:nvCxnSpPr>
          <p:cNvPr id="78" name="Connecteur droit 77">
            <a:extLst>
              <a:ext uri="{FF2B5EF4-FFF2-40B4-BE49-F238E27FC236}">
                <a16:creationId xmlns:a16="http://schemas.microsoft.com/office/drawing/2014/main" id="{E22F678D-9B22-4346-2C14-5F005C6D77D0}"/>
              </a:ext>
            </a:extLst>
          </p:cNvPr>
          <p:cNvCxnSpPr>
            <a:cxnSpLocks/>
          </p:cNvCxnSpPr>
          <p:nvPr/>
        </p:nvCxnSpPr>
        <p:spPr>
          <a:xfrm flipH="1">
            <a:off x="7389550" y="1593239"/>
            <a:ext cx="73204" cy="41429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Connecteur droit 78">
            <a:extLst>
              <a:ext uri="{FF2B5EF4-FFF2-40B4-BE49-F238E27FC236}">
                <a16:creationId xmlns:a16="http://schemas.microsoft.com/office/drawing/2014/main" id="{CE3F3521-ABF6-3B7D-101B-41E8F52374AC}"/>
              </a:ext>
            </a:extLst>
          </p:cNvPr>
          <p:cNvCxnSpPr>
            <a:cxnSpLocks/>
          </p:cNvCxnSpPr>
          <p:nvPr/>
        </p:nvCxnSpPr>
        <p:spPr>
          <a:xfrm flipH="1" flipV="1">
            <a:off x="7462754" y="2205990"/>
            <a:ext cx="130466" cy="24007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Connecteur droit 79">
            <a:extLst>
              <a:ext uri="{FF2B5EF4-FFF2-40B4-BE49-F238E27FC236}">
                <a16:creationId xmlns:a16="http://schemas.microsoft.com/office/drawing/2014/main" id="{23B2EB15-D73A-0A12-E711-FD17E7A7D484}"/>
              </a:ext>
            </a:extLst>
          </p:cNvPr>
          <p:cNvCxnSpPr>
            <a:cxnSpLocks/>
          </p:cNvCxnSpPr>
          <p:nvPr/>
        </p:nvCxnSpPr>
        <p:spPr>
          <a:xfrm flipV="1">
            <a:off x="7161574" y="2007006"/>
            <a:ext cx="240555" cy="8537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Connecteur droit 80">
            <a:extLst>
              <a:ext uri="{FF2B5EF4-FFF2-40B4-BE49-F238E27FC236}">
                <a16:creationId xmlns:a16="http://schemas.microsoft.com/office/drawing/2014/main" id="{F977C834-D664-92E6-ADA7-49F3C90672DC}"/>
              </a:ext>
            </a:extLst>
          </p:cNvPr>
          <p:cNvCxnSpPr>
            <a:cxnSpLocks/>
          </p:cNvCxnSpPr>
          <p:nvPr/>
        </p:nvCxnSpPr>
        <p:spPr>
          <a:xfrm flipV="1">
            <a:off x="7284079" y="2198075"/>
            <a:ext cx="184623" cy="6513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Connecteur droit 81">
            <a:extLst>
              <a:ext uri="{FF2B5EF4-FFF2-40B4-BE49-F238E27FC236}">
                <a16:creationId xmlns:a16="http://schemas.microsoft.com/office/drawing/2014/main" id="{DC751A64-BA27-340C-E4BC-5459A13BE854}"/>
              </a:ext>
            </a:extLst>
          </p:cNvPr>
          <p:cNvCxnSpPr>
            <a:cxnSpLocks/>
          </p:cNvCxnSpPr>
          <p:nvPr/>
        </p:nvCxnSpPr>
        <p:spPr>
          <a:xfrm flipH="1" flipV="1">
            <a:off x="7161574" y="2092377"/>
            <a:ext cx="66573" cy="2135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3" name="Connecteur droit 82">
            <a:extLst>
              <a:ext uri="{FF2B5EF4-FFF2-40B4-BE49-F238E27FC236}">
                <a16:creationId xmlns:a16="http://schemas.microsoft.com/office/drawing/2014/main" id="{AC0176A0-7247-9249-CB18-EA35C7F0CBBF}"/>
              </a:ext>
            </a:extLst>
          </p:cNvPr>
          <p:cNvCxnSpPr>
            <a:cxnSpLocks/>
          </p:cNvCxnSpPr>
          <p:nvPr/>
        </p:nvCxnSpPr>
        <p:spPr>
          <a:xfrm flipH="1" flipV="1">
            <a:off x="7395550" y="2015449"/>
            <a:ext cx="54624" cy="182626"/>
          </a:xfrm>
          <a:prstGeom prst="line">
            <a:avLst/>
          </a:prstGeom>
          <a:ln w="444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4" name="Connecteur droit 83">
            <a:extLst>
              <a:ext uri="{FF2B5EF4-FFF2-40B4-BE49-F238E27FC236}">
                <a16:creationId xmlns:a16="http://schemas.microsoft.com/office/drawing/2014/main" id="{21A24E4C-C6DE-273F-9A05-3366DFAEF987}"/>
              </a:ext>
            </a:extLst>
          </p:cNvPr>
          <p:cNvCxnSpPr>
            <a:cxnSpLocks/>
          </p:cNvCxnSpPr>
          <p:nvPr/>
        </p:nvCxnSpPr>
        <p:spPr>
          <a:xfrm flipV="1">
            <a:off x="6325435" y="2263207"/>
            <a:ext cx="956416" cy="41891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5" name="Connecteur droit 84">
            <a:extLst>
              <a:ext uri="{FF2B5EF4-FFF2-40B4-BE49-F238E27FC236}">
                <a16:creationId xmlns:a16="http://schemas.microsoft.com/office/drawing/2014/main" id="{03AEAEAD-ABF7-27D1-5D9E-2BF2DEF717D8}"/>
              </a:ext>
            </a:extLst>
          </p:cNvPr>
          <p:cNvCxnSpPr>
            <a:cxnSpLocks/>
          </p:cNvCxnSpPr>
          <p:nvPr/>
        </p:nvCxnSpPr>
        <p:spPr>
          <a:xfrm flipV="1">
            <a:off x="6323207" y="2241011"/>
            <a:ext cx="898405" cy="401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6" name="ZoneTexte 85">
            <a:extLst>
              <a:ext uri="{FF2B5EF4-FFF2-40B4-BE49-F238E27FC236}">
                <a16:creationId xmlns:a16="http://schemas.microsoft.com/office/drawing/2014/main" id="{B4C97C50-40CB-5674-2177-D29C2683CAA7}"/>
              </a:ext>
            </a:extLst>
          </p:cNvPr>
          <p:cNvSpPr txBox="1"/>
          <p:nvPr/>
        </p:nvSpPr>
        <p:spPr>
          <a:xfrm>
            <a:off x="7376390" y="1909745"/>
            <a:ext cx="295274" cy="369332"/>
          </a:xfrm>
          <a:prstGeom prst="rect">
            <a:avLst/>
          </a:prstGeom>
          <a:noFill/>
        </p:spPr>
        <p:txBody>
          <a:bodyPr wrap="square" rtlCol="0">
            <a:spAutoFit/>
          </a:bodyPr>
          <a:lstStyle/>
          <a:p>
            <a:r>
              <a:rPr lang="fr-FR" dirty="0" err="1">
                <a:solidFill>
                  <a:srgbClr val="FF0000"/>
                </a:solidFill>
              </a:rPr>
              <a:t>T</a:t>
            </a:r>
            <a:endParaRPr lang="fr-FR" dirty="0">
              <a:solidFill>
                <a:srgbClr val="FF0000"/>
              </a:solidFill>
            </a:endParaRPr>
          </a:p>
        </p:txBody>
      </p:sp>
      <p:sp>
        <p:nvSpPr>
          <p:cNvPr id="87" name="Rectangle : coins arrondis 86">
            <a:extLst>
              <a:ext uri="{FF2B5EF4-FFF2-40B4-BE49-F238E27FC236}">
                <a16:creationId xmlns:a16="http://schemas.microsoft.com/office/drawing/2014/main" id="{C3C5C3D6-960C-FE5C-CF2D-8162A6A59B75}"/>
              </a:ext>
            </a:extLst>
          </p:cNvPr>
          <p:cNvSpPr/>
          <p:nvPr/>
        </p:nvSpPr>
        <p:spPr>
          <a:xfrm>
            <a:off x="6470834" y="4968803"/>
            <a:ext cx="724026" cy="413445"/>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88" name="Rectangle : coins arrondis 87">
            <a:extLst>
              <a:ext uri="{FF2B5EF4-FFF2-40B4-BE49-F238E27FC236}">
                <a16:creationId xmlns:a16="http://schemas.microsoft.com/office/drawing/2014/main" id="{E2142388-D061-96E0-F759-02F6E7CAF2F1}"/>
              </a:ext>
            </a:extLst>
          </p:cNvPr>
          <p:cNvSpPr/>
          <p:nvPr/>
        </p:nvSpPr>
        <p:spPr>
          <a:xfrm>
            <a:off x="5042808" y="4955164"/>
            <a:ext cx="724026" cy="446439"/>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89" name="Rectangle : coins arrondis 88">
            <a:extLst>
              <a:ext uri="{FF2B5EF4-FFF2-40B4-BE49-F238E27FC236}">
                <a16:creationId xmlns:a16="http://schemas.microsoft.com/office/drawing/2014/main" id="{77A9EC86-A7A8-FE5F-B838-6B3E689ED828}"/>
              </a:ext>
            </a:extLst>
          </p:cNvPr>
          <p:cNvSpPr/>
          <p:nvPr/>
        </p:nvSpPr>
        <p:spPr>
          <a:xfrm>
            <a:off x="5766875" y="4737039"/>
            <a:ext cx="703877" cy="152541"/>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3" name="Rectangle : coins arrondis 92">
            <a:extLst>
              <a:ext uri="{FF2B5EF4-FFF2-40B4-BE49-F238E27FC236}">
                <a16:creationId xmlns:a16="http://schemas.microsoft.com/office/drawing/2014/main" id="{B9830B65-D126-74B0-58F9-74701DAB55B6}"/>
              </a:ext>
            </a:extLst>
          </p:cNvPr>
          <p:cNvSpPr/>
          <p:nvPr/>
        </p:nvSpPr>
        <p:spPr>
          <a:xfrm>
            <a:off x="5038023" y="1665151"/>
            <a:ext cx="2220980" cy="1477170"/>
          </a:xfrm>
          <a:prstGeom prst="round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F0000"/>
                </a:solidFill>
              </a:rPr>
              <a:t>M</a:t>
            </a:r>
          </a:p>
        </p:txBody>
      </p:sp>
      <p:cxnSp>
        <p:nvCxnSpPr>
          <p:cNvPr id="94" name="Connecteur droit 93">
            <a:extLst>
              <a:ext uri="{FF2B5EF4-FFF2-40B4-BE49-F238E27FC236}">
                <a16:creationId xmlns:a16="http://schemas.microsoft.com/office/drawing/2014/main" id="{AD79C3A5-19F0-D9C3-6B00-6E491DEA7FC3}"/>
              </a:ext>
            </a:extLst>
          </p:cNvPr>
          <p:cNvCxnSpPr>
            <a:cxnSpLocks/>
          </p:cNvCxnSpPr>
          <p:nvPr/>
        </p:nvCxnSpPr>
        <p:spPr>
          <a:xfrm flipV="1">
            <a:off x="7188400" y="1486967"/>
            <a:ext cx="240555" cy="232237"/>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5" name="Connecteur droit 94">
            <a:extLst>
              <a:ext uri="{FF2B5EF4-FFF2-40B4-BE49-F238E27FC236}">
                <a16:creationId xmlns:a16="http://schemas.microsoft.com/office/drawing/2014/main" id="{6601E64C-B0DE-D44A-8D1A-8BAB212050E2}"/>
              </a:ext>
            </a:extLst>
          </p:cNvPr>
          <p:cNvCxnSpPr>
            <a:cxnSpLocks/>
          </p:cNvCxnSpPr>
          <p:nvPr/>
        </p:nvCxnSpPr>
        <p:spPr>
          <a:xfrm flipH="1" flipV="1">
            <a:off x="4868798" y="1593239"/>
            <a:ext cx="204139" cy="160093"/>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6" name="Connecteur droit 95">
            <a:extLst>
              <a:ext uri="{FF2B5EF4-FFF2-40B4-BE49-F238E27FC236}">
                <a16:creationId xmlns:a16="http://schemas.microsoft.com/office/drawing/2014/main" id="{D66A5F3C-2A2D-EA19-06C6-145F5371C783}"/>
              </a:ext>
            </a:extLst>
          </p:cNvPr>
          <p:cNvCxnSpPr>
            <a:cxnSpLocks/>
          </p:cNvCxnSpPr>
          <p:nvPr/>
        </p:nvCxnSpPr>
        <p:spPr>
          <a:xfrm>
            <a:off x="6344327" y="2816067"/>
            <a:ext cx="351332" cy="91451"/>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97" name="Connecteur droit 96">
            <a:extLst>
              <a:ext uri="{FF2B5EF4-FFF2-40B4-BE49-F238E27FC236}">
                <a16:creationId xmlns:a16="http://schemas.microsoft.com/office/drawing/2014/main" id="{D1D222FB-0DD1-CB02-0293-A733A28967D8}"/>
              </a:ext>
            </a:extLst>
          </p:cNvPr>
          <p:cNvCxnSpPr>
            <a:cxnSpLocks/>
            <a:stCxn id="77" idx="6"/>
          </p:cNvCxnSpPr>
          <p:nvPr/>
        </p:nvCxnSpPr>
        <p:spPr>
          <a:xfrm flipV="1">
            <a:off x="5666795" y="2819114"/>
            <a:ext cx="287983" cy="109763"/>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98" name="Connecteur droit 97">
            <a:extLst>
              <a:ext uri="{FF2B5EF4-FFF2-40B4-BE49-F238E27FC236}">
                <a16:creationId xmlns:a16="http://schemas.microsoft.com/office/drawing/2014/main" id="{13818FDD-000B-D3F6-2ADA-AD90AB257615}"/>
              </a:ext>
            </a:extLst>
          </p:cNvPr>
          <p:cNvCxnSpPr>
            <a:cxnSpLocks/>
          </p:cNvCxnSpPr>
          <p:nvPr/>
        </p:nvCxnSpPr>
        <p:spPr>
          <a:xfrm>
            <a:off x="5896847" y="1503478"/>
            <a:ext cx="219075" cy="657366"/>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99" name="Connecteur droit 98">
            <a:extLst>
              <a:ext uri="{FF2B5EF4-FFF2-40B4-BE49-F238E27FC236}">
                <a16:creationId xmlns:a16="http://schemas.microsoft.com/office/drawing/2014/main" id="{6FE90D52-16F3-D515-E4A2-B6DB82273E00}"/>
              </a:ext>
            </a:extLst>
          </p:cNvPr>
          <p:cNvCxnSpPr>
            <a:cxnSpLocks/>
            <a:stCxn id="74" idx="2"/>
          </p:cNvCxnSpPr>
          <p:nvPr/>
        </p:nvCxnSpPr>
        <p:spPr>
          <a:xfrm flipH="1">
            <a:off x="6186650" y="1539664"/>
            <a:ext cx="250204" cy="62812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1" name="Ellipse 100">
            <a:extLst>
              <a:ext uri="{FF2B5EF4-FFF2-40B4-BE49-F238E27FC236}">
                <a16:creationId xmlns:a16="http://schemas.microsoft.com/office/drawing/2014/main" id="{5A020FDB-C3DE-C403-257D-B066C06BA334}"/>
              </a:ext>
            </a:extLst>
          </p:cNvPr>
          <p:cNvSpPr/>
          <p:nvPr/>
        </p:nvSpPr>
        <p:spPr>
          <a:xfrm>
            <a:off x="11488377" y="1200472"/>
            <a:ext cx="564983" cy="137316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Ellipse 101">
            <a:extLst>
              <a:ext uri="{FF2B5EF4-FFF2-40B4-BE49-F238E27FC236}">
                <a16:creationId xmlns:a16="http://schemas.microsoft.com/office/drawing/2014/main" id="{59C944B8-D593-E283-A4D3-3F164CAFB10D}"/>
              </a:ext>
            </a:extLst>
          </p:cNvPr>
          <p:cNvSpPr/>
          <p:nvPr/>
        </p:nvSpPr>
        <p:spPr>
          <a:xfrm>
            <a:off x="8411342" y="1194746"/>
            <a:ext cx="613929" cy="137316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Ellipse 102">
            <a:extLst>
              <a:ext uri="{FF2B5EF4-FFF2-40B4-BE49-F238E27FC236}">
                <a16:creationId xmlns:a16="http://schemas.microsoft.com/office/drawing/2014/main" id="{DA696D5D-9E33-5326-ACF9-2196F226071D}"/>
              </a:ext>
            </a:extLst>
          </p:cNvPr>
          <p:cNvSpPr/>
          <p:nvPr/>
        </p:nvSpPr>
        <p:spPr>
          <a:xfrm>
            <a:off x="8785537" y="650253"/>
            <a:ext cx="2881431" cy="330702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    </a:t>
            </a:r>
          </a:p>
        </p:txBody>
      </p:sp>
      <p:sp>
        <p:nvSpPr>
          <p:cNvPr id="104" name="Ellipse 103">
            <a:extLst>
              <a:ext uri="{FF2B5EF4-FFF2-40B4-BE49-F238E27FC236}">
                <a16:creationId xmlns:a16="http://schemas.microsoft.com/office/drawing/2014/main" id="{B0653F8D-9650-2A55-3E50-3DC9C2EEDB7B}"/>
              </a:ext>
            </a:extLst>
          </p:cNvPr>
          <p:cNvSpPr/>
          <p:nvPr/>
        </p:nvSpPr>
        <p:spPr>
          <a:xfrm>
            <a:off x="9146604" y="1714165"/>
            <a:ext cx="906717" cy="34578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Ellipse 104">
            <a:extLst>
              <a:ext uri="{FF2B5EF4-FFF2-40B4-BE49-F238E27FC236}">
                <a16:creationId xmlns:a16="http://schemas.microsoft.com/office/drawing/2014/main" id="{0B715436-39CF-6E3B-7297-E87B9E4E93FD}"/>
              </a:ext>
            </a:extLst>
          </p:cNvPr>
          <p:cNvSpPr/>
          <p:nvPr/>
        </p:nvSpPr>
        <p:spPr>
          <a:xfrm>
            <a:off x="10399102" y="1714164"/>
            <a:ext cx="906717" cy="34578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Secteurs 105">
            <a:extLst>
              <a:ext uri="{FF2B5EF4-FFF2-40B4-BE49-F238E27FC236}">
                <a16:creationId xmlns:a16="http://schemas.microsoft.com/office/drawing/2014/main" id="{8860C7DF-C9D4-7E76-6056-A646AF9DC1FA}"/>
              </a:ext>
            </a:extLst>
          </p:cNvPr>
          <p:cNvSpPr/>
          <p:nvPr/>
        </p:nvSpPr>
        <p:spPr>
          <a:xfrm>
            <a:off x="9377166" y="2852699"/>
            <a:ext cx="1698172" cy="875980"/>
          </a:xfrm>
          <a:prstGeom prst="pie">
            <a:avLst>
              <a:gd name="adj1" fmla="val 0"/>
              <a:gd name="adj2" fmla="val 108411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7" name="Triangle 106">
            <a:extLst>
              <a:ext uri="{FF2B5EF4-FFF2-40B4-BE49-F238E27FC236}">
                <a16:creationId xmlns:a16="http://schemas.microsoft.com/office/drawing/2014/main" id="{26D0613B-83A8-4503-61E2-EF7F5B58B9FF}"/>
              </a:ext>
            </a:extLst>
          </p:cNvPr>
          <p:cNvSpPr/>
          <p:nvPr/>
        </p:nvSpPr>
        <p:spPr>
          <a:xfrm>
            <a:off x="9941903" y="2059945"/>
            <a:ext cx="558077" cy="1076414"/>
          </a:xfrm>
          <a:prstGeom prst="triangle">
            <a:avLst>
              <a:gd name="adj" fmla="val 5131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E7CD354F-2B5C-4BE8-C019-208D12B9B6CB}"/>
              </a:ext>
            </a:extLst>
          </p:cNvPr>
          <p:cNvSpPr/>
          <p:nvPr/>
        </p:nvSpPr>
        <p:spPr>
          <a:xfrm>
            <a:off x="9576930" y="3290689"/>
            <a:ext cx="153640" cy="145996"/>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D</a:t>
            </a:r>
          </a:p>
        </p:txBody>
      </p:sp>
      <p:sp>
        <p:nvSpPr>
          <p:cNvPr id="109" name="Rectangle 108">
            <a:extLst>
              <a:ext uri="{FF2B5EF4-FFF2-40B4-BE49-F238E27FC236}">
                <a16:creationId xmlns:a16="http://schemas.microsoft.com/office/drawing/2014/main" id="{0DEDFC6C-D951-D123-44F6-1EB0048482B4}"/>
              </a:ext>
            </a:extLst>
          </p:cNvPr>
          <p:cNvSpPr/>
          <p:nvPr/>
        </p:nvSpPr>
        <p:spPr>
          <a:xfrm>
            <a:off x="9767730" y="3290689"/>
            <a:ext cx="153640" cy="145996"/>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D</a:t>
            </a:r>
          </a:p>
        </p:txBody>
      </p:sp>
      <p:sp>
        <p:nvSpPr>
          <p:cNvPr id="110" name="Rectangle 109">
            <a:extLst>
              <a:ext uri="{FF2B5EF4-FFF2-40B4-BE49-F238E27FC236}">
                <a16:creationId xmlns:a16="http://schemas.microsoft.com/office/drawing/2014/main" id="{DDB12D25-301A-1C3C-3EF0-77799FF7744E}"/>
              </a:ext>
            </a:extLst>
          </p:cNvPr>
          <p:cNvSpPr/>
          <p:nvPr/>
        </p:nvSpPr>
        <p:spPr>
          <a:xfrm>
            <a:off x="9976501" y="3290689"/>
            <a:ext cx="153640" cy="145996"/>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D</a:t>
            </a:r>
          </a:p>
        </p:txBody>
      </p:sp>
      <p:sp>
        <p:nvSpPr>
          <p:cNvPr id="111" name="Rectangle 110">
            <a:extLst>
              <a:ext uri="{FF2B5EF4-FFF2-40B4-BE49-F238E27FC236}">
                <a16:creationId xmlns:a16="http://schemas.microsoft.com/office/drawing/2014/main" id="{F2428FA9-C1B6-C21D-7840-B174626F108C}"/>
              </a:ext>
            </a:extLst>
          </p:cNvPr>
          <p:cNvSpPr/>
          <p:nvPr/>
        </p:nvSpPr>
        <p:spPr>
          <a:xfrm>
            <a:off x="10195496" y="3286523"/>
            <a:ext cx="153640" cy="145996"/>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D</a:t>
            </a:r>
          </a:p>
        </p:txBody>
      </p:sp>
      <p:sp>
        <p:nvSpPr>
          <p:cNvPr id="112" name="Ellipse 111">
            <a:extLst>
              <a:ext uri="{FF2B5EF4-FFF2-40B4-BE49-F238E27FC236}">
                <a16:creationId xmlns:a16="http://schemas.microsoft.com/office/drawing/2014/main" id="{18C06341-4061-3125-DCBA-1B025FA910C9}"/>
              </a:ext>
            </a:extLst>
          </p:cNvPr>
          <p:cNvSpPr/>
          <p:nvPr/>
        </p:nvSpPr>
        <p:spPr>
          <a:xfrm>
            <a:off x="10510521" y="1469871"/>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sp>
        <p:nvSpPr>
          <p:cNvPr id="113" name="Ellipse 112">
            <a:extLst>
              <a:ext uri="{FF2B5EF4-FFF2-40B4-BE49-F238E27FC236}">
                <a16:creationId xmlns:a16="http://schemas.microsoft.com/office/drawing/2014/main" id="{60BA2C04-8368-4BEE-1E96-D02187502C62}"/>
              </a:ext>
            </a:extLst>
          </p:cNvPr>
          <p:cNvSpPr/>
          <p:nvPr/>
        </p:nvSpPr>
        <p:spPr>
          <a:xfrm>
            <a:off x="9377166" y="1450640"/>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sp>
        <p:nvSpPr>
          <p:cNvPr id="114" name="Ellipse 113">
            <a:extLst>
              <a:ext uri="{FF2B5EF4-FFF2-40B4-BE49-F238E27FC236}">
                <a16:creationId xmlns:a16="http://schemas.microsoft.com/office/drawing/2014/main" id="{16CB8EDF-D64B-0045-65D0-A6CACBCACB1A}"/>
              </a:ext>
            </a:extLst>
          </p:cNvPr>
          <p:cNvSpPr/>
          <p:nvPr/>
        </p:nvSpPr>
        <p:spPr>
          <a:xfrm>
            <a:off x="10773923" y="2852698"/>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sp>
        <p:nvSpPr>
          <p:cNvPr id="115" name="Ellipse 114">
            <a:extLst>
              <a:ext uri="{FF2B5EF4-FFF2-40B4-BE49-F238E27FC236}">
                <a16:creationId xmlns:a16="http://schemas.microsoft.com/office/drawing/2014/main" id="{1F227B4F-E8CF-9875-17E7-70A53546E55F}"/>
              </a:ext>
            </a:extLst>
          </p:cNvPr>
          <p:cNvSpPr/>
          <p:nvPr/>
        </p:nvSpPr>
        <p:spPr>
          <a:xfrm>
            <a:off x="9156639" y="2859084"/>
            <a:ext cx="583823" cy="16009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S</a:t>
            </a:r>
          </a:p>
        </p:txBody>
      </p:sp>
      <p:cxnSp>
        <p:nvCxnSpPr>
          <p:cNvPr id="116" name="Connecteur droit 115">
            <a:extLst>
              <a:ext uri="{FF2B5EF4-FFF2-40B4-BE49-F238E27FC236}">
                <a16:creationId xmlns:a16="http://schemas.microsoft.com/office/drawing/2014/main" id="{6F008A4F-253D-2F39-548A-1D5C827CDC82}"/>
              </a:ext>
            </a:extLst>
          </p:cNvPr>
          <p:cNvCxnSpPr>
            <a:cxnSpLocks/>
          </p:cNvCxnSpPr>
          <p:nvPr/>
        </p:nvCxnSpPr>
        <p:spPr>
          <a:xfrm flipH="1">
            <a:off x="11463217" y="1603493"/>
            <a:ext cx="73204" cy="41429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7" name="Connecteur droit 116">
            <a:extLst>
              <a:ext uri="{FF2B5EF4-FFF2-40B4-BE49-F238E27FC236}">
                <a16:creationId xmlns:a16="http://schemas.microsoft.com/office/drawing/2014/main" id="{2084647E-1978-24BE-9DE6-79EB90635E2C}"/>
              </a:ext>
            </a:extLst>
          </p:cNvPr>
          <p:cNvCxnSpPr>
            <a:cxnSpLocks/>
          </p:cNvCxnSpPr>
          <p:nvPr/>
        </p:nvCxnSpPr>
        <p:spPr>
          <a:xfrm flipH="1" flipV="1">
            <a:off x="11536421" y="2216244"/>
            <a:ext cx="130466" cy="24007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8" name="Connecteur droit 117">
            <a:extLst>
              <a:ext uri="{FF2B5EF4-FFF2-40B4-BE49-F238E27FC236}">
                <a16:creationId xmlns:a16="http://schemas.microsoft.com/office/drawing/2014/main" id="{0EFF3BB1-BA7F-19EC-B75C-69007C272D19}"/>
              </a:ext>
            </a:extLst>
          </p:cNvPr>
          <p:cNvCxnSpPr>
            <a:cxnSpLocks/>
          </p:cNvCxnSpPr>
          <p:nvPr/>
        </p:nvCxnSpPr>
        <p:spPr>
          <a:xfrm flipV="1">
            <a:off x="11235241" y="2017260"/>
            <a:ext cx="240555" cy="8537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 name="Connecteur droit 118">
            <a:extLst>
              <a:ext uri="{FF2B5EF4-FFF2-40B4-BE49-F238E27FC236}">
                <a16:creationId xmlns:a16="http://schemas.microsoft.com/office/drawing/2014/main" id="{98285F58-2728-A5C8-87A1-48F43B3DEDCC}"/>
              </a:ext>
            </a:extLst>
          </p:cNvPr>
          <p:cNvCxnSpPr>
            <a:cxnSpLocks/>
          </p:cNvCxnSpPr>
          <p:nvPr/>
        </p:nvCxnSpPr>
        <p:spPr>
          <a:xfrm flipV="1">
            <a:off x="11357746" y="2208329"/>
            <a:ext cx="184623" cy="6513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0" name="Connecteur droit 119">
            <a:extLst>
              <a:ext uri="{FF2B5EF4-FFF2-40B4-BE49-F238E27FC236}">
                <a16:creationId xmlns:a16="http://schemas.microsoft.com/office/drawing/2014/main" id="{5879F1B2-65DF-1579-A286-814ED5B341FE}"/>
              </a:ext>
            </a:extLst>
          </p:cNvPr>
          <p:cNvCxnSpPr>
            <a:cxnSpLocks/>
          </p:cNvCxnSpPr>
          <p:nvPr/>
        </p:nvCxnSpPr>
        <p:spPr>
          <a:xfrm flipH="1" flipV="1">
            <a:off x="11235241" y="2102631"/>
            <a:ext cx="66573" cy="2135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1" name="Connecteur droit 120">
            <a:extLst>
              <a:ext uri="{FF2B5EF4-FFF2-40B4-BE49-F238E27FC236}">
                <a16:creationId xmlns:a16="http://schemas.microsoft.com/office/drawing/2014/main" id="{C4214B76-977C-68E0-0139-E92DB16F7F0A}"/>
              </a:ext>
            </a:extLst>
          </p:cNvPr>
          <p:cNvCxnSpPr>
            <a:cxnSpLocks/>
          </p:cNvCxnSpPr>
          <p:nvPr/>
        </p:nvCxnSpPr>
        <p:spPr>
          <a:xfrm flipH="1" flipV="1">
            <a:off x="11469217" y="2025703"/>
            <a:ext cx="54624" cy="182626"/>
          </a:xfrm>
          <a:prstGeom prst="line">
            <a:avLst/>
          </a:prstGeom>
          <a:ln w="444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2" name="Connecteur droit 121">
            <a:extLst>
              <a:ext uri="{FF2B5EF4-FFF2-40B4-BE49-F238E27FC236}">
                <a16:creationId xmlns:a16="http://schemas.microsoft.com/office/drawing/2014/main" id="{CCEB1F84-F60A-7B3E-FE72-51E401A971C2}"/>
              </a:ext>
            </a:extLst>
          </p:cNvPr>
          <p:cNvCxnSpPr>
            <a:cxnSpLocks/>
          </p:cNvCxnSpPr>
          <p:nvPr/>
        </p:nvCxnSpPr>
        <p:spPr>
          <a:xfrm flipV="1">
            <a:off x="10399102" y="2273461"/>
            <a:ext cx="956416" cy="41891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3" name="Connecteur droit 122">
            <a:extLst>
              <a:ext uri="{FF2B5EF4-FFF2-40B4-BE49-F238E27FC236}">
                <a16:creationId xmlns:a16="http://schemas.microsoft.com/office/drawing/2014/main" id="{184B64B8-1A73-9E70-2BD8-BC3AA9D52449}"/>
              </a:ext>
            </a:extLst>
          </p:cNvPr>
          <p:cNvCxnSpPr>
            <a:cxnSpLocks/>
          </p:cNvCxnSpPr>
          <p:nvPr/>
        </p:nvCxnSpPr>
        <p:spPr>
          <a:xfrm flipV="1">
            <a:off x="10396874" y="2251265"/>
            <a:ext cx="898405" cy="401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4" name="ZoneTexte 123">
            <a:extLst>
              <a:ext uri="{FF2B5EF4-FFF2-40B4-BE49-F238E27FC236}">
                <a16:creationId xmlns:a16="http://schemas.microsoft.com/office/drawing/2014/main" id="{2FEC47A0-4795-B556-8F0C-BE74AD4BBDB8}"/>
              </a:ext>
            </a:extLst>
          </p:cNvPr>
          <p:cNvSpPr txBox="1"/>
          <p:nvPr/>
        </p:nvSpPr>
        <p:spPr>
          <a:xfrm>
            <a:off x="11450057" y="1919999"/>
            <a:ext cx="295274" cy="369332"/>
          </a:xfrm>
          <a:prstGeom prst="rect">
            <a:avLst/>
          </a:prstGeom>
          <a:noFill/>
        </p:spPr>
        <p:txBody>
          <a:bodyPr wrap="square" rtlCol="0">
            <a:spAutoFit/>
          </a:bodyPr>
          <a:lstStyle/>
          <a:p>
            <a:r>
              <a:rPr lang="fr-FR" dirty="0" err="1">
                <a:solidFill>
                  <a:srgbClr val="FF0000"/>
                </a:solidFill>
              </a:rPr>
              <a:t>T</a:t>
            </a:r>
            <a:endParaRPr lang="fr-FR" dirty="0">
              <a:solidFill>
                <a:srgbClr val="FF0000"/>
              </a:solidFill>
            </a:endParaRPr>
          </a:p>
        </p:txBody>
      </p:sp>
      <p:sp>
        <p:nvSpPr>
          <p:cNvPr id="129" name="Forme libre 128">
            <a:extLst>
              <a:ext uri="{FF2B5EF4-FFF2-40B4-BE49-F238E27FC236}">
                <a16:creationId xmlns:a16="http://schemas.microsoft.com/office/drawing/2014/main" id="{FC330C59-2C37-3494-2F47-EE71652149ED}"/>
              </a:ext>
            </a:extLst>
          </p:cNvPr>
          <p:cNvSpPr/>
          <p:nvPr/>
        </p:nvSpPr>
        <p:spPr>
          <a:xfrm>
            <a:off x="9409616" y="5193451"/>
            <a:ext cx="1665722" cy="1439056"/>
          </a:xfrm>
          <a:custGeom>
            <a:avLst/>
            <a:gdLst>
              <a:gd name="connsiteX0" fmla="*/ 776302 w 1665722"/>
              <a:gd name="connsiteY0" fmla="*/ 0 h 1439056"/>
              <a:gd name="connsiteX1" fmla="*/ 768806 w 1665722"/>
              <a:gd name="connsiteY1" fmla="*/ 292308 h 1439056"/>
              <a:gd name="connsiteX2" fmla="*/ 1473344 w 1665722"/>
              <a:gd name="connsiteY2" fmla="*/ 337279 h 1439056"/>
              <a:gd name="connsiteX3" fmla="*/ 1570780 w 1665722"/>
              <a:gd name="connsiteY3" fmla="*/ 524656 h 1439056"/>
              <a:gd name="connsiteX4" fmla="*/ 251646 w 1665722"/>
              <a:gd name="connsiteY4" fmla="*/ 554636 h 1439056"/>
              <a:gd name="connsiteX5" fmla="*/ 101744 w 1665722"/>
              <a:gd name="connsiteY5" fmla="*/ 846944 h 1439056"/>
              <a:gd name="connsiteX6" fmla="*/ 1405888 w 1665722"/>
              <a:gd name="connsiteY6" fmla="*/ 816964 h 1439056"/>
              <a:gd name="connsiteX7" fmla="*/ 1360918 w 1665722"/>
              <a:gd name="connsiteY7" fmla="*/ 1019331 h 1439056"/>
              <a:gd name="connsiteX8" fmla="*/ 214170 w 1665722"/>
              <a:gd name="connsiteY8" fmla="*/ 1056807 h 1439056"/>
              <a:gd name="connsiteX9" fmla="*/ 191685 w 1665722"/>
              <a:gd name="connsiteY9" fmla="*/ 1229194 h 1439056"/>
              <a:gd name="connsiteX10" fmla="*/ 903718 w 1665722"/>
              <a:gd name="connsiteY10" fmla="*/ 1274164 h 1439056"/>
              <a:gd name="connsiteX11" fmla="*/ 948688 w 1665722"/>
              <a:gd name="connsiteY11" fmla="*/ 1439056 h 1439056"/>
              <a:gd name="connsiteX12" fmla="*/ 948688 w 1665722"/>
              <a:gd name="connsiteY12" fmla="*/ 1439056 h 1439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65722" h="1439056">
                <a:moveTo>
                  <a:pt x="776302" y="0"/>
                </a:moveTo>
                <a:cubicBezTo>
                  <a:pt x="714467" y="118047"/>
                  <a:pt x="652632" y="236095"/>
                  <a:pt x="768806" y="292308"/>
                </a:cubicBezTo>
                <a:cubicBezTo>
                  <a:pt x="884980" y="348521"/>
                  <a:pt x="1339682" y="298554"/>
                  <a:pt x="1473344" y="337279"/>
                </a:cubicBezTo>
                <a:cubicBezTo>
                  <a:pt x="1607006" y="376004"/>
                  <a:pt x="1774396" y="488430"/>
                  <a:pt x="1570780" y="524656"/>
                </a:cubicBezTo>
                <a:cubicBezTo>
                  <a:pt x="1367164" y="560882"/>
                  <a:pt x="496485" y="500921"/>
                  <a:pt x="251646" y="554636"/>
                </a:cubicBezTo>
                <a:cubicBezTo>
                  <a:pt x="6807" y="608351"/>
                  <a:pt x="-90630" y="803223"/>
                  <a:pt x="101744" y="846944"/>
                </a:cubicBezTo>
                <a:cubicBezTo>
                  <a:pt x="294118" y="890665"/>
                  <a:pt x="1196026" y="788233"/>
                  <a:pt x="1405888" y="816964"/>
                </a:cubicBezTo>
                <a:cubicBezTo>
                  <a:pt x="1615750" y="845695"/>
                  <a:pt x="1559538" y="979357"/>
                  <a:pt x="1360918" y="1019331"/>
                </a:cubicBezTo>
                <a:cubicBezTo>
                  <a:pt x="1162298" y="1059305"/>
                  <a:pt x="409042" y="1021830"/>
                  <a:pt x="214170" y="1056807"/>
                </a:cubicBezTo>
                <a:cubicBezTo>
                  <a:pt x="19298" y="1091784"/>
                  <a:pt x="76760" y="1192968"/>
                  <a:pt x="191685" y="1229194"/>
                </a:cubicBezTo>
                <a:cubicBezTo>
                  <a:pt x="306610" y="1265420"/>
                  <a:pt x="777551" y="1239187"/>
                  <a:pt x="903718" y="1274164"/>
                </a:cubicBezTo>
                <a:cubicBezTo>
                  <a:pt x="1029885" y="1309141"/>
                  <a:pt x="948688" y="1439056"/>
                  <a:pt x="948688" y="1439056"/>
                </a:cubicBezTo>
                <a:lnTo>
                  <a:pt x="948688" y="1439056"/>
                </a:lnTo>
              </a:path>
            </a:pathLst>
          </a:cu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ZoneTexte 129">
            <a:extLst>
              <a:ext uri="{FF2B5EF4-FFF2-40B4-BE49-F238E27FC236}">
                <a16:creationId xmlns:a16="http://schemas.microsoft.com/office/drawing/2014/main" id="{A06CA018-6D05-FB5E-7C99-3B6416DE9032}"/>
              </a:ext>
            </a:extLst>
          </p:cNvPr>
          <p:cNvSpPr txBox="1"/>
          <p:nvPr/>
        </p:nvSpPr>
        <p:spPr>
          <a:xfrm>
            <a:off x="10104223" y="5717939"/>
            <a:ext cx="243978" cy="369332"/>
          </a:xfrm>
          <a:prstGeom prst="rect">
            <a:avLst/>
          </a:prstGeom>
          <a:noFill/>
        </p:spPr>
        <p:txBody>
          <a:bodyPr wrap="square" rtlCol="0">
            <a:spAutoFit/>
          </a:bodyPr>
          <a:lstStyle/>
          <a:p>
            <a:r>
              <a:rPr lang="fr-FR" dirty="0">
                <a:solidFill>
                  <a:srgbClr val="FF0000"/>
                </a:solidFill>
              </a:rPr>
              <a:t>I</a:t>
            </a:r>
          </a:p>
        </p:txBody>
      </p:sp>
      <p:sp>
        <p:nvSpPr>
          <p:cNvPr id="131" name="Rectangle : coins arrondis 130">
            <a:extLst>
              <a:ext uri="{FF2B5EF4-FFF2-40B4-BE49-F238E27FC236}">
                <a16:creationId xmlns:a16="http://schemas.microsoft.com/office/drawing/2014/main" id="{B6D1DE3A-292C-93E3-AA9C-6F1C52297F4C}"/>
              </a:ext>
            </a:extLst>
          </p:cNvPr>
          <p:cNvSpPr/>
          <p:nvPr/>
        </p:nvSpPr>
        <p:spPr>
          <a:xfrm>
            <a:off x="9111690" y="1675405"/>
            <a:ext cx="2220980" cy="1477170"/>
          </a:xfrm>
          <a:prstGeom prst="round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F0000"/>
                </a:solidFill>
              </a:rPr>
              <a:t>M</a:t>
            </a:r>
          </a:p>
        </p:txBody>
      </p:sp>
      <p:cxnSp>
        <p:nvCxnSpPr>
          <p:cNvPr id="132" name="Connecteur droit 131">
            <a:extLst>
              <a:ext uri="{FF2B5EF4-FFF2-40B4-BE49-F238E27FC236}">
                <a16:creationId xmlns:a16="http://schemas.microsoft.com/office/drawing/2014/main" id="{36B9C577-1CA7-7F09-73C3-6E837C21BF63}"/>
              </a:ext>
            </a:extLst>
          </p:cNvPr>
          <p:cNvCxnSpPr>
            <a:cxnSpLocks/>
          </p:cNvCxnSpPr>
          <p:nvPr/>
        </p:nvCxnSpPr>
        <p:spPr>
          <a:xfrm flipV="1">
            <a:off x="11262067" y="1497221"/>
            <a:ext cx="240555" cy="232237"/>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3" name="Connecteur droit 132">
            <a:extLst>
              <a:ext uri="{FF2B5EF4-FFF2-40B4-BE49-F238E27FC236}">
                <a16:creationId xmlns:a16="http://schemas.microsoft.com/office/drawing/2014/main" id="{BA29001D-5F72-F282-BFA7-6C5668B9B29A}"/>
              </a:ext>
            </a:extLst>
          </p:cNvPr>
          <p:cNvCxnSpPr>
            <a:cxnSpLocks/>
          </p:cNvCxnSpPr>
          <p:nvPr/>
        </p:nvCxnSpPr>
        <p:spPr>
          <a:xfrm flipH="1" flipV="1">
            <a:off x="8942465" y="1603493"/>
            <a:ext cx="204139" cy="160093"/>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4" name="Connecteur droit 133">
            <a:extLst>
              <a:ext uri="{FF2B5EF4-FFF2-40B4-BE49-F238E27FC236}">
                <a16:creationId xmlns:a16="http://schemas.microsoft.com/office/drawing/2014/main" id="{B0251699-D08D-A3E6-7AA1-2609C55A8468}"/>
              </a:ext>
            </a:extLst>
          </p:cNvPr>
          <p:cNvCxnSpPr>
            <a:cxnSpLocks/>
          </p:cNvCxnSpPr>
          <p:nvPr/>
        </p:nvCxnSpPr>
        <p:spPr>
          <a:xfrm>
            <a:off x="10417994" y="2826321"/>
            <a:ext cx="351332" cy="91451"/>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35" name="Connecteur droit 134">
            <a:extLst>
              <a:ext uri="{FF2B5EF4-FFF2-40B4-BE49-F238E27FC236}">
                <a16:creationId xmlns:a16="http://schemas.microsoft.com/office/drawing/2014/main" id="{509A0F01-652A-5E8F-A00C-5051BE7C89F8}"/>
              </a:ext>
            </a:extLst>
          </p:cNvPr>
          <p:cNvCxnSpPr>
            <a:cxnSpLocks/>
            <a:stCxn id="115" idx="6"/>
          </p:cNvCxnSpPr>
          <p:nvPr/>
        </p:nvCxnSpPr>
        <p:spPr>
          <a:xfrm flipV="1">
            <a:off x="9740462" y="2829368"/>
            <a:ext cx="287983" cy="109763"/>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36" name="Connecteur droit 135">
            <a:extLst>
              <a:ext uri="{FF2B5EF4-FFF2-40B4-BE49-F238E27FC236}">
                <a16:creationId xmlns:a16="http://schemas.microsoft.com/office/drawing/2014/main" id="{0E01309F-7E5B-32C0-C224-F342E69D4F6F}"/>
              </a:ext>
            </a:extLst>
          </p:cNvPr>
          <p:cNvCxnSpPr>
            <a:cxnSpLocks/>
          </p:cNvCxnSpPr>
          <p:nvPr/>
        </p:nvCxnSpPr>
        <p:spPr>
          <a:xfrm>
            <a:off x="9970514" y="1513732"/>
            <a:ext cx="219075" cy="657366"/>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37" name="Connecteur droit 136">
            <a:extLst>
              <a:ext uri="{FF2B5EF4-FFF2-40B4-BE49-F238E27FC236}">
                <a16:creationId xmlns:a16="http://schemas.microsoft.com/office/drawing/2014/main" id="{0A9145DC-09D9-832F-A69A-56582431C5AD}"/>
              </a:ext>
            </a:extLst>
          </p:cNvPr>
          <p:cNvCxnSpPr>
            <a:cxnSpLocks/>
            <a:stCxn id="112" idx="2"/>
          </p:cNvCxnSpPr>
          <p:nvPr/>
        </p:nvCxnSpPr>
        <p:spPr>
          <a:xfrm flipH="1">
            <a:off x="10260317" y="1549918"/>
            <a:ext cx="250204" cy="62812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38" name="ZoneTexte 137">
            <a:extLst>
              <a:ext uri="{FF2B5EF4-FFF2-40B4-BE49-F238E27FC236}">
                <a16:creationId xmlns:a16="http://schemas.microsoft.com/office/drawing/2014/main" id="{4F9D3E32-31B9-2EAD-3A5F-8A8C05480C4F}"/>
              </a:ext>
            </a:extLst>
          </p:cNvPr>
          <p:cNvSpPr txBox="1"/>
          <p:nvPr/>
        </p:nvSpPr>
        <p:spPr>
          <a:xfrm>
            <a:off x="9990410" y="751212"/>
            <a:ext cx="471604" cy="369332"/>
          </a:xfrm>
          <a:prstGeom prst="rect">
            <a:avLst/>
          </a:prstGeom>
          <a:noFill/>
        </p:spPr>
        <p:txBody>
          <a:bodyPr wrap="none" rtlCol="0">
            <a:spAutoFit/>
          </a:bodyPr>
          <a:lstStyle/>
          <a:p>
            <a:r>
              <a:rPr lang="fr-FR" dirty="0"/>
              <a:t>N4</a:t>
            </a:r>
          </a:p>
        </p:txBody>
      </p:sp>
      <p:sp>
        <p:nvSpPr>
          <p:cNvPr id="139" name="ZoneTexte 138">
            <a:extLst>
              <a:ext uri="{FF2B5EF4-FFF2-40B4-BE49-F238E27FC236}">
                <a16:creationId xmlns:a16="http://schemas.microsoft.com/office/drawing/2014/main" id="{B9310C05-3726-17ED-E278-9AA211A99764}"/>
              </a:ext>
            </a:extLst>
          </p:cNvPr>
          <p:cNvSpPr txBox="1"/>
          <p:nvPr/>
        </p:nvSpPr>
        <p:spPr>
          <a:xfrm>
            <a:off x="1782055" y="748590"/>
            <a:ext cx="471604" cy="369332"/>
          </a:xfrm>
          <a:prstGeom prst="rect">
            <a:avLst/>
          </a:prstGeom>
          <a:noFill/>
        </p:spPr>
        <p:txBody>
          <a:bodyPr wrap="none" rtlCol="0">
            <a:spAutoFit/>
          </a:bodyPr>
          <a:lstStyle/>
          <a:p>
            <a:r>
              <a:rPr lang="fr-FR" dirty="0"/>
              <a:t>N1</a:t>
            </a:r>
          </a:p>
        </p:txBody>
      </p:sp>
      <p:sp>
        <p:nvSpPr>
          <p:cNvPr id="140" name="ZoneTexte 139">
            <a:extLst>
              <a:ext uri="{FF2B5EF4-FFF2-40B4-BE49-F238E27FC236}">
                <a16:creationId xmlns:a16="http://schemas.microsoft.com/office/drawing/2014/main" id="{04E126A2-CD81-3D31-DFC9-BFC38D54EDA6}"/>
              </a:ext>
            </a:extLst>
          </p:cNvPr>
          <p:cNvSpPr txBox="1"/>
          <p:nvPr/>
        </p:nvSpPr>
        <p:spPr>
          <a:xfrm>
            <a:off x="5299843" y="860468"/>
            <a:ext cx="1705403" cy="369332"/>
          </a:xfrm>
          <a:prstGeom prst="rect">
            <a:avLst/>
          </a:prstGeom>
          <a:noFill/>
        </p:spPr>
        <p:txBody>
          <a:bodyPr wrap="none" rtlCol="0">
            <a:spAutoFit/>
          </a:bodyPr>
          <a:lstStyle/>
          <a:p>
            <a:r>
              <a:rPr lang="fr-FR" dirty="0"/>
              <a:t>PA20, PA40, N3</a:t>
            </a:r>
          </a:p>
        </p:txBody>
      </p:sp>
      <p:graphicFrame>
        <p:nvGraphicFramePr>
          <p:cNvPr id="141" name="Tableau 140">
            <a:extLst>
              <a:ext uri="{FF2B5EF4-FFF2-40B4-BE49-F238E27FC236}">
                <a16:creationId xmlns:a16="http://schemas.microsoft.com/office/drawing/2014/main" id="{4A857064-E111-2C96-7983-F3C2BBAFF598}"/>
              </a:ext>
            </a:extLst>
          </p:cNvPr>
          <p:cNvGraphicFramePr>
            <a:graphicFrameLocks noGrp="1"/>
          </p:cNvGraphicFramePr>
          <p:nvPr>
            <p:extLst>
              <p:ext uri="{D42A27DB-BD31-4B8C-83A1-F6EECF244321}">
                <p14:modId xmlns:p14="http://schemas.microsoft.com/office/powerpoint/2010/main" val="3088991879"/>
              </p:ext>
            </p:extLst>
          </p:nvPr>
        </p:nvGraphicFramePr>
        <p:xfrm>
          <a:off x="4975793" y="5485869"/>
          <a:ext cx="2355881" cy="1142205"/>
        </p:xfrm>
        <a:graphic>
          <a:graphicData uri="http://schemas.openxmlformats.org/drawingml/2006/table">
            <a:tbl>
              <a:tblPr firstRow="1" bandRow="1">
                <a:tableStyleId>{5C22544A-7EE6-4342-B048-85BDC9FD1C3A}</a:tableStyleId>
              </a:tblPr>
              <a:tblGrid>
                <a:gridCol w="575208">
                  <a:extLst>
                    <a:ext uri="{9D8B030D-6E8A-4147-A177-3AD203B41FA5}">
                      <a16:colId xmlns:a16="http://schemas.microsoft.com/office/drawing/2014/main" val="2989418248"/>
                    </a:ext>
                  </a:extLst>
                </a:gridCol>
                <a:gridCol w="1780673">
                  <a:extLst>
                    <a:ext uri="{9D8B030D-6E8A-4147-A177-3AD203B41FA5}">
                      <a16:colId xmlns:a16="http://schemas.microsoft.com/office/drawing/2014/main" val="3997699132"/>
                    </a:ext>
                  </a:extLst>
                </a:gridCol>
              </a:tblGrid>
              <a:tr h="0">
                <a:tc>
                  <a:txBody>
                    <a:bodyPr/>
                    <a:lstStyle/>
                    <a:p>
                      <a:r>
                        <a:rPr lang="fr-FR" sz="1200" dirty="0"/>
                        <a:t>Code</a:t>
                      </a:r>
                    </a:p>
                  </a:txBody>
                  <a:tcPr/>
                </a:tc>
                <a:tc>
                  <a:txBody>
                    <a:bodyPr/>
                    <a:lstStyle/>
                    <a:p>
                      <a:r>
                        <a:rPr lang="fr-FR" sz="1200" dirty="0"/>
                        <a:t>Signification</a:t>
                      </a:r>
                    </a:p>
                  </a:txBody>
                  <a:tcPr/>
                </a:tc>
                <a:extLst>
                  <a:ext uri="{0D108BD9-81ED-4DB2-BD59-A6C34878D82A}">
                    <a16:rowId xmlns:a16="http://schemas.microsoft.com/office/drawing/2014/main" val="178200950"/>
                  </a:ext>
                </a:extLst>
              </a:tr>
              <a:tr h="289295">
                <a:tc>
                  <a:txBody>
                    <a:bodyPr/>
                    <a:lstStyle/>
                    <a:p>
                      <a:r>
                        <a:rPr lang="fr-FR" sz="1200" dirty="0"/>
                        <a:t>D</a:t>
                      </a:r>
                    </a:p>
                  </a:txBody>
                  <a:tcPr/>
                </a:tc>
                <a:tc>
                  <a:txBody>
                    <a:bodyPr/>
                    <a:lstStyle/>
                    <a:p>
                      <a:r>
                        <a:rPr lang="fr-FR" sz="1200" dirty="0"/>
                        <a:t>Dents</a:t>
                      </a:r>
                    </a:p>
                  </a:txBody>
                  <a:tcPr/>
                </a:tc>
                <a:extLst>
                  <a:ext uri="{0D108BD9-81ED-4DB2-BD59-A6C34878D82A}">
                    <a16:rowId xmlns:a16="http://schemas.microsoft.com/office/drawing/2014/main" val="3468838900"/>
                  </a:ext>
                </a:extLst>
              </a:tr>
              <a:tr h="289295">
                <a:tc>
                  <a:txBody>
                    <a:bodyPr/>
                    <a:lstStyle/>
                    <a:p>
                      <a:r>
                        <a:rPr lang="fr-FR" sz="1200" dirty="0"/>
                        <a:t>SP</a:t>
                      </a:r>
                    </a:p>
                  </a:txBody>
                  <a:tcPr/>
                </a:tc>
                <a:tc>
                  <a:txBody>
                    <a:bodyPr/>
                    <a:lstStyle/>
                    <a:p>
                      <a:r>
                        <a:rPr lang="fr-FR" sz="1200" dirty="0"/>
                        <a:t>Surpression pulmonaire</a:t>
                      </a:r>
                    </a:p>
                  </a:txBody>
                  <a:tcPr/>
                </a:tc>
                <a:extLst>
                  <a:ext uri="{0D108BD9-81ED-4DB2-BD59-A6C34878D82A}">
                    <a16:rowId xmlns:a16="http://schemas.microsoft.com/office/drawing/2014/main" val="4189794078"/>
                  </a:ext>
                </a:extLst>
              </a:tr>
              <a:tr h="289295">
                <a:tc>
                  <a:txBody>
                    <a:bodyPr/>
                    <a:lstStyle/>
                    <a:p>
                      <a:r>
                        <a:rPr lang="fr-FR" sz="1200" dirty="0"/>
                        <a:t>I</a:t>
                      </a:r>
                    </a:p>
                  </a:txBody>
                  <a:tcPr/>
                </a:tc>
                <a:tc>
                  <a:txBody>
                    <a:bodyPr/>
                    <a:lstStyle/>
                    <a:p>
                      <a:r>
                        <a:rPr lang="fr-FR" sz="1200" dirty="0"/>
                        <a:t>Intestins</a:t>
                      </a:r>
                    </a:p>
                  </a:txBody>
                  <a:tcPr/>
                </a:tc>
                <a:extLst>
                  <a:ext uri="{0D108BD9-81ED-4DB2-BD59-A6C34878D82A}">
                    <a16:rowId xmlns:a16="http://schemas.microsoft.com/office/drawing/2014/main" val="1150333049"/>
                  </a:ext>
                </a:extLst>
              </a:tr>
            </a:tbl>
          </a:graphicData>
        </a:graphic>
      </p:graphicFrame>
      <p:graphicFrame>
        <p:nvGraphicFramePr>
          <p:cNvPr id="142" name="Tableau 141">
            <a:extLst>
              <a:ext uri="{FF2B5EF4-FFF2-40B4-BE49-F238E27FC236}">
                <a16:creationId xmlns:a16="http://schemas.microsoft.com/office/drawing/2014/main" id="{C47FF126-872D-C385-E859-61A50CFCF5A2}"/>
              </a:ext>
            </a:extLst>
          </p:cNvPr>
          <p:cNvGraphicFramePr>
            <a:graphicFrameLocks noGrp="1"/>
          </p:cNvGraphicFramePr>
          <p:nvPr>
            <p:extLst>
              <p:ext uri="{D42A27DB-BD31-4B8C-83A1-F6EECF244321}">
                <p14:modId xmlns:p14="http://schemas.microsoft.com/office/powerpoint/2010/main" val="3297265592"/>
              </p:ext>
            </p:extLst>
          </p:nvPr>
        </p:nvGraphicFramePr>
        <p:xfrm>
          <a:off x="823379" y="5464522"/>
          <a:ext cx="2355881" cy="1157180"/>
        </p:xfrm>
        <a:graphic>
          <a:graphicData uri="http://schemas.openxmlformats.org/drawingml/2006/table">
            <a:tbl>
              <a:tblPr firstRow="1" bandRow="1">
                <a:tableStyleId>{5C22544A-7EE6-4342-B048-85BDC9FD1C3A}</a:tableStyleId>
              </a:tblPr>
              <a:tblGrid>
                <a:gridCol w="575208">
                  <a:extLst>
                    <a:ext uri="{9D8B030D-6E8A-4147-A177-3AD203B41FA5}">
                      <a16:colId xmlns:a16="http://schemas.microsoft.com/office/drawing/2014/main" val="2989418248"/>
                    </a:ext>
                  </a:extLst>
                </a:gridCol>
                <a:gridCol w="1780673">
                  <a:extLst>
                    <a:ext uri="{9D8B030D-6E8A-4147-A177-3AD203B41FA5}">
                      <a16:colId xmlns:a16="http://schemas.microsoft.com/office/drawing/2014/main" val="3997699132"/>
                    </a:ext>
                  </a:extLst>
                </a:gridCol>
              </a:tblGrid>
              <a:tr h="289295">
                <a:tc>
                  <a:txBody>
                    <a:bodyPr/>
                    <a:lstStyle/>
                    <a:p>
                      <a:r>
                        <a:rPr lang="fr-FR" sz="1200" dirty="0"/>
                        <a:t>Code</a:t>
                      </a:r>
                    </a:p>
                  </a:txBody>
                  <a:tcPr/>
                </a:tc>
                <a:tc>
                  <a:txBody>
                    <a:bodyPr/>
                    <a:lstStyle/>
                    <a:p>
                      <a:r>
                        <a:rPr lang="fr-FR" sz="1200" dirty="0"/>
                        <a:t>Signification</a:t>
                      </a:r>
                    </a:p>
                  </a:txBody>
                  <a:tcPr/>
                </a:tc>
                <a:extLst>
                  <a:ext uri="{0D108BD9-81ED-4DB2-BD59-A6C34878D82A}">
                    <a16:rowId xmlns:a16="http://schemas.microsoft.com/office/drawing/2014/main" val="178200950"/>
                  </a:ext>
                </a:extLst>
              </a:tr>
              <a:tr h="289295">
                <a:tc>
                  <a:txBody>
                    <a:bodyPr/>
                    <a:lstStyle/>
                    <a:p>
                      <a:r>
                        <a:rPr lang="fr-FR" sz="1200" dirty="0"/>
                        <a:t>S</a:t>
                      </a:r>
                    </a:p>
                  </a:txBody>
                  <a:tcPr/>
                </a:tc>
                <a:tc>
                  <a:txBody>
                    <a:bodyPr/>
                    <a:lstStyle/>
                    <a:p>
                      <a:r>
                        <a:rPr lang="fr-FR" sz="1200" dirty="0"/>
                        <a:t>Sinus</a:t>
                      </a:r>
                    </a:p>
                  </a:txBody>
                  <a:tcPr/>
                </a:tc>
                <a:extLst>
                  <a:ext uri="{0D108BD9-81ED-4DB2-BD59-A6C34878D82A}">
                    <a16:rowId xmlns:a16="http://schemas.microsoft.com/office/drawing/2014/main" val="1313528701"/>
                  </a:ext>
                </a:extLst>
              </a:tr>
              <a:tr h="289295">
                <a:tc>
                  <a:txBody>
                    <a:bodyPr/>
                    <a:lstStyle/>
                    <a:p>
                      <a:r>
                        <a:rPr lang="fr-FR" sz="1200" dirty="0"/>
                        <a:t>M</a:t>
                      </a:r>
                    </a:p>
                  </a:txBody>
                  <a:tcPr/>
                </a:tc>
                <a:tc>
                  <a:txBody>
                    <a:bodyPr/>
                    <a:lstStyle/>
                    <a:p>
                      <a:r>
                        <a:rPr lang="fr-FR" sz="1200" dirty="0"/>
                        <a:t>Masque</a:t>
                      </a:r>
                    </a:p>
                  </a:txBody>
                  <a:tcPr/>
                </a:tc>
                <a:extLst>
                  <a:ext uri="{0D108BD9-81ED-4DB2-BD59-A6C34878D82A}">
                    <a16:rowId xmlns:a16="http://schemas.microsoft.com/office/drawing/2014/main" val="818855915"/>
                  </a:ext>
                </a:extLst>
              </a:tr>
              <a:tr h="289295">
                <a:tc>
                  <a:txBody>
                    <a:bodyPr/>
                    <a:lstStyle/>
                    <a:p>
                      <a:r>
                        <a:rPr lang="fr-FR" sz="1200" dirty="0" err="1"/>
                        <a:t>T</a:t>
                      </a:r>
                      <a:endParaRPr lang="fr-FR" sz="1200" dirty="0"/>
                    </a:p>
                  </a:txBody>
                  <a:tcPr/>
                </a:tc>
                <a:tc>
                  <a:txBody>
                    <a:bodyPr/>
                    <a:lstStyle/>
                    <a:p>
                      <a:r>
                        <a:rPr lang="fr-FR" sz="1200" dirty="0"/>
                        <a:t>Tympan</a:t>
                      </a:r>
                    </a:p>
                  </a:txBody>
                  <a:tcPr/>
                </a:tc>
                <a:extLst>
                  <a:ext uri="{0D108BD9-81ED-4DB2-BD59-A6C34878D82A}">
                    <a16:rowId xmlns:a16="http://schemas.microsoft.com/office/drawing/2014/main" val="740897378"/>
                  </a:ext>
                </a:extLst>
              </a:tr>
            </a:tbl>
          </a:graphicData>
        </a:graphic>
      </p:graphicFrame>
      <p:sp>
        <p:nvSpPr>
          <p:cNvPr id="143" name="Rectangle : coins arrondis 142">
            <a:extLst>
              <a:ext uri="{FF2B5EF4-FFF2-40B4-BE49-F238E27FC236}">
                <a16:creationId xmlns:a16="http://schemas.microsoft.com/office/drawing/2014/main" id="{25679BEC-8109-8D7E-ED16-9C4C11AE5732}"/>
              </a:ext>
            </a:extLst>
          </p:cNvPr>
          <p:cNvSpPr/>
          <p:nvPr/>
        </p:nvSpPr>
        <p:spPr>
          <a:xfrm>
            <a:off x="5040290" y="4508725"/>
            <a:ext cx="724026" cy="446439"/>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144" name="Rectangle : coins arrondis 143">
            <a:extLst>
              <a:ext uri="{FF2B5EF4-FFF2-40B4-BE49-F238E27FC236}">
                <a16:creationId xmlns:a16="http://schemas.microsoft.com/office/drawing/2014/main" id="{0FDEE11A-80EB-73A4-2458-0CEC73926200}"/>
              </a:ext>
            </a:extLst>
          </p:cNvPr>
          <p:cNvSpPr/>
          <p:nvPr/>
        </p:nvSpPr>
        <p:spPr>
          <a:xfrm>
            <a:off x="5038023" y="4058643"/>
            <a:ext cx="724026" cy="446439"/>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145" name="Rectangle : coins arrondis 144">
            <a:extLst>
              <a:ext uri="{FF2B5EF4-FFF2-40B4-BE49-F238E27FC236}">
                <a16:creationId xmlns:a16="http://schemas.microsoft.com/office/drawing/2014/main" id="{7A11322F-2EE5-0528-4B59-846A451BDC39}"/>
              </a:ext>
            </a:extLst>
          </p:cNvPr>
          <p:cNvSpPr/>
          <p:nvPr/>
        </p:nvSpPr>
        <p:spPr>
          <a:xfrm>
            <a:off x="6477165" y="4522364"/>
            <a:ext cx="724026" cy="446439"/>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147" name="Rectangle : coins arrondis 146">
            <a:extLst>
              <a:ext uri="{FF2B5EF4-FFF2-40B4-BE49-F238E27FC236}">
                <a16:creationId xmlns:a16="http://schemas.microsoft.com/office/drawing/2014/main" id="{CFB8B40F-A3E7-2823-8CA2-2371FEEFFFED}"/>
              </a:ext>
            </a:extLst>
          </p:cNvPr>
          <p:cNvSpPr/>
          <p:nvPr/>
        </p:nvSpPr>
        <p:spPr>
          <a:xfrm>
            <a:off x="10579013" y="4973251"/>
            <a:ext cx="724026" cy="413445"/>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148" name="Rectangle : coins arrondis 147">
            <a:extLst>
              <a:ext uri="{FF2B5EF4-FFF2-40B4-BE49-F238E27FC236}">
                <a16:creationId xmlns:a16="http://schemas.microsoft.com/office/drawing/2014/main" id="{451EA432-756F-6269-C850-61C849D3E9DE}"/>
              </a:ext>
            </a:extLst>
          </p:cNvPr>
          <p:cNvSpPr/>
          <p:nvPr/>
        </p:nvSpPr>
        <p:spPr>
          <a:xfrm>
            <a:off x="9150987" y="4959612"/>
            <a:ext cx="724026" cy="446439"/>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149" name="Rectangle : coins arrondis 148">
            <a:extLst>
              <a:ext uri="{FF2B5EF4-FFF2-40B4-BE49-F238E27FC236}">
                <a16:creationId xmlns:a16="http://schemas.microsoft.com/office/drawing/2014/main" id="{C23714C0-6FBF-49B9-57F1-1F06D280C2AD}"/>
              </a:ext>
            </a:extLst>
          </p:cNvPr>
          <p:cNvSpPr/>
          <p:nvPr/>
        </p:nvSpPr>
        <p:spPr>
          <a:xfrm>
            <a:off x="9875054" y="4741487"/>
            <a:ext cx="703877" cy="152541"/>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0" name="Rectangle : coins arrondis 149">
            <a:extLst>
              <a:ext uri="{FF2B5EF4-FFF2-40B4-BE49-F238E27FC236}">
                <a16:creationId xmlns:a16="http://schemas.microsoft.com/office/drawing/2014/main" id="{A169BDE9-01E1-4835-AA38-70CDA97DC2C6}"/>
              </a:ext>
            </a:extLst>
          </p:cNvPr>
          <p:cNvSpPr/>
          <p:nvPr/>
        </p:nvSpPr>
        <p:spPr>
          <a:xfrm>
            <a:off x="9148469" y="4513173"/>
            <a:ext cx="724026" cy="446439"/>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151" name="Rectangle : coins arrondis 150">
            <a:extLst>
              <a:ext uri="{FF2B5EF4-FFF2-40B4-BE49-F238E27FC236}">
                <a16:creationId xmlns:a16="http://schemas.microsoft.com/office/drawing/2014/main" id="{1BCFB1D9-2C8B-FA61-7440-68255ECB9057}"/>
              </a:ext>
            </a:extLst>
          </p:cNvPr>
          <p:cNvSpPr/>
          <p:nvPr/>
        </p:nvSpPr>
        <p:spPr>
          <a:xfrm>
            <a:off x="9146202" y="4063091"/>
            <a:ext cx="724026" cy="446439"/>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
        <p:nvSpPr>
          <p:cNvPr id="152" name="Rectangle : coins arrondis 151">
            <a:extLst>
              <a:ext uri="{FF2B5EF4-FFF2-40B4-BE49-F238E27FC236}">
                <a16:creationId xmlns:a16="http://schemas.microsoft.com/office/drawing/2014/main" id="{9EA24AF3-496B-5FED-2AFB-3B014CF22CD6}"/>
              </a:ext>
            </a:extLst>
          </p:cNvPr>
          <p:cNvSpPr/>
          <p:nvPr/>
        </p:nvSpPr>
        <p:spPr>
          <a:xfrm>
            <a:off x="10585344" y="4526812"/>
            <a:ext cx="724026" cy="446439"/>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SP</a:t>
            </a:r>
          </a:p>
        </p:txBody>
      </p:sp>
    </p:spTree>
    <p:extLst>
      <p:ext uri="{BB962C8B-B14F-4D97-AF65-F5344CB8AC3E}">
        <p14:creationId xmlns:p14="http://schemas.microsoft.com/office/powerpoint/2010/main" val="938956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90C50-80DC-7B45-5514-D1F42103875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0BF6088-9EBE-04DA-4078-B8832CE42202}"/>
              </a:ext>
            </a:extLst>
          </p:cNvPr>
          <p:cNvSpPr>
            <a:spLocks noGrp="1"/>
          </p:cNvSpPr>
          <p:nvPr>
            <p:ph type="title"/>
          </p:nvPr>
        </p:nvSpPr>
        <p:spPr>
          <a:xfrm>
            <a:off x="0" y="0"/>
            <a:ext cx="12192000" cy="611059"/>
          </a:xfrm>
        </p:spPr>
        <p:txBody>
          <a:bodyPr>
            <a:normAutofit fontScale="90000"/>
          </a:bodyPr>
          <a:lstStyle/>
          <a:p>
            <a:pPr algn="ctr"/>
            <a:r>
              <a:rPr lang="fr-FR" dirty="0"/>
              <a:t>Barotraumatismes: Les sinus</a:t>
            </a:r>
          </a:p>
        </p:txBody>
      </p:sp>
      <p:sp>
        <p:nvSpPr>
          <p:cNvPr id="3" name="Espace réservé du contenu 2">
            <a:extLst>
              <a:ext uri="{FF2B5EF4-FFF2-40B4-BE49-F238E27FC236}">
                <a16:creationId xmlns:a16="http://schemas.microsoft.com/office/drawing/2014/main" id="{CD159282-B2AC-F4CC-DCDE-529D1B82E8D9}"/>
              </a:ext>
            </a:extLst>
          </p:cNvPr>
          <p:cNvSpPr>
            <a:spLocks noGrp="1"/>
          </p:cNvSpPr>
          <p:nvPr>
            <p:ph idx="1"/>
          </p:nvPr>
        </p:nvSpPr>
        <p:spPr>
          <a:xfrm>
            <a:off x="504355" y="684554"/>
            <a:ext cx="11183288" cy="611059"/>
          </a:xfrm>
          <a:solidFill>
            <a:schemeClr val="accent6">
              <a:lumMod val="20000"/>
              <a:lumOff val="80000"/>
            </a:schemeClr>
          </a:solidFill>
          <a:ln>
            <a:solidFill>
              <a:schemeClr val="accent6">
                <a:lumMod val="50000"/>
              </a:schemeClr>
            </a:solidFill>
          </a:ln>
        </p:spPr>
        <p:txBody>
          <a:bodyPr>
            <a:normAutofit/>
          </a:bodyPr>
          <a:lstStyle/>
          <a:p>
            <a:pPr marL="0" indent="0" algn="ctr">
              <a:buNone/>
            </a:pPr>
            <a:r>
              <a:rPr lang="fr-FR" sz="1400" b="1" dirty="0"/>
              <a:t>Dit le matheux</a:t>
            </a:r>
          </a:p>
          <a:p>
            <a:pPr marL="0" indent="0" algn="ctr">
              <a:buNone/>
            </a:pPr>
            <a:r>
              <a:rPr lang="fr-FR" sz="1400" i="1" dirty="0"/>
              <a:t>4 sinus, 4 fois plus de chance d’avoir une sinusite</a:t>
            </a:r>
          </a:p>
        </p:txBody>
      </p:sp>
      <p:sp>
        <p:nvSpPr>
          <p:cNvPr id="5" name="ZoneTexte 4">
            <a:extLst>
              <a:ext uri="{FF2B5EF4-FFF2-40B4-BE49-F238E27FC236}">
                <a16:creationId xmlns:a16="http://schemas.microsoft.com/office/drawing/2014/main" id="{19917194-16C5-EDB4-40EB-B4BA9D50DD7E}"/>
              </a:ext>
            </a:extLst>
          </p:cNvPr>
          <p:cNvSpPr txBox="1"/>
          <p:nvPr/>
        </p:nvSpPr>
        <p:spPr>
          <a:xfrm>
            <a:off x="504354" y="4776529"/>
            <a:ext cx="5435657" cy="1569660"/>
          </a:xfrm>
          <a:prstGeom prst="rect">
            <a:avLst/>
          </a:prstGeom>
          <a:solidFill>
            <a:schemeClr val="accent2">
              <a:lumMod val="20000"/>
              <a:lumOff val="80000"/>
            </a:schemeClr>
          </a:solidFill>
          <a:ln>
            <a:solidFill>
              <a:schemeClr val="accent2">
                <a:lumMod val="50000"/>
              </a:schemeClr>
            </a:solidFill>
          </a:ln>
        </p:spPr>
        <p:txBody>
          <a:bodyPr wrap="square" rtlCol="0">
            <a:spAutoFit/>
          </a:bodyPr>
          <a:lstStyle/>
          <a:p>
            <a:r>
              <a:rPr lang="fr-FR" sz="1200" dirty="0"/>
              <a:t>Les principales fonctions des fosses nasales et des sinus paranasaux sont de :</a:t>
            </a:r>
          </a:p>
          <a:p>
            <a:pPr marL="171450" indent="-171450">
              <a:buFont typeface="Arial" panose="020B0604020202020204" pitchFamily="34" charset="0"/>
              <a:buChar char="•"/>
            </a:pPr>
            <a:r>
              <a:rPr lang="fr-FR" sz="1200" dirty="0"/>
              <a:t>filtrer, réchauffer et humidifier l’air que vous respirez;</a:t>
            </a:r>
          </a:p>
          <a:p>
            <a:pPr marL="171450" indent="-171450">
              <a:buFont typeface="Arial" panose="020B0604020202020204" pitchFamily="34" charset="0"/>
              <a:buChar char="•"/>
            </a:pPr>
            <a:r>
              <a:rPr lang="fr-FR" sz="1200" dirty="0"/>
              <a:t>percevoir les odeurs (sens de l’odorat);</a:t>
            </a:r>
          </a:p>
          <a:p>
            <a:pPr marL="171450" indent="-171450">
              <a:buFont typeface="Arial" panose="020B0604020202020204" pitchFamily="34" charset="0"/>
              <a:buChar char="•"/>
            </a:pPr>
            <a:r>
              <a:rPr lang="fr-FR" sz="1200" dirty="0"/>
              <a:t>produire du mucus;</a:t>
            </a:r>
          </a:p>
          <a:p>
            <a:pPr marL="171450" indent="-171450">
              <a:buFont typeface="Arial" panose="020B0604020202020204" pitchFamily="34" charset="0"/>
              <a:buChar char="•"/>
            </a:pPr>
            <a:r>
              <a:rPr lang="fr-FR" sz="1200" dirty="0"/>
              <a:t>alléger le poids du crâne;</a:t>
            </a:r>
          </a:p>
          <a:p>
            <a:pPr marL="171450" indent="-171450">
              <a:buFont typeface="Arial" panose="020B0604020202020204" pitchFamily="34" charset="0"/>
              <a:buChar char="•"/>
            </a:pPr>
            <a:r>
              <a:rPr lang="fr-FR" sz="1200" dirty="0"/>
              <a:t>vibrer et faire résonner la voix, ce qui lui donne un son unique;</a:t>
            </a:r>
          </a:p>
          <a:p>
            <a:pPr marL="171450" indent="-171450">
              <a:buFont typeface="Arial" panose="020B0604020202020204" pitchFamily="34" charset="0"/>
              <a:buChar char="•"/>
            </a:pPr>
            <a:r>
              <a:rPr lang="fr-FR" sz="1200" dirty="0"/>
              <a:t>protéger le cerveau contre les blessures.</a:t>
            </a:r>
          </a:p>
          <a:p>
            <a:pPr marL="285750" indent="-285750">
              <a:buFont typeface="Arial" panose="020B0604020202020204" pitchFamily="34" charset="0"/>
              <a:buChar char="•"/>
            </a:pPr>
            <a:endParaRPr lang="fr-FR" sz="1200" dirty="0"/>
          </a:p>
        </p:txBody>
      </p:sp>
      <p:pic>
        <p:nvPicPr>
          <p:cNvPr id="1026" name="Picture 2" descr="Schéma des sinus paranasaux">
            <a:extLst>
              <a:ext uri="{FF2B5EF4-FFF2-40B4-BE49-F238E27FC236}">
                <a16:creationId xmlns:a16="http://schemas.microsoft.com/office/drawing/2014/main" id="{1AE2DBD2-A7E0-B188-C2B7-E528F27726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6623" y="1369108"/>
            <a:ext cx="5721019" cy="3571686"/>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5D0D852A-DA59-B367-BFDC-3B461A8E5DD8}"/>
              </a:ext>
            </a:extLst>
          </p:cNvPr>
          <p:cNvSpPr txBox="1"/>
          <p:nvPr/>
        </p:nvSpPr>
        <p:spPr>
          <a:xfrm>
            <a:off x="504354" y="1444872"/>
            <a:ext cx="5435657" cy="830997"/>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pPr algn="just"/>
            <a:r>
              <a:rPr lang="fr-FR" sz="1200" dirty="0"/>
              <a:t>Le terme paranasal signifie autour ou près du nez. Les sinus paranasaux sont des espaces creux remplis d’air; ils sont situés autour du nez, à l'intérieur du crâne. Les sinus paranasaux communiquent entre eux de même qu’avec les fosses nasales.</a:t>
            </a:r>
          </a:p>
        </p:txBody>
      </p:sp>
      <p:sp>
        <p:nvSpPr>
          <p:cNvPr id="10" name="ZoneTexte 9">
            <a:extLst>
              <a:ext uri="{FF2B5EF4-FFF2-40B4-BE49-F238E27FC236}">
                <a16:creationId xmlns:a16="http://schemas.microsoft.com/office/drawing/2014/main" id="{D242367E-B962-B266-A6BC-83092EA9AFF5}"/>
              </a:ext>
            </a:extLst>
          </p:cNvPr>
          <p:cNvSpPr txBox="1"/>
          <p:nvPr/>
        </p:nvSpPr>
        <p:spPr>
          <a:xfrm>
            <a:off x="504355" y="2372037"/>
            <a:ext cx="5435657" cy="2308324"/>
          </a:xfrm>
          <a:prstGeom prst="rect">
            <a:avLst/>
          </a:prstGeom>
          <a:solidFill>
            <a:schemeClr val="tx2">
              <a:lumMod val="10000"/>
              <a:lumOff val="90000"/>
            </a:schemeClr>
          </a:solidFill>
          <a:ln>
            <a:solidFill>
              <a:schemeClr val="accent1">
                <a:lumMod val="75000"/>
              </a:schemeClr>
            </a:solidFill>
          </a:ln>
        </p:spPr>
        <p:txBody>
          <a:bodyPr wrap="square" rtlCol="0">
            <a:spAutoFit/>
          </a:bodyPr>
          <a:lstStyle/>
          <a:p>
            <a:pPr marL="171450" indent="-171450" algn="just">
              <a:buFont typeface="Arial" panose="020B0604020202020204" pitchFamily="34" charset="0"/>
              <a:buChar char="•"/>
            </a:pPr>
            <a:r>
              <a:rPr lang="fr-FR" sz="1200" dirty="0"/>
              <a:t>Les </a:t>
            </a:r>
            <a:r>
              <a:rPr lang="fr-FR" sz="1200" b="1" dirty="0"/>
              <a:t>sinus maxillaires</a:t>
            </a:r>
            <a:r>
              <a:rPr lang="fr-FR" sz="1200" dirty="0"/>
              <a:t> sont situés dans le maxillaire (la mâchoire supérieure), de chaque côté du nez, derrière les joues et sous les yeux. De forme pyramidale, ce sont les plus gros sinus paranasaux.</a:t>
            </a:r>
          </a:p>
          <a:p>
            <a:pPr marL="171450" indent="-171450" algn="just">
              <a:buFont typeface="Arial" panose="020B0604020202020204" pitchFamily="34" charset="0"/>
              <a:buChar char="•"/>
            </a:pPr>
            <a:r>
              <a:rPr lang="fr-FR" sz="1200" dirty="0"/>
              <a:t>Les </a:t>
            </a:r>
            <a:r>
              <a:rPr lang="fr-FR" sz="1200" b="1" dirty="0"/>
              <a:t>sinus frontaux</a:t>
            </a:r>
            <a:r>
              <a:rPr lang="fr-FR" sz="1200" dirty="0"/>
              <a:t> sont situés dans l’os frontal, au-dessus du nez et derrière les sourcils. Ces 2 espaces creux sont séparés par une mince cloison osseuse.</a:t>
            </a:r>
          </a:p>
          <a:p>
            <a:pPr marL="171450" indent="-171450" algn="just">
              <a:buFont typeface="Arial" panose="020B0604020202020204" pitchFamily="34" charset="0"/>
              <a:buChar char="•"/>
            </a:pPr>
            <a:r>
              <a:rPr lang="fr-FR" sz="1200" dirty="0"/>
              <a:t>Les </a:t>
            </a:r>
            <a:r>
              <a:rPr lang="fr-FR" sz="1200" b="1" dirty="0"/>
              <a:t>sinus ethmoïdaux</a:t>
            </a:r>
            <a:r>
              <a:rPr lang="fr-FR" sz="1200" dirty="0"/>
              <a:t> sont de petits espaces creux situés dans l’os ethmoïde, sur l'arête du nez, au-dessus des fosses nasales et entre les yeux. Leur nombre et leur taille sont variables.</a:t>
            </a:r>
          </a:p>
          <a:p>
            <a:pPr marL="171450" indent="-171450" algn="just">
              <a:buFont typeface="Arial" panose="020B0604020202020204" pitchFamily="34" charset="0"/>
              <a:buChar char="•"/>
            </a:pPr>
            <a:r>
              <a:rPr lang="fr-FR" sz="1200" dirty="0"/>
              <a:t>Le </a:t>
            </a:r>
            <a:r>
              <a:rPr lang="fr-FR" sz="1200" b="1" dirty="0"/>
              <a:t>sinus sphénoïdal</a:t>
            </a:r>
            <a:r>
              <a:rPr lang="fr-FR" sz="1200" dirty="0"/>
              <a:t> est situé dans l’os sphénoïde (lequel est logé profondément dans le crâne), derrière les sinus ethmoïdaux et les fosses nasales. Il est divisé en côtés gauche et droit par une mince cloison osseuse.</a:t>
            </a:r>
          </a:p>
        </p:txBody>
      </p:sp>
    </p:spTree>
    <p:extLst>
      <p:ext uri="{BB962C8B-B14F-4D97-AF65-F5344CB8AC3E}">
        <p14:creationId xmlns:p14="http://schemas.microsoft.com/office/powerpoint/2010/main" val="2320353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880D0-65E2-9A17-6B66-E37F9295A35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4538E9-7D43-CA0A-E031-D1B2D032C178}"/>
              </a:ext>
            </a:extLst>
          </p:cNvPr>
          <p:cNvSpPr>
            <a:spLocks noGrp="1"/>
          </p:cNvSpPr>
          <p:nvPr>
            <p:ph type="title"/>
          </p:nvPr>
        </p:nvSpPr>
        <p:spPr>
          <a:xfrm>
            <a:off x="0" y="0"/>
            <a:ext cx="12192000" cy="611059"/>
          </a:xfrm>
        </p:spPr>
        <p:txBody>
          <a:bodyPr>
            <a:normAutofit fontScale="90000"/>
          </a:bodyPr>
          <a:lstStyle/>
          <a:p>
            <a:pPr algn="ctr"/>
            <a:r>
              <a:rPr lang="fr-FR" dirty="0"/>
              <a:t>Barotraumatismes: Les sinus</a:t>
            </a:r>
          </a:p>
        </p:txBody>
      </p:sp>
      <p:sp>
        <p:nvSpPr>
          <p:cNvPr id="5" name="ZoneTexte 4">
            <a:extLst>
              <a:ext uri="{FF2B5EF4-FFF2-40B4-BE49-F238E27FC236}">
                <a16:creationId xmlns:a16="http://schemas.microsoft.com/office/drawing/2014/main" id="{45F6F612-55F6-3CA9-AE04-F31C1DDFEFCF}"/>
              </a:ext>
            </a:extLst>
          </p:cNvPr>
          <p:cNvSpPr txBox="1"/>
          <p:nvPr/>
        </p:nvSpPr>
        <p:spPr>
          <a:xfrm>
            <a:off x="6290794" y="1323239"/>
            <a:ext cx="5453534" cy="461665"/>
          </a:xfrm>
          <a:prstGeom prst="rect">
            <a:avLst/>
          </a:prstGeom>
          <a:solidFill>
            <a:schemeClr val="accent2">
              <a:lumMod val="20000"/>
              <a:lumOff val="80000"/>
            </a:schemeClr>
          </a:solidFill>
          <a:ln>
            <a:solidFill>
              <a:schemeClr val="accent2">
                <a:lumMod val="50000"/>
              </a:schemeClr>
            </a:solidFill>
          </a:ln>
        </p:spPr>
        <p:txBody>
          <a:bodyPr wrap="square" rtlCol="0">
            <a:spAutoFit/>
          </a:bodyPr>
          <a:lstStyle/>
          <a:p>
            <a:r>
              <a:rPr lang="fr-FR" sz="1200" dirty="0"/>
              <a:t>Symptômes</a:t>
            </a:r>
          </a:p>
          <a:p>
            <a:pPr marL="171450" indent="-171450">
              <a:buFont typeface="Arial" panose="020B0604020202020204" pitchFamily="34" charset="0"/>
              <a:buChar char="•"/>
            </a:pPr>
            <a:r>
              <a:rPr lang="fr-FR" sz="1200" dirty="0"/>
              <a:t>Douleurs faciales au niveau des sinus</a:t>
            </a:r>
          </a:p>
        </p:txBody>
      </p:sp>
      <p:sp>
        <p:nvSpPr>
          <p:cNvPr id="6" name="ZoneTexte 5">
            <a:extLst>
              <a:ext uri="{FF2B5EF4-FFF2-40B4-BE49-F238E27FC236}">
                <a16:creationId xmlns:a16="http://schemas.microsoft.com/office/drawing/2014/main" id="{71207726-82A5-8085-4102-11E667533320}"/>
              </a:ext>
            </a:extLst>
          </p:cNvPr>
          <p:cNvSpPr txBox="1"/>
          <p:nvPr/>
        </p:nvSpPr>
        <p:spPr>
          <a:xfrm>
            <a:off x="657225" y="1316201"/>
            <a:ext cx="5438776" cy="1569660"/>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r>
              <a:rPr lang="fr-FR" sz="1600" dirty="0"/>
              <a:t>Principes</a:t>
            </a:r>
          </a:p>
          <a:p>
            <a:pPr marL="285750" indent="-285750">
              <a:buFont typeface="Arial" panose="020B0604020202020204" pitchFamily="34" charset="0"/>
              <a:buChar char="•"/>
            </a:pPr>
            <a:r>
              <a:rPr lang="fr-FR" sz="1600" dirty="0"/>
              <a:t>Douleurs faciales au niveau des sinus</a:t>
            </a:r>
          </a:p>
          <a:p>
            <a:pPr marL="285750" indent="-285750">
              <a:buFont typeface="Arial" panose="020B0604020202020204" pitchFamily="34" charset="0"/>
              <a:buChar char="•"/>
            </a:pPr>
            <a:r>
              <a:rPr lang="fr-FR" sz="1600" dirty="0"/>
              <a:t>L’air ne circule pas librement au niveau des fosses nasales et/ou des canaux reliant les sinus aux fosses nasales. </a:t>
            </a:r>
          </a:p>
          <a:p>
            <a:pPr marL="285750" indent="-285750">
              <a:buFont typeface="Arial" panose="020B0604020202020204" pitchFamily="34" charset="0"/>
              <a:buChar char="•"/>
            </a:pPr>
            <a:r>
              <a:rPr lang="fr-FR" sz="1600" dirty="0"/>
              <a:t>La circulation est entravée par des </a:t>
            </a:r>
            <a:r>
              <a:rPr lang="fr-FR" sz="1600" dirty="0" err="1"/>
              <a:t>miccus</a:t>
            </a:r>
            <a:r>
              <a:rPr lang="fr-FR" sz="1600" dirty="0"/>
              <a:t>.</a:t>
            </a:r>
          </a:p>
        </p:txBody>
      </p:sp>
      <p:sp>
        <p:nvSpPr>
          <p:cNvPr id="7" name="ZoneTexte 6">
            <a:extLst>
              <a:ext uri="{FF2B5EF4-FFF2-40B4-BE49-F238E27FC236}">
                <a16:creationId xmlns:a16="http://schemas.microsoft.com/office/drawing/2014/main" id="{1EBBDF84-2219-9691-AD93-C8FF96FA68AA}"/>
              </a:ext>
            </a:extLst>
          </p:cNvPr>
          <p:cNvSpPr txBox="1"/>
          <p:nvPr/>
        </p:nvSpPr>
        <p:spPr>
          <a:xfrm>
            <a:off x="6306022" y="3766296"/>
            <a:ext cx="5438776" cy="2062103"/>
          </a:xfrm>
          <a:prstGeom prst="rect">
            <a:avLst/>
          </a:prstGeom>
          <a:solidFill>
            <a:schemeClr val="accent4">
              <a:lumMod val="20000"/>
              <a:lumOff val="80000"/>
            </a:schemeClr>
          </a:solidFill>
          <a:ln>
            <a:solidFill>
              <a:schemeClr val="accent1">
                <a:lumMod val="50000"/>
              </a:schemeClr>
            </a:solidFill>
          </a:ln>
        </p:spPr>
        <p:txBody>
          <a:bodyPr wrap="square" rtlCol="0">
            <a:spAutoFit/>
          </a:bodyPr>
          <a:lstStyle/>
          <a:p>
            <a:r>
              <a:rPr lang="fr-FR" sz="1600" dirty="0"/>
              <a:t>Conduite à tenir</a:t>
            </a:r>
          </a:p>
          <a:p>
            <a:pPr marL="285750" indent="-285750">
              <a:buFont typeface="Arial" panose="020B0604020202020204" pitchFamily="34" charset="0"/>
              <a:buChar char="•"/>
            </a:pPr>
            <a:r>
              <a:rPr lang="fr-FR" sz="1600" dirty="0"/>
              <a:t>Informer sa palanquée</a:t>
            </a:r>
          </a:p>
          <a:p>
            <a:pPr marL="285750" indent="-285750">
              <a:buFont typeface="Arial" panose="020B0604020202020204" pitchFamily="34" charset="0"/>
              <a:buChar char="•"/>
            </a:pPr>
            <a:r>
              <a:rPr lang="fr-FR" sz="1600" dirty="0"/>
              <a:t>Essayer de se moucher ou rincer les fosses</a:t>
            </a:r>
          </a:p>
          <a:p>
            <a:pPr marL="285750" indent="-285750">
              <a:buFont typeface="Arial" panose="020B0604020202020204" pitchFamily="34" charset="0"/>
              <a:buChar char="•"/>
            </a:pPr>
            <a:r>
              <a:rPr lang="fr-FR" sz="1600" dirty="0"/>
              <a:t>Stopper la remontée / La descente</a:t>
            </a:r>
          </a:p>
          <a:p>
            <a:pPr marL="285750" indent="-285750">
              <a:buFont typeface="Arial" panose="020B0604020202020204" pitchFamily="34" charset="0"/>
              <a:buChar char="•"/>
            </a:pPr>
            <a:r>
              <a:rPr lang="fr-FR" sz="1600" dirty="0"/>
              <a:t>Si en remontée, redescendre jusqu’à l’arrêt de la douleur</a:t>
            </a:r>
          </a:p>
          <a:p>
            <a:pPr marL="285750" indent="-285750">
              <a:buFont typeface="Arial" panose="020B0604020202020204" pitchFamily="34" charset="0"/>
              <a:buChar char="•"/>
            </a:pPr>
            <a:r>
              <a:rPr lang="fr-FR" sz="1600" dirty="0"/>
              <a:t>Remonter très très doucement. Faire des pauses si nécessaire.</a:t>
            </a:r>
          </a:p>
          <a:p>
            <a:pPr marL="285750" indent="-285750">
              <a:buFont typeface="Arial" panose="020B0604020202020204" pitchFamily="34" charset="0"/>
              <a:buChar char="•"/>
            </a:pPr>
            <a:r>
              <a:rPr lang="fr-FR" sz="1600" dirty="0"/>
              <a:t>Si en descente, remontée tout de doucement</a:t>
            </a:r>
          </a:p>
        </p:txBody>
      </p:sp>
      <p:sp>
        <p:nvSpPr>
          <p:cNvPr id="8" name="ZoneTexte 7">
            <a:extLst>
              <a:ext uri="{FF2B5EF4-FFF2-40B4-BE49-F238E27FC236}">
                <a16:creationId xmlns:a16="http://schemas.microsoft.com/office/drawing/2014/main" id="{A742B2B2-59B3-A0FE-9DAC-B57CA5902E66}"/>
              </a:ext>
            </a:extLst>
          </p:cNvPr>
          <p:cNvSpPr txBox="1"/>
          <p:nvPr/>
        </p:nvSpPr>
        <p:spPr>
          <a:xfrm>
            <a:off x="657224" y="3877508"/>
            <a:ext cx="5438776" cy="830997"/>
          </a:xfrm>
          <a:prstGeom prst="rect">
            <a:avLst/>
          </a:prstGeom>
          <a:solidFill>
            <a:schemeClr val="bg1">
              <a:lumMod val="85000"/>
            </a:schemeClr>
          </a:solidFill>
          <a:ln>
            <a:solidFill>
              <a:schemeClr val="bg1">
                <a:lumMod val="50000"/>
              </a:schemeClr>
            </a:solidFill>
          </a:ln>
        </p:spPr>
        <p:txBody>
          <a:bodyPr wrap="square" rtlCol="0">
            <a:spAutoFit/>
          </a:bodyPr>
          <a:lstStyle/>
          <a:p>
            <a:r>
              <a:rPr lang="fr-FR" sz="1600" dirty="0"/>
              <a:t>Prévention</a:t>
            </a:r>
          </a:p>
          <a:p>
            <a:pPr marL="285750" indent="-285750">
              <a:buFont typeface="Arial" panose="020B0604020202020204" pitchFamily="34" charset="0"/>
              <a:buChar char="•"/>
            </a:pPr>
            <a:r>
              <a:rPr lang="fr-FR" sz="1600" dirty="0"/>
              <a:t>Ne pas plongée avec une sinusite</a:t>
            </a:r>
          </a:p>
          <a:p>
            <a:pPr marL="285750" indent="-285750">
              <a:buFont typeface="Arial" panose="020B0604020202020204" pitchFamily="34" charset="0"/>
              <a:buChar char="•"/>
            </a:pPr>
            <a:r>
              <a:rPr lang="fr-FR" sz="1600" dirty="0"/>
              <a:t>Ne pas plonger avec un rhume</a:t>
            </a:r>
          </a:p>
        </p:txBody>
      </p:sp>
      <p:sp>
        <p:nvSpPr>
          <p:cNvPr id="10" name="ZoneTexte 9">
            <a:extLst>
              <a:ext uri="{FF2B5EF4-FFF2-40B4-BE49-F238E27FC236}">
                <a16:creationId xmlns:a16="http://schemas.microsoft.com/office/drawing/2014/main" id="{41C4E35E-304B-264C-2F8B-BE385D2BE57D}"/>
              </a:ext>
            </a:extLst>
          </p:cNvPr>
          <p:cNvSpPr txBox="1"/>
          <p:nvPr/>
        </p:nvSpPr>
        <p:spPr>
          <a:xfrm>
            <a:off x="657224" y="828675"/>
            <a:ext cx="5438776" cy="369332"/>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gn="ctr"/>
            <a:r>
              <a:rPr lang="fr-FR" dirty="0"/>
              <a:t>N1</a:t>
            </a:r>
          </a:p>
        </p:txBody>
      </p:sp>
      <p:sp>
        <p:nvSpPr>
          <p:cNvPr id="11" name="ZoneTexte 10">
            <a:extLst>
              <a:ext uri="{FF2B5EF4-FFF2-40B4-BE49-F238E27FC236}">
                <a16:creationId xmlns:a16="http://schemas.microsoft.com/office/drawing/2014/main" id="{49CF7B37-9C07-5080-5B77-7AEF4EA55C82}"/>
              </a:ext>
            </a:extLst>
          </p:cNvPr>
          <p:cNvSpPr txBox="1"/>
          <p:nvPr/>
        </p:nvSpPr>
        <p:spPr>
          <a:xfrm>
            <a:off x="6291264" y="828675"/>
            <a:ext cx="5438776" cy="369332"/>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gn="ctr"/>
            <a:r>
              <a:rPr lang="fr-FR" dirty="0"/>
              <a:t>PA20</a:t>
            </a:r>
          </a:p>
        </p:txBody>
      </p:sp>
      <p:sp>
        <p:nvSpPr>
          <p:cNvPr id="12" name="ZoneTexte 11">
            <a:extLst>
              <a:ext uri="{FF2B5EF4-FFF2-40B4-BE49-F238E27FC236}">
                <a16:creationId xmlns:a16="http://schemas.microsoft.com/office/drawing/2014/main" id="{BC62B984-5338-0B2C-5EBC-6DAD7E1B3AE8}"/>
              </a:ext>
            </a:extLst>
          </p:cNvPr>
          <p:cNvSpPr txBox="1"/>
          <p:nvPr/>
        </p:nvSpPr>
        <p:spPr>
          <a:xfrm>
            <a:off x="6291734" y="1898491"/>
            <a:ext cx="5438776" cy="830997"/>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r>
              <a:rPr lang="fr-FR" sz="1600" dirty="0"/>
              <a:t>Causes</a:t>
            </a:r>
          </a:p>
          <a:p>
            <a:pPr marL="285750" indent="-285750">
              <a:buFont typeface="Arial" panose="020B0604020202020204" pitchFamily="34" charset="0"/>
              <a:buChar char="•"/>
            </a:pPr>
            <a:r>
              <a:rPr lang="fr-FR" sz="1600" dirty="0"/>
              <a:t>Sinusite</a:t>
            </a:r>
          </a:p>
          <a:p>
            <a:pPr marL="285750" indent="-285750">
              <a:buFont typeface="Arial" panose="020B0604020202020204" pitchFamily="34" charset="0"/>
              <a:buChar char="•"/>
            </a:pPr>
            <a:r>
              <a:rPr lang="fr-FR" sz="1600" dirty="0"/>
              <a:t>Encombrement des voies nasales</a:t>
            </a:r>
          </a:p>
        </p:txBody>
      </p:sp>
      <p:sp>
        <p:nvSpPr>
          <p:cNvPr id="13" name="ZoneTexte 12">
            <a:extLst>
              <a:ext uri="{FF2B5EF4-FFF2-40B4-BE49-F238E27FC236}">
                <a16:creationId xmlns:a16="http://schemas.microsoft.com/office/drawing/2014/main" id="{5A80180A-C7CD-FB9C-F542-324AAFCEE522}"/>
              </a:ext>
            </a:extLst>
          </p:cNvPr>
          <p:cNvSpPr txBox="1"/>
          <p:nvPr/>
        </p:nvSpPr>
        <p:spPr>
          <a:xfrm>
            <a:off x="657224" y="3089297"/>
            <a:ext cx="5438776" cy="584775"/>
          </a:xfrm>
          <a:prstGeom prst="rect">
            <a:avLst/>
          </a:prstGeom>
          <a:solidFill>
            <a:schemeClr val="accent4">
              <a:lumMod val="20000"/>
              <a:lumOff val="80000"/>
            </a:schemeClr>
          </a:solidFill>
          <a:ln>
            <a:solidFill>
              <a:schemeClr val="accent1">
                <a:lumMod val="50000"/>
              </a:schemeClr>
            </a:solidFill>
          </a:ln>
        </p:spPr>
        <p:txBody>
          <a:bodyPr wrap="square" rtlCol="0">
            <a:spAutoFit/>
          </a:bodyPr>
          <a:lstStyle/>
          <a:p>
            <a:r>
              <a:rPr lang="fr-FR" sz="1600" dirty="0"/>
              <a:t>Conduite</a:t>
            </a:r>
          </a:p>
          <a:p>
            <a:pPr marL="285750" indent="-285750">
              <a:buFont typeface="Arial" panose="020B0604020202020204" pitchFamily="34" charset="0"/>
              <a:buChar char="•"/>
            </a:pPr>
            <a:r>
              <a:rPr lang="fr-FR" sz="1600" dirty="0"/>
              <a:t>Aller voir le GPN4 avec le bon signe</a:t>
            </a:r>
          </a:p>
        </p:txBody>
      </p:sp>
      <p:sp>
        <p:nvSpPr>
          <p:cNvPr id="14" name="ZoneTexte 13">
            <a:extLst>
              <a:ext uri="{FF2B5EF4-FFF2-40B4-BE49-F238E27FC236}">
                <a16:creationId xmlns:a16="http://schemas.microsoft.com/office/drawing/2014/main" id="{CF12BA20-2D14-50F8-03DC-10FCEFBF4A4E}"/>
              </a:ext>
            </a:extLst>
          </p:cNvPr>
          <p:cNvSpPr txBox="1"/>
          <p:nvPr/>
        </p:nvSpPr>
        <p:spPr>
          <a:xfrm>
            <a:off x="6291264" y="2843075"/>
            <a:ext cx="5438776" cy="830997"/>
          </a:xfrm>
          <a:prstGeom prst="rect">
            <a:avLst/>
          </a:prstGeom>
          <a:solidFill>
            <a:schemeClr val="bg1">
              <a:lumMod val="85000"/>
            </a:schemeClr>
          </a:solidFill>
          <a:ln>
            <a:solidFill>
              <a:schemeClr val="bg1">
                <a:lumMod val="50000"/>
              </a:schemeClr>
            </a:solidFill>
          </a:ln>
        </p:spPr>
        <p:txBody>
          <a:bodyPr wrap="square" rtlCol="0">
            <a:spAutoFit/>
          </a:bodyPr>
          <a:lstStyle/>
          <a:p>
            <a:r>
              <a:rPr lang="fr-FR" sz="1600" dirty="0"/>
              <a:t>Prévention</a:t>
            </a:r>
          </a:p>
          <a:p>
            <a:pPr marL="285750" indent="-285750">
              <a:buFont typeface="Arial" panose="020B0604020202020204" pitchFamily="34" charset="0"/>
              <a:buChar char="•"/>
            </a:pPr>
            <a:r>
              <a:rPr lang="fr-FR" sz="1600" dirty="0"/>
              <a:t>Ne pas plongée avec une sinusite</a:t>
            </a:r>
          </a:p>
          <a:p>
            <a:pPr marL="285750" indent="-285750">
              <a:buFont typeface="Arial" panose="020B0604020202020204" pitchFamily="34" charset="0"/>
              <a:buChar char="•"/>
            </a:pPr>
            <a:r>
              <a:rPr lang="fr-FR" sz="1600" dirty="0"/>
              <a:t>Ne pas plonger avec un rhume</a:t>
            </a:r>
          </a:p>
        </p:txBody>
      </p:sp>
      <p:sp>
        <p:nvSpPr>
          <p:cNvPr id="15" name="ZoneTexte 14">
            <a:extLst>
              <a:ext uri="{FF2B5EF4-FFF2-40B4-BE49-F238E27FC236}">
                <a16:creationId xmlns:a16="http://schemas.microsoft.com/office/drawing/2014/main" id="{CD1969DE-8625-72AF-97AB-1A9FD6EA99B0}"/>
              </a:ext>
            </a:extLst>
          </p:cNvPr>
          <p:cNvSpPr txBox="1"/>
          <p:nvPr/>
        </p:nvSpPr>
        <p:spPr>
          <a:xfrm>
            <a:off x="6306022" y="5931586"/>
            <a:ext cx="5438776" cy="830997"/>
          </a:xfrm>
          <a:prstGeom prst="rect">
            <a:avLst/>
          </a:prstGeom>
          <a:solidFill>
            <a:schemeClr val="accent2">
              <a:lumMod val="20000"/>
              <a:lumOff val="80000"/>
            </a:schemeClr>
          </a:solidFill>
          <a:ln>
            <a:solidFill>
              <a:schemeClr val="accent2">
                <a:lumMod val="50000"/>
              </a:schemeClr>
            </a:solidFill>
          </a:ln>
        </p:spPr>
        <p:txBody>
          <a:bodyPr wrap="square" rtlCol="0">
            <a:spAutoFit/>
          </a:bodyPr>
          <a:lstStyle/>
          <a:p>
            <a:r>
              <a:rPr lang="fr-FR" sz="1600" dirty="0"/>
              <a:t>Facteurs favorisants</a:t>
            </a:r>
          </a:p>
          <a:p>
            <a:pPr marL="285750" indent="-285750">
              <a:buFont typeface="Arial" panose="020B0604020202020204" pitchFamily="34" charset="0"/>
              <a:buChar char="•"/>
            </a:pPr>
            <a:r>
              <a:rPr lang="fr-FR" sz="1600" dirty="0"/>
              <a:t>Climatisation</a:t>
            </a:r>
          </a:p>
          <a:p>
            <a:pPr marL="285750" indent="-285750">
              <a:buFont typeface="Arial" panose="020B0604020202020204" pitchFamily="34" charset="0"/>
              <a:buChar char="•"/>
            </a:pPr>
            <a:r>
              <a:rPr lang="fr-FR" sz="1600" dirty="0"/>
              <a:t>Forte variation de température</a:t>
            </a:r>
          </a:p>
        </p:txBody>
      </p:sp>
    </p:spTree>
    <p:extLst>
      <p:ext uri="{BB962C8B-B14F-4D97-AF65-F5344CB8AC3E}">
        <p14:creationId xmlns:p14="http://schemas.microsoft.com/office/powerpoint/2010/main" val="243035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5B020-3093-ED22-F5FC-9F295A24FAD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0114FA-3A13-A967-5638-EF7AEC8805C1}"/>
              </a:ext>
            </a:extLst>
          </p:cNvPr>
          <p:cNvSpPr>
            <a:spLocks noGrp="1"/>
          </p:cNvSpPr>
          <p:nvPr>
            <p:ph type="title"/>
          </p:nvPr>
        </p:nvSpPr>
        <p:spPr>
          <a:xfrm>
            <a:off x="0" y="0"/>
            <a:ext cx="12192000" cy="611059"/>
          </a:xfrm>
        </p:spPr>
        <p:txBody>
          <a:bodyPr>
            <a:normAutofit fontScale="90000"/>
          </a:bodyPr>
          <a:lstStyle/>
          <a:p>
            <a:pPr algn="ctr"/>
            <a:r>
              <a:rPr lang="fr-FR" dirty="0"/>
              <a:t>Barotraumatismes: Les sinus</a:t>
            </a:r>
          </a:p>
        </p:txBody>
      </p:sp>
      <p:sp>
        <p:nvSpPr>
          <p:cNvPr id="5" name="ZoneTexte 4">
            <a:extLst>
              <a:ext uri="{FF2B5EF4-FFF2-40B4-BE49-F238E27FC236}">
                <a16:creationId xmlns:a16="http://schemas.microsoft.com/office/drawing/2014/main" id="{8AF3FAD2-7179-C0F5-C8FD-1397C5E3B633}"/>
              </a:ext>
            </a:extLst>
          </p:cNvPr>
          <p:cNvSpPr txBox="1"/>
          <p:nvPr/>
        </p:nvSpPr>
        <p:spPr>
          <a:xfrm>
            <a:off x="6306022" y="2280901"/>
            <a:ext cx="5453534" cy="1077218"/>
          </a:xfrm>
          <a:prstGeom prst="rect">
            <a:avLst/>
          </a:prstGeom>
          <a:solidFill>
            <a:schemeClr val="accent2">
              <a:lumMod val="20000"/>
              <a:lumOff val="80000"/>
            </a:schemeClr>
          </a:solidFill>
          <a:ln>
            <a:solidFill>
              <a:schemeClr val="accent2">
                <a:lumMod val="50000"/>
              </a:schemeClr>
            </a:solidFill>
          </a:ln>
        </p:spPr>
        <p:txBody>
          <a:bodyPr wrap="square" rtlCol="0">
            <a:spAutoFit/>
          </a:bodyPr>
          <a:lstStyle/>
          <a:p>
            <a:r>
              <a:rPr lang="fr-FR" sz="1600" dirty="0"/>
              <a:t>Symptômes</a:t>
            </a:r>
          </a:p>
          <a:p>
            <a:pPr marL="171450" indent="-171450">
              <a:buFont typeface="Arial" panose="020B0604020202020204" pitchFamily="34" charset="0"/>
              <a:buChar char="•"/>
            </a:pPr>
            <a:r>
              <a:rPr lang="fr-FR" sz="1600" dirty="0"/>
              <a:t>Douleurs faciales au niveau des sinus notifiée</a:t>
            </a:r>
          </a:p>
          <a:p>
            <a:pPr marL="171450" indent="-171450">
              <a:buFont typeface="Arial" panose="020B0604020202020204" pitchFamily="34" charset="0"/>
              <a:buChar char="•"/>
            </a:pPr>
            <a:r>
              <a:rPr lang="fr-FR" sz="1600" dirty="0"/>
              <a:t>Le plongeur hésite à descendre</a:t>
            </a:r>
          </a:p>
          <a:p>
            <a:pPr marL="171450" indent="-171450">
              <a:buFont typeface="Arial" panose="020B0604020202020204" pitchFamily="34" charset="0"/>
              <a:buChar char="•"/>
            </a:pPr>
            <a:r>
              <a:rPr lang="fr-FR" sz="1600" dirty="0"/>
              <a:t>Saignements dans le masque</a:t>
            </a:r>
          </a:p>
        </p:txBody>
      </p:sp>
      <p:sp>
        <p:nvSpPr>
          <p:cNvPr id="6" name="ZoneTexte 5">
            <a:extLst>
              <a:ext uri="{FF2B5EF4-FFF2-40B4-BE49-F238E27FC236}">
                <a16:creationId xmlns:a16="http://schemas.microsoft.com/office/drawing/2014/main" id="{F87FE3A6-1F74-5CA2-226C-3140FADDC95B}"/>
              </a:ext>
            </a:extLst>
          </p:cNvPr>
          <p:cNvSpPr txBox="1"/>
          <p:nvPr/>
        </p:nvSpPr>
        <p:spPr>
          <a:xfrm>
            <a:off x="657225" y="1316201"/>
            <a:ext cx="5438776" cy="1569660"/>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r>
              <a:rPr lang="fr-FR" sz="1600" dirty="0"/>
              <a:t>Compléments par rapport à </a:t>
            </a:r>
            <a:r>
              <a:rPr lang="fr-FR" sz="1600" b="1" dirty="0"/>
              <a:t>PA20</a:t>
            </a:r>
          </a:p>
          <a:p>
            <a:pPr marL="285750" indent="-285750">
              <a:buFont typeface="Arial" panose="020B0604020202020204" pitchFamily="34" charset="0"/>
              <a:buChar char="•"/>
            </a:pPr>
            <a:r>
              <a:rPr lang="fr-FR" sz="1600" dirty="0"/>
              <a:t>Les risques si se produit à la remontée dû à la profondeur</a:t>
            </a:r>
          </a:p>
          <a:p>
            <a:pPr marL="742950" lvl="1" indent="-285750">
              <a:buFont typeface="Arial" panose="020B0604020202020204" pitchFamily="34" charset="0"/>
              <a:buChar char="•"/>
            </a:pPr>
            <a:r>
              <a:rPr lang="fr-FR" sz="1600" dirty="0"/>
              <a:t>Explosion des paliers</a:t>
            </a:r>
          </a:p>
          <a:p>
            <a:pPr marL="742950" lvl="1" indent="-285750">
              <a:buFont typeface="Arial" panose="020B0604020202020204" pitchFamily="34" charset="0"/>
              <a:buChar char="•"/>
            </a:pPr>
            <a:r>
              <a:rPr lang="fr-FR" sz="1600" dirty="0"/>
              <a:t>Impossibilité de faire l’ensemble des paliers</a:t>
            </a:r>
          </a:p>
          <a:p>
            <a:pPr marL="742950" lvl="1" indent="-285750">
              <a:buFont typeface="Arial" panose="020B0604020202020204" pitchFamily="34" charset="0"/>
              <a:buChar char="•"/>
            </a:pPr>
            <a:r>
              <a:rPr lang="fr-FR" sz="1600" dirty="0"/>
              <a:t>Panne d’air</a:t>
            </a:r>
          </a:p>
        </p:txBody>
      </p:sp>
      <p:sp>
        <p:nvSpPr>
          <p:cNvPr id="7" name="ZoneTexte 6">
            <a:extLst>
              <a:ext uri="{FF2B5EF4-FFF2-40B4-BE49-F238E27FC236}">
                <a16:creationId xmlns:a16="http://schemas.microsoft.com/office/drawing/2014/main" id="{25A04BF6-347A-1F85-ADFF-7B8380033CC1}"/>
              </a:ext>
            </a:extLst>
          </p:cNvPr>
          <p:cNvSpPr txBox="1"/>
          <p:nvPr/>
        </p:nvSpPr>
        <p:spPr>
          <a:xfrm>
            <a:off x="6334128" y="4454311"/>
            <a:ext cx="5438776" cy="1815882"/>
          </a:xfrm>
          <a:prstGeom prst="rect">
            <a:avLst/>
          </a:prstGeom>
          <a:solidFill>
            <a:schemeClr val="accent4">
              <a:lumMod val="20000"/>
              <a:lumOff val="80000"/>
            </a:schemeClr>
          </a:solidFill>
          <a:ln>
            <a:solidFill>
              <a:schemeClr val="accent1">
                <a:lumMod val="50000"/>
              </a:schemeClr>
            </a:solidFill>
          </a:ln>
        </p:spPr>
        <p:txBody>
          <a:bodyPr wrap="square" rtlCol="0">
            <a:spAutoFit/>
          </a:bodyPr>
          <a:lstStyle/>
          <a:p>
            <a:r>
              <a:rPr lang="fr-FR" sz="1600" dirty="0"/>
              <a:t>Conduite à tenir</a:t>
            </a:r>
          </a:p>
          <a:p>
            <a:pPr marL="285750" indent="-285750">
              <a:buFont typeface="Arial" panose="020B0604020202020204" pitchFamily="34" charset="0"/>
              <a:buChar char="•"/>
            </a:pPr>
            <a:r>
              <a:rPr lang="fr-FR" sz="1600" dirty="0"/>
              <a:t>Être prêt à forcer la remontée à allure très lente</a:t>
            </a:r>
          </a:p>
          <a:p>
            <a:pPr marL="285750" indent="-285750">
              <a:buFont typeface="Arial" panose="020B0604020202020204" pitchFamily="34" charset="0"/>
              <a:buChar char="•"/>
            </a:pPr>
            <a:r>
              <a:rPr lang="fr-FR" sz="1600" dirty="0"/>
              <a:t>Stopper la remontée / La descente</a:t>
            </a:r>
          </a:p>
          <a:p>
            <a:pPr marL="285750" indent="-285750">
              <a:buFont typeface="Arial" panose="020B0604020202020204" pitchFamily="34" charset="0"/>
              <a:buChar char="•"/>
            </a:pPr>
            <a:r>
              <a:rPr lang="fr-FR" sz="1600" dirty="0"/>
              <a:t>Si en remontée, redescendre jusqu’à l’arrêt de la douleur</a:t>
            </a:r>
          </a:p>
          <a:p>
            <a:pPr marL="285750" indent="-285750">
              <a:buFont typeface="Arial" panose="020B0604020202020204" pitchFamily="34" charset="0"/>
              <a:buChar char="•"/>
            </a:pPr>
            <a:r>
              <a:rPr lang="fr-FR" sz="1600" dirty="0"/>
              <a:t>Remonter très très doucement. Faire des pauses si nécessaire.</a:t>
            </a:r>
          </a:p>
          <a:p>
            <a:pPr marL="285750" indent="-285750">
              <a:buFont typeface="Arial" panose="020B0604020202020204" pitchFamily="34" charset="0"/>
              <a:buChar char="•"/>
            </a:pPr>
            <a:r>
              <a:rPr lang="fr-FR" sz="1600" dirty="0"/>
              <a:t>Si en descente, remontée tout de doucement</a:t>
            </a:r>
          </a:p>
        </p:txBody>
      </p:sp>
      <p:sp>
        <p:nvSpPr>
          <p:cNvPr id="8" name="ZoneTexte 7">
            <a:extLst>
              <a:ext uri="{FF2B5EF4-FFF2-40B4-BE49-F238E27FC236}">
                <a16:creationId xmlns:a16="http://schemas.microsoft.com/office/drawing/2014/main" id="{918DBEB3-5F6E-60AC-5AA2-A1E784E4436C}"/>
              </a:ext>
            </a:extLst>
          </p:cNvPr>
          <p:cNvSpPr txBox="1"/>
          <p:nvPr/>
        </p:nvSpPr>
        <p:spPr>
          <a:xfrm>
            <a:off x="657224" y="4454311"/>
            <a:ext cx="5438776" cy="1077218"/>
          </a:xfrm>
          <a:prstGeom prst="rect">
            <a:avLst/>
          </a:prstGeom>
          <a:solidFill>
            <a:schemeClr val="bg1">
              <a:lumMod val="85000"/>
            </a:schemeClr>
          </a:solidFill>
          <a:ln>
            <a:solidFill>
              <a:schemeClr val="bg1">
                <a:lumMod val="50000"/>
              </a:schemeClr>
            </a:solidFill>
          </a:ln>
        </p:spPr>
        <p:txBody>
          <a:bodyPr wrap="square" rtlCol="0">
            <a:spAutoFit/>
          </a:bodyPr>
          <a:lstStyle/>
          <a:p>
            <a:r>
              <a:rPr lang="fr-FR" sz="1600" dirty="0"/>
              <a:t>Prévention</a:t>
            </a:r>
          </a:p>
          <a:p>
            <a:pPr marL="285750" indent="-285750">
              <a:buFont typeface="Arial" panose="020B0604020202020204" pitchFamily="34" charset="0"/>
              <a:buChar char="•"/>
            </a:pPr>
            <a:r>
              <a:rPr lang="fr-FR" sz="1600" dirty="0"/>
              <a:t>Ne pas plongée avec une sinusite</a:t>
            </a:r>
          </a:p>
          <a:p>
            <a:pPr marL="285750" indent="-285750">
              <a:buFont typeface="Arial" panose="020B0604020202020204" pitchFamily="34" charset="0"/>
              <a:buChar char="•"/>
            </a:pPr>
            <a:r>
              <a:rPr lang="fr-FR" sz="1600" dirty="0"/>
              <a:t>Ne pas plonger avec un rhume</a:t>
            </a:r>
          </a:p>
          <a:p>
            <a:pPr marL="285750" indent="-285750">
              <a:buFont typeface="Arial" panose="020B0604020202020204" pitchFamily="34" charset="0"/>
              <a:buChar char="•"/>
            </a:pPr>
            <a:r>
              <a:rPr lang="fr-FR" sz="1600" dirty="0"/>
              <a:t>Attention aux facteurs favorisants</a:t>
            </a:r>
          </a:p>
        </p:txBody>
      </p:sp>
      <p:sp>
        <p:nvSpPr>
          <p:cNvPr id="10" name="ZoneTexte 9">
            <a:extLst>
              <a:ext uri="{FF2B5EF4-FFF2-40B4-BE49-F238E27FC236}">
                <a16:creationId xmlns:a16="http://schemas.microsoft.com/office/drawing/2014/main" id="{F541B002-C4C4-9C9E-36A6-2EEA060D373F}"/>
              </a:ext>
            </a:extLst>
          </p:cNvPr>
          <p:cNvSpPr txBox="1"/>
          <p:nvPr/>
        </p:nvSpPr>
        <p:spPr>
          <a:xfrm>
            <a:off x="657224" y="828675"/>
            <a:ext cx="5438776" cy="369332"/>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gn="ctr"/>
            <a:r>
              <a:rPr lang="fr-FR" dirty="0"/>
              <a:t>PA40 / N3</a:t>
            </a:r>
          </a:p>
        </p:txBody>
      </p:sp>
      <p:sp>
        <p:nvSpPr>
          <p:cNvPr id="11" name="ZoneTexte 10">
            <a:extLst>
              <a:ext uri="{FF2B5EF4-FFF2-40B4-BE49-F238E27FC236}">
                <a16:creationId xmlns:a16="http://schemas.microsoft.com/office/drawing/2014/main" id="{8AA07097-6A18-1F72-9EB8-5BDE6D62D9C8}"/>
              </a:ext>
            </a:extLst>
          </p:cNvPr>
          <p:cNvSpPr txBox="1"/>
          <p:nvPr/>
        </p:nvSpPr>
        <p:spPr>
          <a:xfrm>
            <a:off x="6291264" y="828675"/>
            <a:ext cx="5438776" cy="369332"/>
          </a:xfrm>
          <a:prstGeom prst="rect">
            <a:avLst/>
          </a:prstGeom>
          <a:solidFill>
            <a:schemeClr val="accent6">
              <a:lumMod val="20000"/>
              <a:lumOff val="80000"/>
            </a:schemeClr>
          </a:solidFill>
          <a:ln>
            <a:solidFill>
              <a:schemeClr val="accent6">
                <a:lumMod val="50000"/>
              </a:schemeClr>
            </a:solidFill>
          </a:ln>
        </p:spPr>
        <p:txBody>
          <a:bodyPr wrap="square" rtlCol="0">
            <a:spAutoFit/>
          </a:bodyPr>
          <a:lstStyle/>
          <a:p>
            <a:pPr algn="ctr"/>
            <a:r>
              <a:rPr lang="fr-FR" dirty="0"/>
              <a:t>GPN4</a:t>
            </a:r>
          </a:p>
        </p:txBody>
      </p:sp>
      <p:sp>
        <p:nvSpPr>
          <p:cNvPr id="12" name="ZoneTexte 11">
            <a:extLst>
              <a:ext uri="{FF2B5EF4-FFF2-40B4-BE49-F238E27FC236}">
                <a16:creationId xmlns:a16="http://schemas.microsoft.com/office/drawing/2014/main" id="{81976A9F-16A4-13D3-FCEC-78F91713519C}"/>
              </a:ext>
            </a:extLst>
          </p:cNvPr>
          <p:cNvSpPr txBox="1"/>
          <p:nvPr/>
        </p:nvSpPr>
        <p:spPr>
          <a:xfrm>
            <a:off x="6291264" y="1357680"/>
            <a:ext cx="5438776" cy="830997"/>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r>
              <a:rPr lang="fr-FR" sz="1600" dirty="0"/>
              <a:t>Compléments par rapport à PA40 / N3</a:t>
            </a:r>
          </a:p>
          <a:p>
            <a:pPr marL="285750" indent="-285750">
              <a:buFont typeface="Arial" panose="020B0604020202020204" pitchFamily="34" charset="0"/>
              <a:buChar char="•"/>
            </a:pPr>
            <a:r>
              <a:rPr lang="fr-FR" sz="1600" dirty="0"/>
              <a:t>Fiche détaillée</a:t>
            </a:r>
          </a:p>
          <a:p>
            <a:pPr marL="285750" indent="-285750">
              <a:buFont typeface="Arial" panose="020B0604020202020204" pitchFamily="34" charset="0"/>
              <a:buChar char="•"/>
            </a:pPr>
            <a:r>
              <a:rPr lang="fr-FR" sz="1600" dirty="0"/>
              <a:t>Axé sur les membres de la palanquée</a:t>
            </a:r>
          </a:p>
        </p:txBody>
      </p:sp>
      <p:sp>
        <p:nvSpPr>
          <p:cNvPr id="13" name="ZoneTexte 12">
            <a:extLst>
              <a:ext uri="{FF2B5EF4-FFF2-40B4-BE49-F238E27FC236}">
                <a16:creationId xmlns:a16="http://schemas.microsoft.com/office/drawing/2014/main" id="{FA1FCC8A-C314-ED60-75E6-9AB13D509686}"/>
              </a:ext>
            </a:extLst>
          </p:cNvPr>
          <p:cNvSpPr txBox="1"/>
          <p:nvPr/>
        </p:nvSpPr>
        <p:spPr>
          <a:xfrm>
            <a:off x="657224" y="3004410"/>
            <a:ext cx="5438776" cy="1323439"/>
          </a:xfrm>
          <a:prstGeom prst="rect">
            <a:avLst/>
          </a:prstGeom>
          <a:solidFill>
            <a:schemeClr val="accent4">
              <a:lumMod val="20000"/>
              <a:lumOff val="80000"/>
            </a:schemeClr>
          </a:solidFill>
          <a:ln>
            <a:solidFill>
              <a:schemeClr val="accent1">
                <a:lumMod val="50000"/>
              </a:schemeClr>
            </a:solidFill>
          </a:ln>
        </p:spPr>
        <p:txBody>
          <a:bodyPr wrap="square" rtlCol="0">
            <a:spAutoFit/>
          </a:bodyPr>
          <a:lstStyle/>
          <a:p>
            <a:r>
              <a:rPr lang="fr-FR" sz="1600" dirty="0"/>
              <a:t>Conduite</a:t>
            </a:r>
          </a:p>
          <a:p>
            <a:pPr marL="285750" indent="-285750">
              <a:buFont typeface="Arial" panose="020B0604020202020204" pitchFamily="34" charset="0"/>
              <a:buChar char="•"/>
            </a:pPr>
            <a:r>
              <a:rPr lang="fr-FR" sz="1600" dirty="0"/>
              <a:t>Informer sa palanquée</a:t>
            </a:r>
          </a:p>
          <a:p>
            <a:pPr marL="285750" indent="-285750">
              <a:buFont typeface="Arial" panose="020B0604020202020204" pitchFamily="34" charset="0"/>
              <a:buChar char="•"/>
            </a:pPr>
            <a:r>
              <a:rPr lang="fr-FR" sz="1600" dirty="0"/>
              <a:t>Remonter doucement</a:t>
            </a:r>
          </a:p>
          <a:p>
            <a:pPr marL="285750" indent="-285750">
              <a:buFont typeface="Arial" panose="020B0604020202020204" pitchFamily="34" charset="0"/>
              <a:buChar char="•"/>
            </a:pPr>
            <a:r>
              <a:rPr lang="fr-FR" sz="1600" dirty="0"/>
              <a:t>être capable de passer outre la douleur pour remonter</a:t>
            </a:r>
          </a:p>
          <a:p>
            <a:pPr marL="285750" indent="-285750">
              <a:buFont typeface="Arial" panose="020B0604020202020204" pitchFamily="34" charset="0"/>
              <a:buChar char="•"/>
            </a:pPr>
            <a:r>
              <a:rPr lang="fr-FR" sz="1600" dirty="0"/>
              <a:t>Eviter l’explosion des paliers et panne d’air</a:t>
            </a:r>
          </a:p>
        </p:txBody>
      </p:sp>
      <p:sp>
        <p:nvSpPr>
          <p:cNvPr id="14" name="ZoneTexte 13">
            <a:extLst>
              <a:ext uri="{FF2B5EF4-FFF2-40B4-BE49-F238E27FC236}">
                <a16:creationId xmlns:a16="http://schemas.microsoft.com/office/drawing/2014/main" id="{27F210AD-BBD6-209E-91C2-20295B5CDD4E}"/>
              </a:ext>
            </a:extLst>
          </p:cNvPr>
          <p:cNvSpPr txBox="1"/>
          <p:nvPr/>
        </p:nvSpPr>
        <p:spPr>
          <a:xfrm>
            <a:off x="6334128" y="3485594"/>
            <a:ext cx="5438776" cy="830997"/>
          </a:xfrm>
          <a:prstGeom prst="rect">
            <a:avLst/>
          </a:prstGeom>
          <a:solidFill>
            <a:schemeClr val="bg1">
              <a:lumMod val="85000"/>
            </a:schemeClr>
          </a:solidFill>
          <a:ln>
            <a:solidFill>
              <a:schemeClr val="bg1">
                <a:lumMod val="50000"/>
              </a:schemeClr>
            </a:solidFill>
          </a:ln>
        </p:spPr>
        <p:txBody>
          <a:bodyPr wrap="square" rtlCol="0">
            <a:spAutoFit/>
          </a:bodyPr>
          <a:lstStyle/>
          <a:p>
            <a:r>
              <a:rPr lang="fr-FR" sz="1600" dirty="0"/>
              <a:t>Prévention</a:t>
            </a:r>
          </a:p>
          <a:p>
            <a:pPr marL="285750" indent="-285750">
              <a:buFont typeface="Arial" panose="020B0604020202020204" pitchFamily="34" charset="0"/>
              <a:buChar char="•"/>
            </a:pPr>
            <a:r>
              <a:rPr lang="fr-FR" sz="1600" dirty="0"/>
              <a:t>S’informer de l’état de santé de la palanquée</a:t>
            </a:r>
          </a:p>
          <a:p>
            <a:pPr marL="285750" indent="-285750">
              <a:buFont typeface="Arial" panose="020B0604020202020204" pitchFamily="34" charset="0"/>
              <a:buChar char="•"/>
            </a:pPr>
            <a:r>
              <a:rPr lang="fr-FR" sz="1600" dirty="0"/>
              <a:t>S’informer des plongées et journées précédentes</a:t>
            </a:r>
          </a:p>
        </p:txBody>
      </p:sp>
    </p:spTree>
    <p:extLst>
      <p:ext uri="{BB962C8B-B14F-4D97-AF65-F5344CB8AC3E}">
        <p14:creationId xmlns:p14="http://schemas.microsoft.com/office/powerpoint/2010/main" val="4048493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E68B6-6EFC-6653-0BEA-F9F9EA5C369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CBF5EC2-7DE1-C2AF-55F2-527ABD25937E}"/>
              </a:ext>
            </a:extLst>
          </p:cNvPr>
          <p:cNvSpPr>
            <a:spLocks noGrp="1"/>
          </p:cNvSpPr>
          <p:nvPr>
            <p:ph type="title"/>
          </p:nvPr>
        </p:nvSpPr>
        <p:spPr>
          <a:xfrm>
            <a:off x="0" y="0"/>
            <a:ext cx="12192000" cy="611059"/>
          </a:xfrm>
        </p:spPr>
        <p:txBody>
          <a:bodyPr>
            <a:normAutofit fontScale="90000"/>
          </a:bodyPr>
          <a:lstStyle/>
          <a:p>
            <a:pPr algn="ctr"/>
            <a:r>
              <a:rPr lang="fr-FR" dirty="0"/>
              <a:t>Barotraumatismes: Les oreilles</a:t>
            </a:r>
          </a:p>
        </p:txBody>
      </p:sp>
      <p:sp>
        <p:nvSpPr>
          <p:cNvPr id="3" name="Espace réservé du contenu 2">
            <a:extLst>
              <a:ext uri="{FF2B5EF4-FFF2-40B4-BE49-F238E27FC236}">
                <a16:creationId xmlns:a16="http://schemas.microsoft.com/office/drawing/2014/main" id="{76F3C8D4-381D-B1B0-5912-1E9DB4574173}"/>
              </a:ext>
            </a:extLst>
          </p:cNvPr>
          <p:cNvSpPr>
            <a:spLocks noGrp="1"/>
          </p:cNvSpPr>
          <p:nvPr>
            <p:ph idx="1"/>
          </p:nvPr>
        </p:nvSpPr>
        <p:spPr>
          <a:xfrm>
            <a:off x="583573" y="648056"/>
            <a:ext cx="11064254" cy="697015"/>
          </a:xfrm>
          <a:solidFill>
            <a:schemeClr val="accent6">
              <a:lumMod val="20000"/>
              <a:lumOff val="80000"/>
            </a:schemeClr>
          </a:solidFill>
          <a:ln>
            <a:solidFill>
              <a:schemeClr val="accent6">
                <a:lumMod val="50000"/>
              </a:schemeClr>
            </a:solidFill>
          </a:ln>
        </p:spPr>
        <p:txBody>
          <a:bodyPr>
            <a:normAutofit/>
          </a:bodyPr>
          <a:lstStyle/>
          <a:p>
            <a:pPr marL="0" indent="0" algn="ctr">
              <a:buNone/>
            </a:pPr>
            <a:r>
              <a:rPr lang="fr-FR" sz="1200" dirty="0"/>
              <a:t>La star, le problème que tout le monde a rencontré à la piscine en allant au fond.</a:t>
            </a:r>
          </a:p>
          <a:p>
            <a:pPr marL="0" indent="0" algn="ctr">
              <a:buNone/>
            </a:pPr>
            <a:r>
              <a:rPr lang="fr-FR" sz="1200" i="1" dirty="0"/>
              <a:t>Monsieur, la plongée c’est pas pour moi, à 2m j’ai mal aux oreilles…</a:t>
            </a:r>
          </a:p>
        </p:txBody>
      </p:sp>
      <p:grpSp>
        <p:nvGrpSpPr>
          <p:cNvPr id="14" name="Groupe 13">
            <a:extLst>
              <a:ext uri="{FF2B5EF4-FFF2-40B4-BE49-F238E27FC236}">
                <a16:creationId xmlns:a16="http://schemas.microsoft.com/office/drawing/2014/main" id="{7A350F69-7151-965D-AC2E-55611C117B3B}"/>
              </a:ext>
            </a:extLst>
          </p:cNvPr>
          <p:cNvGrpSpPr/>
          <p:nvPr/>
        </p:nvGrpSpPr>
        <p:grpSpPr>
          <a:xfrm>
            <a:off x="197811" y="1519336"/>
            <a:ext cx="5705733" cy="4690608"/>
            <a:chOff x="583573" y="2060792"/>
            <a:chExt cx="5705733" cy="4690608"/>
          </a:xfrm>
        </p:grpSpPr>
        <p:pic>
          <p:nvPicPr>
            <p:cNvPr id="7" name="Image 6">
              <a:extLst>
                <a:ext uri="{FF2B5EF4-FFF2-40B4-BE49-F238E27FC236}">
                  <a16:creationId xmlns:a16="http://schemas.microsoft.com/office/drawing/2014/main" id="{07504918-7907-A768-B3A7-C7F0AD26C3C0}"/>
                </a:ext>
              </a:extLst>
            </p:cNvPr>
            <p:cNvPicPr>
              <a:picLocks noChangeAspect="1"/>
            </p:cNvPicPr>
            <p:nvPr/>
          </p:nvPicPr>
          <p:blipFill>
            <a:blip r:embed="rId2"/>
            <a:stretch>
              <a:fillRect/>
            </a:stretch>
          </p:blipFill>
          <p:spPr>
            <a:xfrm>
              <a:off x="583573" y="2060792"/>
              <a:ext cx="4764894" cy="4690608"/>
            </a:xfrm>
            <a:prstGeom prst="rect">
              <a:avLst/>
            </a:prstGeom>
          </p:spPr>
        </p:pic>
        <p:sp>
          <p:nvSpPr>
            <p:cNvPr id="8" name="ZoneTexte 7">
              <a:extLst>
                <a:ext uri="{FF2B5EF4-FFF2-40B4-BE49-F238E27FC236}">
                  <a16:creationId xmlns:a16="http://schemas.microsoft.com/office/drawing/2014/main" id="{C71D4B47-3120-B1D4-2527-71DA2324A56B}"/>
                </a:ext>
              </a:extLst>
            </p:cNvPr>
            <p:cNvSpPr txBox="1"/>
            <p:nvPr/>
          </p:nvSpPr>
          <p:spPr>
            <a:xfrm>
              <a:off x="4812620" y="4566586"/>
              <a:ext cx="1476686" cy="461665"/>
            </a:xfrm>
            <a:prstGeom prst="rect">
              <a:avLst/>
            </a:prstGeom>
            <a:noFill/>
          </p:spPr>
          <p:txBody>
            <a:bodyPr wrap="none" rtlCol="0">
              <a:spAutoFit/>
            </a:bodyPr>
            <a:lstStyle/>
            <a:p>
              <a:r>
                <a:rPr lang="fr-FR" sz="1200" dirty="0"/>
                <a:t>Vestibule </a:t>
              </a:r>
            </a:p>
            <a:p>
              <a:r>
                <a:rPr lang="fr-FR" sz="1200" dirty="0"/>
                <a:t>(utricule &amp; saccule)</a:t>
              </a:r>
            </a:p>
          </p:txBody>
        </p:sp>
        <p:cxnSp>
          <p:nvCxnSpPr>
            <p:cNvPr id="10" name="Connecteur droit 9">
              <a:extLst>
                <a:ext uri="{FF2B5EF4-FFF2-40B4-BE49-F238E27FC236}">
                  <a16:creationId xmlns:a16="http://schemas.microsoft.com/office/drawing/2014/main" id="{06A49AD2-FC0C-5555-8BC4-FF4CA9C4D352}"/>
                </a:ext>
              </a:extLst>
            </p:cNvPr>
            <p:cNvCxnSpPr>
              <a:cxnSpLocks/>
            </p:cNvCxnSpPr>
            <p:nvPr/>
          </p:nvCxnSpPr>
          <p:spPr>
            <a:xfrm flipH="1" flipV="1">
              <a:off x="3449782" y="4572000"/>
              <a:ext cx="1493693" cy="225419"/>
            </a:xfrm>
            <a:prstGeom prst="line">
              <a:avLst/>
            </a:prstGeom>
          </p:spPr>
          <p:style>
            <a:lnRef idx="2">
              <a:schemeClr val="accent1"/>
            </a:lnRef>
            <a:fillRef idx="0">
              <a:schemeClr val="accent1"/>
            </a:fillRef>
            <a:effectRef idx="1">
              <a:schemeClr val="accent1"/>
            </a:effectRef>
            <a:fontRef idx="minor">
              <a:schemeClr val="tx1"/>
            </a:fontRef>
          </p:style>
        </p:cxnSp>
        <p:sp>
          <p:nvSpPr>
            <p:cNvPr id="11" name="Accolade fermante 10">
              <a:extLst>
                <a:ext uri="{FF2B5EF4-FFF2-40B4-BE49-F238E27FC236}">
                  <a16:creationId xmlns:a16="http://schemas.microsoft.com/office/drawing/2014/main" id="{69287FCC-79B3-C41E-D562-FA374812DFF7}"/>
                </a:ext>
              </a:extLst>
            </p:cNvPr>
            <p:cNvSpPr/>
            <p:nvPr/>
          </p:nvSpPr>
          <p:spPr>
            <a:xfrm>
              <a:off x="5126182" y="3400028"/>
              <a:ext cx="222285" cy="72783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2" name="ZoneTexte 11">
              <a:extLst>
                <a:ext uri="{FF2B5EF4-FFF2-40B4-BE49-F238E27FC236}">
                  <a16:creationId xmlns:a16="http://schemas.microsoft.com/office/drawing/2014/main" id="{97074134-973B-765F-54CD-783C757E1C79}"/>
                </a:ext>
              </a:extLst>
            </p:cNvPr>
            <p:cNvSpPr txBox="1"/>
            <p:nvPr/>
          </p:nvSpPr>
          <p:spPr>
            <a:xfrm>
              <a:off x="5309566" y="3625446"/>
              <a:ext cx="930191" cy="276999"/>
            </a:xfrm>
            <a:prstGeom prst="rect">
              <a:avLst/>
            </a:prstGeom>
            <a:noFill/>
          </p:spPr>
          <p:txBody>
            <a:bodyPr wrap="none" rtlCol="0">
              <a:spAutoFit/>
            </a:bodyPr>
            <a:lstStyle/>
            <a:p>
              <a:r>
                <a:rPr lang="fr-FR" sz="1200" dirty="0"/>
                <a:t>Nerf auditif</a:t>
              </a:r>
            </a:p>
          </p:txBody>
        </p:sp>
      </p:grpSp>
      <p:sp>
        <p:nvSpPr>
          <p:cNvPr id="15" name="ZoneTexte 14">
            <a:extLst>
              <a:ext uri="{FF2B5EF4-FFF2-40B4-BE49-F238E27FC236}">
                <a16:creationId xmlns:a16="http://schemas.microsoft.com/office/drawing/2014/main" id="{3D3A8A12-EB44-2408-5D30-E6A34444B39D}"/>
              </a:ext>
            </a:extLst>
          </p:cNvPr>
          <p:cNvSpPr txBox="1"/>
          <p:nvPr/>
        </p:nvSpPr>
        <p:spPr>
          <a:xfrm>
            <a:off x="6228103" y="1545107"/>
            <a:ext cx="5419724" cy="1815882"/>
          </a:xfrm>
          <a:prstGeom prst="rect">
            <a:avLst/>
          </a:prstGeom>
          <a:solidFill>
            <a:schemeClr val="tx2">
              <a:lumMod val="10000"/>
              <a:lumOff val="90000"/>
            </a:schemeClr>
          </a:solidFill>
          <a:ln>
            <a:solidFill>
              <a:schemeClr val="tx2">
                <a:lumMod val="90000"/>
                <a:lumOff val="10000"/>
              </a:schemeClr>
            </a:solidFill>
          </a:ln>
        </p:spPr>
        <p:txBody>
          <a:bodyPr wrap="square" rtlCol="0">
            <a:spAutoFit/>
          </a:bodyPr>
          <a:lstStyle/>
          <a:p>
            <a:r>
              <a:rPr lang="fr-FR" sz="1600" dirty="0"/>
              <a:t>Rôles:</a:t>
            </a:r>
          </a:p>
          <a:p>
            <a:pPr marL="285750" indent="-285750">
              <a:buFont typeface="Arial" panose="020B0604020202020204" pitchFamily="34" charset="0"/>
              <a:buChar char="•"/>
            </a:pPr>
            <a:r>
              <a:rPr lang="fr-FR" sz="1600" dirty="0"/>
              <a:t>Oreille externe: converti l’onde sonore en vibration</a:t>
            </a:r>
          </a:p>
          <a:p>
            <a:pPr marL="285750" indent="-285750">
              <a:buFont typeface="Arial" panose="020B0604020202020204" pitchFamily="34" charset="0"/>
              <a:buChar char="•"/>
            </a:pPr>
            <a:r>
              <a:rPr lang="fr-FR" sz="1600" dirty="0"/>
              <a:t>Oreille moyenne: transforme la vibration en vibration pour le vestibule et la cochlée via la fenêtre ovale</a:t>
            </a:r>
          </a:p>
          <a:p>
            <a:pPr marL="285750" indent="-285750">
              <a:buFont typeface="Arial" panose="020B0604020202020204" pitchFamily="34" charset="0"/>
              <a:buChar char="•"/>
            </a:pPr>
            <a:r>
              <a:rPr lang="fr-FR" sz="1600" dirty="0"/>
              <a:t>Le vestibule et canaux semi circulaire (3 à angle droit) pour l’équilibre</a:t>
            </a:r>
          </a:p>
          <a:p>
            <a:pPr marL="285750" indent="-285750">
              <a:buFont typeface="Arial" panose="020B0604020202020204" pitchFamily="34" charset="0"/>
              <a:buChar char="•"/>
            </a:pPr>
            <a:r>
              <a:rPr lang="fr-FR" sz="1600" dirty="0"/>
              <a:t>La cochlée pour l’audition</a:t>
            </a:r>
          </a:p>
        </p:txBody>
      </p:sp>
    </p:spTree>
    <p:extLst>
      <p:ext uri="{BB962C8B-B14F-4D97-AF65-F5344CB8AC3E}">
        <p14:creationId xmlns:p14="http://schemas.microsoft.com/office/powerpoint/2010/main" val="788016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8F0DE-BB79-EE6B-CCEA-33CC36772D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AEE5EA-C83A-9211-AE43-F7D5F7FE9176}"/>
              </a:ext>
            </a:extLst>
          </p:cNvPr>
          <p:cNvSpPr>
            <a:spLocks noGrp="1"/>
          </p:cNvSpPr>
          <p:nvPr>
            <p:ph type="title"/>
          </p:nvPr>
        </p:nvSpPr>
        <p:spPr>
          <a:xfrm>
            <a:off x="0" y="0"/>
            <a:ext cx="12192000" cy="611059"/>
          </a:xfrm>
        </p:spPr>
        <p:txBody>
          <a:bodyPr>
            <a:normAutofit fontScale="90000"/>
          </a:bodyPr>
          <a:lstStyle/>
          <a:p>
            <a:pPr algn="ctr"/>
            <a:r>
              <a:rPr lang="fr-FR" dirty="0"/>
              <a:t>Barotraumatismes: Les oreilles</a:t>
            </a:r>
          </a:p>
        </p:txBody>
      </p:sp>
      <p:sp>
        <p:nvSpPr>
          <p:cNvPr id="3" name="Espace réservé du contenu 2">
            <a:extLst>
              <a:ext uri="{FF2B5EF4-FFF2-40B4-BE49-F238E27FC236}">
                <a16:creationId xmlns:a16="http://schemas.microsoft.com/office/drawing/2014/main" id="{F610459D-EB3F-8B2C-8F70-8346A30EFD5F}"/>
              </a:ext>
            </a:extLst>
          </p:cNvPr>
          <p:cNvSpPr>
            <a:spLocks noGrp="1"/>
          </p:cNvSpPr>
          <p:nvPr>
            <p:ph idx="1"/>
          </p:nvPr>
        </p:nvSpPr>
        <p:spPr>
          <a:xfrm>
            <a:off x="608634" y="925055"/>
            <a:ext cx="4923333" cy="857977"/>
          </a:xfrm>
          <a:solidFill>
            <a:schemeClr val="accent6">
              <a:lumMod val="20000"/>
              <a:lumOff val="80000"/>
            </a:schemeClr>
          </a:solidFill>
          <a:ln>
            <a:solidFill>
              <a:schemeClr val="accent6">
                <a:lumMod val="50000"/>
              </a:schemeClr>
            </a:solidFill>
          </a:ln>
        </p:spPr>
        <p:txBody>
          <a:bodyPr>
            <a:normAutofit/>
          </a:bodyPr>
          <a:lstStyle/>
          <a:p>
            <a:pPr marL="0" indent="0" algn="ctr">
              <a:buNone/>
            </a:pPr>
            <a:r>
              <a:rPr lang="fr-FR" sz="1200" dirty="0"/>
              <a:t>La star, le problème que tout le monde a rencontré à la piscine en allant au fond.</a:t>
            </a:r>
          </a:p>
          <a:p>
            <a:pPr marL="0" indent="0" algn="ctr">
              <a:buNone/>
            </a:pPr>
            <a:r>
              <a:rPr lang="fr-FR" sz="1200" i="1" dirty="0"/>
              <a:t>Monsieur, la plongée c’est pas pour moi, à 2m j’ai mal aux oreilles…</a:t>
            </a:r>
          </a:p>
        </p:txBody>
      </p:sp>
      <p:sp>
        <p:nvSpPr>
          <p:cNvPr id="4" name="ZoneTexte 3">
            <a:extLst>
              <a:ext uri="{FF2B5EF4-FFF2-40B4-BE49-F238E27FC236}">
                <a16:creationId xmlns:a16="http://schemas.microsoft.com/office/drawing/2014/main" id="{8C356056-4A86-69C6-4C9A-A9D81A14F80F}"/>
              </a:ext>
            </a:extLst>
          </p:cNvPr>
          <p:cNvSpPr txBox="1"/>
          <p:nvPr/>
        </p:nvSpPr>
        <p:spPr>
          <a:xfrm>
            <a:off x="5715467" y="925055"/>
            <a:ext cx="6188753" cy="1569660"/>
          </a:xfrm>
          <a:prstGeom prst="rect">
            <a:avLst/>
          </a:prstGeom>
          <a:solidFill>
            <a:schemeClr val="accent2">
              <a:lumMod val="20000"/>
              <a:lumOff val="80000"/>
            </a:schemeClr>
          </a:solidFill>
          <a:ln>
            <a:solidFill>
              <a:schemeClr val="accent2">
                <a:lumMod val="50000"/>
              </a:schemeClr>
            </a:solidFill>
          </a:ln>
        </p:spPr>
        <p:txBody>
          <a:bodyPr wrap="square" rtlCol="0">
            <a:spAutoFit/>
          </a:bodyPr>
          <a:lstStyle/>
          <a:p>
            <a:r>
              <a:rPr lang="fr-FR" sz="1200" dirty="0"/>
              <a:t>D’où cela vient ?</a:t>
            </a:r>
          </a:p>
          <a:p>
            <a:pPr marL="285750" indent="-285750">
              <a:buFont typeface="Arial" panose="020B0604020202020204" pitchFamily="34" charset="0"/>
              <a:buChar char="•"/>
            </a:pPr>
            <a:r>
              <a:rPr lang="fr-FR" sz="1200" dirty="0"/>
              <a:t>Oreille composée de 3 zones</a:t>
            </a:r>
          </a:p>
          <a:p>
            <a:pPr marL="742950" lvl="1" indent="-285750">
              <a:buFont typeface="Arial" panose="020B0604020202020204" pitchFamily="34" charset="0"/>
              <a:buChar char="•"/>
            </a:pPr>
            <a:r>
              <a:rPr lang="fr-FR" sz="1200" dirty="0"/>
              <a:t>Oreille externe</a:t>
            </a:r>
          </a:p>
          <a:p>
            <a:pPr marL="742950" lvl="1" indent="-285750">
              <a:buFont typeface="Arial" panose="020B0604020202020204" pitchFamily="34" charset="0"/>
              <a:buChar char="•"/>
            </a:pPr>
            <a:r>
              <a:rPr lang="fr-FR" sz="1200" dirty="0"/>
              <a:t>Oreille moyenne</a:t>
            </a:r>
          </a:p>
          <a:p>
            <a:pPr marL="742950" lvl="1" indent="-285750">
              <a:buFont typeface="Arial" panose="020B0604020202020204" pitchFamily="34" charset="0"/>
              <a:buChar char="•"/>
            </a:pPr>
            <a:r>
              <a:rPr lang="fr-FR" sz="1200" dirty="0"/>
              <a:t>Oreille interne</a:t>
            </a:r>
          </a:p>
          <a:p>
            <a:pPr marL="285750" indent="-285750">
              <a:buFont typeface="Arial" panose="020B0604020202020204" pitchFamily="34" charset="0"/>
              <a:buChar char="•"/>
            </a:pPr>
            <a:r>
              <a:rPr lang="fr-FR" sz="1200" dirty="0"/>
              <a:t>Entre les deux premières zones, le tympan</a:t>
            </a:r>
          </a:p>
          <a:p>
            <a:pPr marL="285750" indent="-285750">
              <a:buFont typeface="Arial" panose="020B0604020202020204" pitchFamily="34" charset="0"/>
              <a:buChar char="•"/>
            </a:pPr>
            <a:r>
              <a:rPr lang="fr-FR" sz="1200" dirty="0"/>
              <a:t>Quand on descend l’eau appuie sur le tympan qui se déforme =&gt; douleur si trop grande</a:t>
            </a:r>
          </a:p>
          <a:p>
            <a:pPr marL="285750" indent="-285750">
              <a:buFont typeface="Arial" panose="020B0604020202020204" pitchFamily="34" charset="0"/>
              <a:buChar char="•"/>
            </a:pPr>
            <a:r>
              <a:rPr lang="fr-FR" sz="1200" dirty="0"/>
              <a:t>Quand on remonte si le rééquilibrage tarde, on peut avoir des vertiges</a:t>
            </a:r>
          </a:p>
        </p:txBody>
      </p:sp>
      <p:sp>
        <p:nvSpPr>
          <p:cNvPr id="5" name="ZoneTexte 4">
            <a:extLst>
              <a:ext uri="{FF2B5EF4-FFF2-40B4-BE49-F238E27FC236}">
                <a16:creationId xmlns:a16="http://schemas.microsoft.com/office/drawing/2014/main" id="{A6418F54-E930-4693-B38F-C0B8EEF1CB44}"/>
              </a:ext>
            </a:extLst>
          </p:cNvPr>
          <p:cNvSpPr txBox="1"/>
          <p:nvPr/>
        </p:nvSpPr>
        <p:spPr>
          <a:xfrm>
            <a:off x="5715467" y="5093530"/>
            <a:ext cx="6188753" cy="1569660"/>
          </a:xfrm>
          <a:prstGeom prst="rect">
            <a:avLst/>
          </a:prstGeom>
          <a:solidFill>
            <a:schemeClr val="accent4">
              <a:lumMod val="20000"/>
              <a:lumOff val="80000"/>
            </a:schemeClr>
          </a:solidFill>
          <a:ln>
            <a:solidFill>
              <a:schemeClr val="accent1">
                <a:lumMod val="50000"/>
              </a:schemeClr>
            </a:solidFill>
          </a:ln>
        </p:spPr>
        <p:txBody>
          <a:bodyPr wrap="square" rtlCol="0">
            <a:spAutoFit/>
          </a:bodyPr>
          <a:lstStyle/>
          <a:p>
            <a:r>
              <a:rPr lang="fr-FR" sz="1200" dirty="0"/>
              <a:t>Solution</a:t>
            </a:r>
          </a:p>
          <a:p>
            <a:pPr marL="285750" indent="-285750">
              <a:buFont typeface="Arial" panose="020B0604020202020204" pitchFamily="34" charset="0"/>
              <a:buChar char="•"/>
            </a:pPr>
            <a:r>
              <a:rPr lang="fr-FR" sz="1200" dirty="0"/>
              <a:t>Rééquilibrer la pression entre l’oreille externe et l’oreille moyenne</a:t>
            </a:r>
          </a:p>
          <a:p>
            <a:pPr marL="285750" indent="-285750">
              <a:buFont typeface="Arial" panose="020B0604020202020204" pitchFamily="34" charset="0"/>
              <a:buChar char="•"/>
            </a:pPr>
            <a:r>
              <a:rPr lang="fr-FR" sz="1200" dirty="0"/>
              <a:t>Coup de chance: La trompe d’Eustache assure la communication entre</a:t>
            </a:r>
          </a:p>
          <a:p>
            <a:pPr marL="742950" lvl="1" indent="-285750">
              <a:buFont typeface="Arial" panose="020B0604020202020204" pitchFamily="34" charset="0"/>
              <a:buChar char="•"/>
            </a:pPr>
            <a:r>
              <a:rPr lang="fr-FR" sz="1200" dirty="0"/>
              <a:t>Oreille moyenne</a:t>
            </a:r>
          </a:p>
          <a:p>
            <a:pPr marL="742950" lvl="1" indent="-285750">
              <a:buFont typeface="Arial" panose="020B0604020202020204" pitchFamily="34" charset="0"/>
              <a:buChar char="•"/>
            </a:pPr>
            <a:r>
              <a:rPr lang="fr-FR" sz="1200" dirty="0"/>
              <a:t>Le pharynx</a:t>
            </a:r>
          </a:p>
          <a:p>
            <a:r>
              <a:rPr lang="fr-FR" sz="1200" dirty="0"/>
              <a:t>Concrètement</a:t>
            </a:r>
          </a:p>
          <a:p>
            <a:pPr marL="285750" indent="-285750">
              <a:buFont typeface="Arial" panose="020B0604020202020204" pitchFamily="34" charset="0"/>
              <a:buChar char="•"/>
            </a:pPr>
            <a:r>
              <a:rPr lang="fr-FR" sz="1200" dirty="0"/>
              <a:t>On va envoyer de l’air dans l’oreille moyenne via la trompe d’Eustache</a:t>
            </a:r>
          </a:p>
          <a:p>
            <a:pPr marL="285750" indent="-285750">
              <a:buFont typeface="Arial" panose="020B0604020202020204" pitchFamily="34" charset="0"/>
              <a:buChar char="•"/>
            </a:pPr>
            <a:r>
              <a:rPr lang="fr-FR" sz="1200" dirty="0"/>
              <a:t>Technique: Valsalva, Frenzel, BTV</a:t>
            </a:r>
          </a:p>
        </p:txBody>
      </p:sp>
      <p:sp>
        <p:nvSpPr>
          <p:cNvPr id="6" name="ZoneTexte 5">
            <a:extLst>
              <a:ext uri="{FF2B5EF4-FFF2-40B4-BE49-F238E27FC236}">
                <a16:creationId xmlns:a16="http://schemas.microsoft.com/office/drawing/2014/main" id="{B9B091D0-9B66-75F7-4176-7BF8738296A8}"/>
              </a:ext>
            </a:extLst>
          </p:cNvPr>
          <p:cNvSpPr txBox="1"/>
          <p:nvPr/>
        </p:nvSpPr>
        <p:spPr>
          <a:xfrm>
            <a:off x="5715468" y="2621430"/>
            <a:ext cx="6188752" cy="2339102"/>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pPr algn="ctr"/>
            <a:r>
              <a:rPr lang="fr-FR" sz="1400" b="1" dirty="0"/>
              <a:t>Conduite </a:t>
            </a:r>
          </a:p>
          <a:p>
            <a:r>
              <a:rPr lang="fr-FR" sz="1200" dirty="0"/>
              <a:t>Principe de base</a:t>
            </a:r>
          </a:p>
          <a:p>
            <a:pPr marL="285750" indent="-285750">
              <a:buFont typeface="Arial" panose="020B0604020202020204" pitchFamily="34" charset="0"/>
              <a:buChar char="•"/>
            </a:pPr>
            <a:r>
              <a:rPr lang="fr-FR" sz="1200" dirty="0"/>
              <a:t>Remonter, réessayer</a:t>
            </a:r>
          </a:p>
          <a:p>
            <a:pPr marL="285750" indent="-285750">
              <a:buFont typeface="Arial" panose="020B0604020202020204" pitchFamily="34" charset="0"/>
              <a:buChar char="•"/>
            </a:pPr>
            <a:r>
              <a:rPr lang="fr-FR" sz="1200" dirty="0"/>
              <a:t>Ne pas forcer</a:t>
            </a:r>
          </a:p>
          <a:p>
            <a:r>
              <a:rPr lang="fr-FR" sz="1200" dirty="0"/>
              <a:t>En autonomie</a:t>
            </a:r>
          </a:p>
          <a:p>
            <a:pPr marL="285750" indent="-285750">
              <a:buFont typeface="Arial" panose="020B0604020202020204" pitchFamily="34" charset="0"/>
              <a:buChar char="•"/>
            </a:pPr>
            <a:r>
              <a:rPr lang="fr-FR" sz="1200" dirty="0"/>
              <a:t>On reste groupé</a:t>
            </a:r>
          </a:p>
          <a:p>
            <a:pPr marL="285750" indent="-285750">
              <a:buFont typeface="Arial" panose="020B0604020202020204" pitchFamily="34" charset="0"/>
              <a:buChar char="•"/>
            </a:pPr>
            <a:r>
              <a:rPr lang="fr-FR" sz="1200" dirty="0"/>
              <a:t>On accompagne celui qui rencontre le problème</a:t>
            </a:r>
          </a:p>
          <a:p>
            <a:r>
              <a:rPr lang="fr-FR" sz="1200" dirty="0"/>
              <a:t>En tant que GP</a:t>
            </a:r>
          </a:p>
          <a:p>
            <a:pPr marL="285750" indent="-285750">
              <a:buFont typeface="Arial" panose="020B0604020202020204" pitchFamily="34" charset="0"/>
              <a:buChar char="•"/>
            </a:pPr>
            <a:r>
              <a:rPr lang="fr-FR" sz="1200" dirty="0"/>
              <a:t>On surveille l’attitude de la palanquée</a:t>
            </a:r>
          </a:p>
          <a:p>
            <a:pPr marL="285750" indent="-285750">
              <a:buFont typeface="Arial" panose="020B0604020202020204" pitchFamily="34" charset="0"/>
              <a:buChar char="•"/>
            </a:pPr>
            <a:r>
              <a:rPr lang="fr-FR" sz="1200" dirty="0"/>
              <a:t>On stoppe la descente de la palanquée</a:t>
            </a:r>
          </a:p>
          <a:p>
            <a:pPr marL="285750" indent="-285750">
              <a:buFont typeface="Arial" panose="020B0604020202020204" pitchFamily="34" charset="0"/>
              <a:buChar char="•"/>
            </a:pPr>
            <a:r>
              <a:rPr lang="fr-FR" sz="1200" dirty="0"/>
              <a:t>On fait remonter la palanquée</a:t>
            </a:r>
          </a:p>
          <a:p>
            <a:pPr marL="285750" indent="-285750">
              <a:buFont typeface="Arial" panose="020B0604020202020204" pitchFamily="34" charset="0"/>
              <a:buChar char="•"/>
            </a:pPr>
            <a:r>
              <a:rPr lang="fr-FR" sz="1200" dirty="0"/>
              <a:t>Le GP limite son nombre de Valsalva pour protéger ses oreilles</a:t>
            </a:r>
          </a:p>
        </p:txBody>
      </p:sp>
      <p:pic>
        <p:nvPicPr>
          <p:cNvPr id="7" name="Image 6">
            <a:extLst>
              <a:ext uri="{FF2B5EF4-FFF2-40B4-BE49-F238E27FC236}">
                <a16:creationId xmlns:a16="http://schemas.microsoft.com/office/drawing/2014/main" id="{9A836D3F-0FF6-0D42-407D-FD667F205A60}"/>
              </a:ext>
            </a:extLst>
          </p:cNvPr>
          <p:cNvPicPr>
            <a:picLocks noChangeAspect="1"/>
          </p:cNvPicPr>
          <p:nvPr/>
        </p:nvPicPr>
        <p:blipFill>
          <a:blip r:embed="rId2"/>
          <a:stretch>
            <a:fillRect/>
          </a:stretch>
        </p:blipFill>
        <p:spPr>
          <a:xfrm>
            <a:off x="583573" y="2060792"/>
            <a:ext cx="4764894" cy="4690608"/>
          </a:xfrm>
          <a:prstGeom prst="rect">
            <a:avLst/>
          </a:prstGeom>
        </p:spPr>
      </p:pic>
    </p:spTree>
    <p:extLst>
      <p:ext uri="{BB962C8B-B14F-4D97-AF65-F5344CB8AC3E}">
        <p14:creationId xmlns:p14="http://schemas.microsoft.com/office/powerpoint/2010/main" val="3674111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1BFFB-7DBB-BD38-02E1-B62EF5AA427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2D3AEB6-0D5B-F501-24A0-FAC9F47262EA}"/>
              </a:ext>
            </a:extLst>
          </p:cNvPr>
          <p:cNvSpPr>
            <a:spLocks noGrp="1"/>
          </p:cNvSpPr>
          <p:nvPr>
            <p:ph type="title"/>
          </p:nvPr>
        </p:nvSpPr>
        <p:spPr>
          <a:xfrm>
            <a:off x="0" y="0"/>
            <a:ext cx="12192000" cy="611059"/>
          </a:xfrm>
        </p:spPr>
        <p:txBody>
          <a:bodyPr>
            <a:normAutofit fontScale="90000"/>
          </a:bodyPr>
          <a:lstStyle/>
          <a:p>
            <a:pPr algn="ctr"/>
            <a:r>
              <a:rPr lang="fr-FR" dirty="0"/>
              <a:t>Barotraumatismes: Plaquage de masque</a:t>
            </a:r>
          </a:p>
        </p:txBody>
      </p:sp>
      <p:sp>
        <p:nvSpPr>
          <p:cNvPr id="3" name="Espace réservé du contenu 2">
            <a:extLst>
              <a:ext uri="{FF2B5EF4-FFF2-40B4-BE49-F238E27FC236}">
                <a16:creationId xmlns:a16="http://schemas.microsoft.com/office/drawing/2014/main" id="{EDB2005E-DA26-6FE3-6D37-CE7725E141AE}"/>
              </a:ext>
            </a:extLst>
          </p:cNvPr>
          <p:cNvSpPr>
            <a:spLocks noGrp="1"/>
          </p:cNvSpPr>
          <p:nvPr>
            <p:ph idx="1"/>
          </p:nvPr>
        </p:nvSpPr>
        <p:spPr>
          <a:xfrm>
            <a:off x="504356" y="889836"/>
            <a:ext cx="11183288" cy="872863"/>
          </a:xfrm>
          <a:solidFill>
            <a:schemeClr val="accent6">
              <a:lumMod val="20000"/>
              <a:lumOff val="80000"/>
            </a:schemeClr>
          </a:solidFill>
          <a:ln>
            <a:solidFill>
              <a:schemeClr val="accent6">
                <a:lumMod val="50000"/>
              </a:schemeClr>
            </a:solidFill>
          </a:ln>
        </p:spPr>
        <p:txBody>
          <a:bodyPr>
            <a:normAutofit/>
          </a:bodyPr>
          <a:lstStyle/>
          <a:p>
            <a:pPr marL="0" indent="0" algn="ctr">
              <a:buNone/>
            </a:pPr>
            <a:r>
              <a:rPr lang="fr-FR" sz="1800" b="1" dirty="0"/>
              <a:t>Dit la brute</a:t>
            </a:r>
          </a:p>
          <a:p>
            <a:pPr marL="0" indent="0" algn="ctr">
              <a:buNone/>
            </a:pPr>
            <a:r>
              <a:rPr lang="fr-FR" sz="1800" i="1" dirty="0"/>
              <a:t>Tu as une de ces têtes avec tes hématomes autour des yeux</a:t>
            </a:r>
          </a:p>
        </p:txBody>
      </p:sp>
      <p:sp>
        <p:nvSpPr>
          <p:cNvPr id="5" name="ZoneTexte 4">
            <a:extLst>
              <a:ext uri="{FF2B5EF4-FFF2-40B4-BE49-F238E27FC236}">
                <a16:creationId xmlns:a16="http://schemas.microsoft.com/office/drawing/2014/main" id="{9396D642-2001-41FE-8D8E-DE030860D90C}"/>
              </a:ext>
            </a:extLst>
          </p:cNvPr>
          <p:cNvSpPr txBox="1"/>
          <p:nvPr/>
        </p:nvSpPr>
        <p:spPr>
          <a:xfrm>
            <a:off x="504356" y="1889248"/>
            <a:ext cx="11183287" cy="1323439"/>
          </a:xfrm>
          <a:prstGeom prst="rect">
            <a:avLst/>
          </a:prstGeom>
          <a:solidFill>
            <a:schemeClr val="accent2">
              <a:lumMod val="20000"/>
              <a:lumOff val="80000"/>
            </a:schemeClr>
          </a:solidFill>
          <a:ln>
            <a:solidFill>
              <a:schemeClr val="accent2">
                <a:lumMod val="50000"/>
              </a:schemeClr>
            </a:solidFill>
          </a:ln>
        </p:spPr>
        <p:txBody>
          <a:bodyPr wrap="square" rtlCol="0">
            <a:spAutoFit/>
          </a:bodyPr>
          <a:lstStyle/>
          <a:p>
            <a:r>
              <a:rPr lang="fr-FR" sz="1600" dirty="0"/>
              <a:t>D’où cela vient ?</a:t>
            </a:r>
          </a:p>
          <a:p>
            <a:pPr marL="285750" indent="-285750">
              <a:buFont typeface="Arial" panose="020B0604020202020204" pitchFamily="34" charset="0"/>
              <a:buChar char="•"/>
            </a:pPr>
            <a:r>
              <a:rPr lang="fr-FR" sz="1600" dirty="0"/>
              <a:t>Quand on descend</a:t>
            </a:r>
          </a:p>
          <a:p>
            <a:pPr marL="742950" lvl="1" indent="-285750">
              <a:buFont typeface="Arial" panose="020B0604020202020204" pitchFamily="34" charset="0"/>
              <a:buChar char="•"/>
            </a:pPr>
            <a:r>
              <a:rPr lang="fr-FR" sz="1600" dirty="0"/>
              <a:t>La pression à l’extérieur du masque augmente</a:t>
            </a:r>
          </a:p>
          <a:p>
            <a:pPr marL="742950" lvl="1" indent="-285750">
              <a:buFont typeface="Arial" panose="020B0604020202020204" pitchFamily="34" charset="0"/>
              <a:buChar char="•"/>
            </a:pPr>
            <a:r>
              <a:rPr lang="fr-FR" sz="1600" dirty="0"/>
              <a:t>La pression à l’intérieur du masque ne change pas</a:t>
            </a:r>
          </a:p>
          <a:p>
            <a:pPr marL="285750" indent="-285750">
              <a:buFont typeface="Arial" panose="020B0604020202020204" pitchFamily="34" charset="0"/>
              <a:buChar char="•"/>
            </a:pPr>
            <a:r>
              <a:rPr lang="fr-FR" sz="1600" dirty="0"/>
              <a:t>Le masque d’écrase contre le visage conduisant à un effet ventouse =&gt; Hématomes sur le visage autour des yeux</a:t>
            </a:r>
          </a:p>
        </p:txBody>
      </p:sp>
      <p:sp>
        <p:nvSpPr>
          <p:cNvPr id="6" name="ZoneTexte 5">
            <a:extLst>
              <a:ext uri="{FF2B5EF4-FFF2-40B4-BE49-F238E27FC236}">
                <a16:creationId xmlns:a16="http://schemas.microsoft.com/office/drawing/2014/main" id="{D61DA159-2015-6A1C-1338-CF1656E025A4}"/>
              </a:ext>
            </a:extLst>
          </p:cNvPr>
          <p:cNvSpPr txBox="1"/>
          <p:nvPr/>
        </p:nvSpPr>
        <p:spPr>
          <a:xfrm>
            <a:off x="504357" y="3339236"/>
            <a:ext cx="5701572" cy="1077218"/>
          </a:xfrm>
          <a:prstGeom prst="rect">
            <a:avLst/>
          </a:prstGeom>
          <a:solidFill>
            <a:schemeClr val="accent4">
              <a:lumMod val="20000"/>
              <a:lumOff val="80000"/>
            </a:schemeClr>
          </a:solidFill>
          <a:ln>
            <a:solidFill>
              <a:schemeClr val="accent1">
                <a:lumMod val="50000"/>
              </a:schemeClr>
            </a:solidFill>
          </a:ln>
        </p:spPr>
        <p:txBody>
          <a:bodyPr wrap="square" rtlCol="0">
            <a:spAutoFit/>
          </a:bodyPr>
          <a:lstStyle/>
          <a:p>
            <a:r>
              <a:rPr lang="fr-FR" sz="1600" dirty="0"/>
              <a:t>Solution</a:t>
            </a:r>
          </a:p>
          <a:p>
            <a:pPr marL="285750" indent="-285750">
              <a:buFont typeface="Arial" panose="020B0604020202020204" pitchFamily="34" charset="0"/>
              <a:buChar char="•"/>
            </a:pPr>
            <a:r>
              <a:rPr lang="fr-FR" sz="1600" dirty="0"/>
              <a:t>Rééquilibrer la pression pour éviter que le masque s’écrase</a:t>
            </a:r>
          </a:p>
          <a:p>
            <a:r>
              <a:rPr lang="fr-FR" sz="1600" dirty="0"/>
              <a:t>Concrètement</a:t>
            </a:r>
          </a:p>
          <a:p>
            <a:pPr marL="285750" indent="-285750">
              <a:buFont typeface="Arial" panose="020B0604020202020204" pitchFamily="34" charset="0"/>
              <a:buChar char="•"/>
            </a:pPr>
            <a:r>
              <a:rPr lang="fr-FR" sz="1600" dirty="0"/>
              <a:t>Souffler par le nez</a:t>
            </a:r>
          </a:p>
        </p:txBody>
      </p:sp>
      <p:sp>
        <p:nvSpPr>
          <p:cNvPr id="4" name="ZoneTexte 3">
            <a:extLst>
              <a:ext uri="{FF2B5EF4-FFF2-40B4-BE49-F238E27FC236}">
                <a16:creationId xmlns:a16="http://schemas.microsoft.com/office/drawing/2014/main" id="{5CAE7C28-B080-DF66-ACDC-771A7C5AC4F3}"/>
              </a:ext>
            </a:extLst>
          </p:cNvPr>
          <p:cNvSpPr txBox="1"/>
          <p:nvPr/>
        </p:nvSpPr>
        <p:spPr>
          <a:xfrm>
            <a:off x="7738897" y="3339236"/>
            <a:ext cx="3948746" cy="2462213"/>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pPr algn="ctr"/>
            <a:r>
              <a:rPr lang="fr-FR" sz="1400" b="1" dirty="0"/>
              <a:t>Conduite </a:t>
            </a:r>
          </a:p>
          <a:p>
            <a:r>
              <a:rPr lang="fr-FR" sz="1400" dirty="0"/>
              <a:t>Principe de base</a:t>
            </a:r>
          </a:p>
          <a:p>
            <a:pPr marL="285750" indent="-285750">
              <a:buFont typeface="Arial" panose="020B0604020202020204" pitchFamily="34" charset="0"/>
              <a:buChar char="•"/>
            </a:pPr>
            <a:r>
              <a:rPr lang="fr-FR" sz="1400" dirty="0"/>
              <a:t>Souffler par le nez</a:t>
            </a:r>
          </a:p>
          <a:p>
            <a:r>
              <a:rPr lang="fr-FR" sz="1400" dirty="0"/>
              <a:t>En autonomie</a:t>
            </a:r>
          </a:p>
          <a:p>
            <a:pPr marL="285750" indent="-285750">
              <a:buFont typeface="Arial" panose="020B0604020202020204" pitchFamily="34" charset="0"/>
              <a:buChar char="•"/>
            </a:pPr>
            <a:r>
              <a:rPr lang="fr-FR" sz="1400" dirty="0"/>
              <a:t>On reste groupé</a:t>
            </a:r>
          </a:p>
          <a:p>
            <a:pPr marL="285750" indent="-285750">
              <a:buFont typeface="Arial" panose="020B0604020202020204" pitchFamily="34" charset="0"/>
              <a:buChar char="•"/>
            </a:pPr>
            <a:r>
              <a:rPr lang="fr-FR" sz="1400" dirty="0"/>
              <a:t>Observer le visage de son binôme à la descente</a:t>
            </a:r>
          </a:p>
          <a:p>
            <a:r>
              <a:rPr lang="fr-FR" sz="1400" dirty="0"/>
              <a:t>En tant que GP</a:t>
            </a:r>
          </a:p>
          <a:p>
            <a:pPr marL="285750" indent="-285750">
              <a:buFont typeface="Arial" panose="020B0604020202020204" pitchFamily="34" charset="0"/>
              <a:buChar char="•"/>
            </a:pPr>
            <a:r>
              <a:rPr lang="fr-FR" sz="1400" dirty="0"/>
              <a:t>On observe le visage au niveau des yeux des membres de la palanquée</a:t>
            </a:r>
          </a:p>
          <a:p>
            <a:pPr marL="285750" indent="-285750">
              <a:buFont typeface="Arial" panose="020B0604020202020204" pitchFamily="34" charset="0"/>
              <a:buChar char="•"/>
            </a:pPr>
            <a:r>
              <a:rPr lang="fr-FR" sz="1400" dirty="0"/>
              <a:t>Faire souffler par le nez</a:t>
            </a:r>
          </a:p>
        </p:txBody>
      </p:sp>
    </p:spTree>
    <p:extLst>
      <p:ext uri="{BB962C8B-B14F-4D97-AF65-F5344CB8AC3E}">
        <p14:creationId xmlns:p14="http://schemas.microsoft.com/office/powerpoint/2010/main" val="2558810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F59E5-48BF-758A-EA58-386508932E3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8E994B8-25DB-C4F1-7C75-1B3F73C60AC7}"/>
              </a:ext>
            </a:extLst>
          </p:cNvPr>
          <p:cNvSpPr>
            <a:spLocks noGrp="1"/>
          </p:cNvSpPr>
          <p:nvPr>
            <p:ph type="title"/>
          </p:nvPr>
        </p:nvSpPr>
        <p:spPr>
          <a:xfrm>
            <a:off x="0" y="0"/>
            <a:ext cx="12192000" cy="611059"/>
          </a:xfrm>
        </p:spPr>
        <p:txBody>
          <a:bodyPr>
            <a:normAutofit fontScale="90000"/>
          </a:bodyPr>
          <a:lstStyle/>
          <a:p>
            <a:pPr algn="ctr"/>
            <a:r>
              <a:rPr lang="fr-FR" dirty="0"/>
              <a:t>Barotraumatismes: Surpression pulmonaire</a:t>
            </a:r>
          </a:p>
        </p:txBody>
      </p:sp>
      <p:sp>
        <p:nvSpPr>
          <p:cNvPr id="3" name="Espace réservé du contenu 2">
            <a:extLst>
              <a:ext uri="{FF2B5EF4-FFF2-40B4-BE49-F238E27FC236}">
                <a16:creationId xmlns:a16="http://schemas.microsoft.com/office/drawing/2014/main" id="{AF8BABFE-6BCF-E5F1-2631-F4575F6A145D}"/>
              </a:ext>
            </a:extLst>
          </p:cNvPr>
          <p:cNvSpPr>
            <a:spLocks noGrp="1"/>
          </p:cNvSpPr>
          <p:nvPr>
            <p:ph idx="1"/>
          </p:nvPr>
        </p:nvSpPr>
        <p:spPr>
          <a:xfrm>
            <a:off x="504355" y="715208"/>
            <a:ext cx="11183288" cy="611059"/>
          </a:xfrm>
          <a:solidFill>
            <a:schemeClr val="accent6">
              <a:lumMod val="20000"/>
              <a:lumOff val="80000"/>
            </a:schemeClr>
          </a:solidFill>
          <a:ln>
            <a:solidFill>
              <a:schemeClr val="accent6">
                <a:lumMod val="50000"/>
              </a:schemeClr>
            </a:solidFill>
          </a:ln>
        </p:spPr>
        <p:txBody>
          <a:bodyPr>
            <a:normAutofit/>
          </a:bodyPr>
          <a:lstStyle/>
          <a:p>
            <a:pPr marL="0" indent="0" algn="ctr">
              <a:buNone/>
            </a:pPr>
            <a:r>
              <a:rPr lang="fr-FR" sz="1400" b="1" dirty="0"/>
              <a:t>Dit le redoutable</a:t>
            </a:r>
          </a:p>
          <a:p>
            <a:pPr marL="0" indent="0" algn="ctr">
              <a:buNone/>
            </a:pPr>
            <a:r>
              <a:rPr lang="fr-FR" sz="1400" i="1" dirty="0"/>
              <a:t>Peut-être tellement grave que même Pamela n’y peut rien…</a:t>
            </a:r>
          </a:p>
        </p:txBody>
      </p:sp>
      <p:sp>
        <p:nvSpPr>
          <p:cNvPr id="5" name="ZoneTexte 4">
            <a:extLst>
              <a:ext uri="{FF2B5EF4-FFF2-40B4-BE49-F238E27FC236}">
                <a16:creationId xmlns:a16="http://schemas.microsoft.com/office/drawing/2014/main" id="{5C1D9DE3-F61B-1CB1-1CB6-4723984A20E3}"/>
              </a:ext>
            </a:extLst>
          </p:cNvPr>
          <p:cNvSpPr txBox="1"/>
          <p:nvPr/>
        </p:nvSpPr>
        <p:spPr>
          <a:xfrm>
            <a:off x="504355" y="1379181"/>
            <a:ext cx="7620314" cy="2031325"/>
          </a:xfrm>
          <a:prstGeom prst="rect">
            <a:avLst/>
          </a:prstGeom>
          <a:solidFill>
            <a:schemeClr val="accent2">
              <a:lumMod val="20000"/>
              <a:lumOff val="80000"/>
            </a:schemeClr>
          </a:solidFill>
          <a:ln>
            <a:solidFill>
              <a:schemeClr val="accent2">
                <a:lumMod val="50000"/>
              </a:schemeClr>
            </a:solidFill>
          </a:ln>
        </p:spPr>
        <p:txBody>
          <a:bodyPr wrap="square" rtlCol="0">
            <a:spAutoFit/>
          </a:bodyPr>
          <a:lstStyle/>
          <a:p>
            <a:r>
              <a:rPr lang="fr-FR" sz="1400" dirty="0"/>
              <a:t>D’où cela vient ?</a:t>
            </a:r>
          </a:p>
          <a:p>
            <a:pPr marL="285750" indent="-285750">
              <a:buFont typeface="Arial" panose="020B0604020202020204" pitchFamily="34" charset="0"/>
              <a:buChar char="•"/>
            </a:pPr>
            <a:r>
              <a:rPr lang="fr-FR" sz="1400" dirty="0"/>
              <a:t>Cause: Un blocage expiratoire ou une expiration insuffisante, l’air dans les poumons ne s’échappe pas suffisamment.</a:t>
            </a:r>
          </a:p>
          <a:p>
            <a:pPr marL="285750" indent="-285750">
              <a:buFont typeface="Arial" panose="020B0604020202020204" pitchFamily="34" charset="0"/>
              <a:buChar char="•"/>
            </a:pPr>
            <a:r>
              <a:rPr lang="fr-FR" sz="1400" dirty="0"/>
              <a:t>Conséquence: Dilatation des alvéoles pulmonaires (rupture possible) qui conduit à l ‘introduction d’air dans la circulation sanguine.</a:t>
            </a:r>
          </a:p>
          <a:p>
            <a:r>
              <a:rPr lang="fr-FR" sz="1400" dirty="0"/>
              <a:t>Symptômes</a:t>
            </a:r>
          </a:p>
          <a:p>
            <a:pPr marL="285750" indent="-285750">
              <a:buFont typeface="Arial" panose="020B0604020202020204" pitchFamily="34" charset="0"/>
              <a:buChar char="•"/>
            </a:pPr>
            <a:r>
              <a:rPr lang="fr-FR" sz="1400" dirty="0"/>
              <a:t>Trouble neurologique</a:t>
            </a:r>
          </a:p>
          <a:p>
            <a:pPr marL="285750" indent="-285750">
              <a:buFont typeface="Arial" panose="020B0604020202020204" pitchFamily="34" charset="0"/>
              <a:buChar char="•"/>
            </a:pPr>
            <a:r>
              <a:rPr lang="fr-FR" sz="1400" dirty="0"/>
              <a:t>Problèmes respiratoires</a:t>
            </a:r>
          </a:p>
          <a:p>
            <a:pPr marL="285750" indent="-285750">
              <a:buFont typeface="Arial" panose="020B0604020202020204" pitchFamily="34" charset="0"/>
              <a:buChar char="•"/>
            </a:pPr>
            <a:r>
              <a:rPr lang="fr-FR" sz="1400" dirty="0"/>
              <a:t>Toux et crachats sanglants</a:t>
            </a:r>
          </a:p>
        </p:txBody>
      </p:sp>
      <p:sp>
        <p:nvSpPr>
          <p:cNvPr id="6" name="ZoneTexte 5">
            <a:extLst>
              <a:ext uri="{FF2B5EF4-FFF2-40B4-BE49-F238E27FC236}">
                <a16:creationId xmlns:a16="http://schemas.microsoft.com/office/drawing/2014/main" id="{40767BEC-7D74-D70E-B51F-24F3C84E15E8}"/>
              </a:ext>
            </a:extLst>
          </p:cNvPr>
          <p:cNvSpPr txBox="1"/>
          <p:nvPr/>
        </p:nvSpPr>
        <p:spPr>
          <a:xfrm>
            <a:off x="8193624" y="1360601"/>
            <a:ext cx="3494019" cy="1815882"/>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r>
              <a:rPr lang="fr-FR" sz="1400" dirty="0"/>
              <a:t>Causes</a:t>
            </a:r>
          </a:p>
          <a:p>
            <a:pPr marL="285750" indent="-285750">
              <a:buFont typeface="Arial" panose="020B0604020202020204" pitchFamily="34" charset="0"/>
              <a:buChar char="•"/>
            </a:pPr>
            <a:r>
              <a:rPr lang="fr-FR" sz="1400" dirty="0"/>
              <a:t>Blocage expiration: </a:t>
            </a:r>
          </a:p>
          <a:p>
            <a:pPr marL="742950" lvl="1" indent="-285750">
              <a:buFont typeface="Arial" panose="020B0604020202020204" pitchFamily="34" charset="0"/>
              <a:buChar char="•"/>
            </a:pPr>
            <a:r>
              <a:rPr lang="fr-FR" sz="1400" dirty="0"/>
              <a:t>Mauvais reflexe</a:t>
            </a:r>
          </a:p>
          <a:p>
            <a:pPr marL="742950" lvl="1" indent="-285750">
              <a:buFont typeface="Arial" panose="020B0604020202020204" pitchFamily="34" charset="0"/>
              <a:buChar char="•"/>
            </a:pPr>
            <a:r>
              <a:rPr lang="fr-FR" sz="1400" dirty="0"/>
              <a:t>Panique</a:t>
            </a:r>
          </a:p>
          <a:p>
            <a:pPr marL="285750" indent="-285750">
              <a:buFont typeface="Arial" panose="020B0604020202020204" pitchFamily="34" charset="0"/>
              <a:buChar char="•"/>
            </a:pPr>
            <a:r>
              <a:rPr lang="fr-FR" sz="1400" dirty="0"/>
              <a:t>Expiration insuffisante: </a:t>
            </a:r>
          </a:p>
          <a:p>
            <a:pPr marL="742950" lvl="1" indent="-285750">
              <a:buFont typeface="Arial" panose="020B0604020202020204" pitchFamily="34" charset="0"/>
              <a:buChar char="•"/>
            </a:pPr>
            <a:r>
              <a:rPr lang="fr-FR" sz="1400" dirty="0"/>
              <a:t>Essoufflement, R</a:t>
            </a:r>
          </a:p>
          <a:p>
            <a:pPr marL="742950" lvl="1" indent="-285750">
              <a:buFont typeface="Arial" panose="020B0604020202020204" pitchFamily="34" charset="0"/>
              <a:buChar char="•"/>
            </a:pPr>
            <a:r>
              <a:rPr lang="fr-FR" sz="1400" dirty="0"/>
              <a:t>Remontée trop rapide</a:t>
            </a:r>
          </a:p>
          <a:p>
            <a:pPr marL="742950" lvl="1" indent="-285750">
              <a:buFont typeface="Arial" panose="020B0604020202020204" pitchFamily="34" charset="0"/>
              <a:buChar char="•"/>
            </a:pPr>
            <a:r>
              <a:rPr lang="fr-FR" sz="1400" dirty="0"/>
              <a:t>Effort, remontée à 2 sur embout</a:t>
            </a:r>
          </a:p>
        </p:txBody>
      </p:sp>
      <p:sp>
        <p:nvSpPr>
          <p:cNvPr id="7" name="ZoneTexte 6">
            <a:extLst>
              <a:ext uri="{FF2B5EF4-FFF2-40B4-BE49-F238E27FC236}">
                <a16:creationId xmlns:a16="http://schemas.microsoft.com/office/drawing/2014/main" id="{5B2B775E-EF61-9002-71CF-C4C59CC62D56}"/>
              </a:ext>
            </a:extLst>
          </p:cNvPr>
          <p:cNvSpPr txBox="1"/>
          <p:nvPr/>
        </p:nvSpPr>
        <p:spPr>
          <a:xfrm>
            <a:off x="504355" y="3474734"/>
            <a:ext cx="7620313" cy="1815882"/>
          </a:xfrm>
          <a:prstGeom prst="rect">
            <a:avLst/>
          </a:prstGeom>
          <a:solidFill>
            <a:schemeClr val="accent4">
              <a:lumMod val="20000"/>
              <a:lumOff val="80000"/>
            </a:schemeClr>
          </a:solidFill>
          <a:ln>
            <a:solidFill>
              <a:schemeClr val="accent1">
                <a:lumMod val="50000"/>
              </a:schemeClr>
            </a:solidFill>
          </a:ln>
        </p:spPr>
        <p:txBody>
          <a:bodyPr wrap="square" rtlCol="0">
            <a:spAutoFit/>
          </a:bodyPr>
          <a:lstStyle/>
          <a:p>
            <a:r>
              <a:rPr lang="fr-FR" sz="1400" dirty="0"/>
              <a:t>Prévention</a:t>
            </a:r>
          </a:p>
          <a:p>
            <a:pPr marL="285750" indent="-285750">
              <a:buFont typeface="Arial" panose="020B0604020202020204" pitchFamily="34" charset="0"/>
              <a:buChar char="•"/>
            </a:pPr>
            <a:r>
              <a:rPr lang="fr-FR" sz="1400" dirty="0"/>
              <a:t>Ne jamais bloquer l’expiration, pas d’apnée</a:t>
            </a:r>
          </a:p>
          <a:p>
            <a:pPr marL="285750" indent="-285750">
              <a:buFont typeface="Arial" panose="020B0604020202020204" pitchFamily="34" charset="0"/>
              <a:buChar char="•"/>
            </a:pPr>
            <a:r>
              <a:rPr lang="fr-FR" sz="1400" dirty="0"/>
              <a:t>Développer les bons reflexes</a:t>
            </a:r>
          </a:p>
          <a:p>
            <a:pPr marL="285750" indent="-285750">
              <a:buFont typeface="Arial" panose="020B0604020202020204" pitchFamily="34" charset="0"/>
              <a:buChar char="•"/>
            </a:pPr>
            <a:r>
              <a:rPr lang="fr-FR" sz="1400" dirty="0"/>
              <a:t>Respect des vitesses de remontée</a:t>
            </a:r>
          </a:p>
          <a:p>
            <a:pPr marL="285750" indent="-285750">
              <a:buFont typeface="Arial" panose="020B0604020202020204" pitchFamily="34" charset="0"/>
              <a:buChar char="•"/>
            </a:pPr>
            <a:r>
              <a:rPr lang="fr-FR" sz="1400" dirty="0"/>
              <a:t>Vigilance dans les 10 derniers mètres.</a:t>
            </a:r>
          </a:p>
          <a:p>
            <a:r>
              <a:rPr lang="fr-FR" sz="1400" dirty="0"/>
              <a:t>En tant que GP</a:t>
            </a:r>
          </a:p>
          <a:p>
            <a:pPr marL="285750" indent="-285750">
              <a:buFont typeface="Arial" panose="020B0604020202020204" pitchFamily="34" charset="0"/>
              <a:buChar char="•"/>
            </a:pPr>
            <a:r>
              <a:rPr lang="fr-FR" sz="1400" dirty="0"/>
              <a:t>Personne au-dessus de moi</a:t>
            </a:r>
          </a:p>
          <a:p>
            <a:pPr marL="285750" indent="-285750">
              <a:buFont typeface="Arial" panose="020B0604020202020204" pitchFamily="34" charset="0"/>
              <a:buChar char="•"/>
            </a:pPr>
            <a:r>
              <a:rPr lang="fr-FR" sz="1400" dirty="0"/>
              <a:t>Je vérifie que tout le monde expire régulièrement</a:t>
            </a:r>
          </a:p>
        </p:txBody>
      </p:sp>
      <p:pic>
        <p:nvPicPr>
          <p:cNvPr id="4" name="Image 3">
            <a:extLst>
              <a:ext uri="{FF2B5EF4-FFF2-40B4-BE49-F238E27FC236}">
                <a16:creationId xmlns:a16="http://schemas.microsoft.com/office/drawing/2014/main" id="{DA667358-D6C7-A89E-20C4-9EACFF10F209}"/>
              </a:ext>
            </a:extLst>
          </p:cNvPr>
          <p:cNvPicPr>
            <a:picLocks noChangeAspect="1"/>
          </p:cNvPicPr>
          <p:nvPr/>
        </p:nvPicPr>
        <p:blipFill>
          <a:blip r:embed="rId2"/>
          <a:stretch>
            <a:fillRect/>
          </a:stretch>
        </p:blipFill>
        <p:spPr>
          <a:xfrm>
            <a:off x="8193624" y="3210817"/>
            <a:ext cx="3494019" cy="3450883"/>
          </a:xfrm>
          <a:prstGeom prst="rect">
            <a:avLst/>
          </a:prstGeom>
        </p:spPr>
      </p:pic>
    </p:spTree>
    <p:extLst>
      <p:ext uri="{BB962C8B-B14F-4D97-AF65-F5344CB8AC3E}">
        <p14:creationId xmlns:p14="http://schemas.microsoft.com/office/powerpoint/2010/main" val="1758974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67DA5-B861-65EE-9EF2-0322A7EC2C9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D0F84E-BC3C-5BCE-23F8-5EBD5F17D494}"/>
              </a:ext>
            </a:extLst>
          </p:cNvPr>
          <p:cNvSpPr>
            <a:spLocks noGrp="1"/>
          </p:cNvSpPr>
          <p:nvPr>
            <p:ph type="title"/>
          </p:nvPr>
        </p:nvSpPr>
        <p:spPr>
          <a:xfrm>
            <a:off x="0" y="0"/>
            <a:ext cx="12192000" cy="611059"/>
          </a:xfrm>
        </p:spPr>
        <p:txBody>
          <a:bodyPr>
            <a:normAutofit fontScale="90000"/>
          </a:bodyPr>
          <a:lstStyle/>
          <a:p>
            <a:pPr algn="ctr"/>
            <a:r>
              <a:rPr lang="fr-FR" dirty="0"/>
              <a:t>Barotraumatismes: Les dents</a:t>
            </a:r>
          </a:p>
        </p:txBody>
      </p:sp>
      <p:sp>
        <p:nvSpPr>
          <p:cNvPr id="3" name="Espace réservé du contenu 2">
            <a:extLst>
              <a:ext uri="{FF2B5EF4-FFF2-40B4-BE49-F238E27FC236}">
                <a16:creationId xmlns:a16="http://schemas.microsoft.com/office/drawing/2014/main" id="{43E3BBFF-B914-F7F4-A76A-9BDCC12FC292}"/>
              </a:ext>
            </a:extLst>
          </p:cNvPr>
          <p:cNvSpPr>
            <a:spLocks noGrp="1"/>
          </p:cNvSpPr>
          <p:nvPr>
            <p:ph idx="1"/>
          </p:nvPr>
        </p:nvSpPr>
        <p:spPr>
          <a:xfrm>
            <a:off x="504356" y="889837"/>
            <a:ext cx="11183288" cy="369338"/>
          </a:xfrm>
          <a:solidFill>
            <a:schemeClr val="accent6">
              <a:lumMod val="20000"/>
              <a:lumOff val="80000"/>
            </a:schemeClr>
          </a:solidFill>
          <a:ln>
            <a:solidFill>
              <a:schemeClr val="accent6">
                <a:lumMod val="50000"/>
              </a:schemeClr>
            </a:solidFill>
          </a:ln>
        </p:spPr>
        <p:txBody>
          <a:bodyPr>
            <a:normAutofit/>
          </a:bodyPr>
          <a:lstStyle/>
          <a:p>
            <a:pPr marL="0" indent="0" algn="ctr">
              <a:buNone/>
            </a:pPr>
            <a:r>
              <a:rPr lang="fr-FR" sz="1800" i="1" dirty="0"/>
              <a:t>Bien choisir son dentiste et lui rendre visite régulièrement même si on ne l’aime pas</a:t>
            </a:r>
          </a:p>
        </p:txBody>
      </p:sp>
      <p:sp>
        <p:nvSpPr>
          <p:cNvPr id="5" name="ZoneTexte 4">
            <a:extLst>
              <a:ext uri="{FF2B5EF4-FFF2-40B4-BE49-F238E27FC236}">
                <a16:creationId xmlns:a16="http://schemas.microsoft.com/office/drawing/2014/main" id="{27ED3519-4B23-767A-1986-07D0A24E26D5}"/>
              </a:ext>
            </a:extLst>
          </p:cNvPr>
          <p:cNvSpPr txBox="1"/>
          <p:nvPr/>
        </p:nvSpPr>
        <p:spPr>
          <a:xfrm>
            <a:off x="504356" y="1424553"/>
            <a:ext cx="11183287" cy="1077218"/>
          </a:xfrm>
          <a:prstGeom prst="rect">
            <a:avLst/>
          </a:prstGeom>
          <a:solidFill>
            <a:schemeClr val="accent2">
              <a:lumMod val="20000"/>
              <a:lumOff val="80000"/>
            </a:schemeClr>
          </a:solidFill>
          <a:ln>
            <a:solidFill>
              <a:schemeClr val="accent2">
                <a:lumMod val="50000"/>
              </a:schemeClr>
            </a:solidFill>
          </a:ln>
        </p:spPr>
        <p:txBody>
          <a:bodyPr wrap="square" rtlCol="0">
            <a:spAutoFit/>
          </a:bodyPr>
          <a:lstStyle/>
          <a:p>
            <a:r>
              <a:rPr lang="fr-FR" sz="1600" dirty="0"/>
              <a:t>D’où cela vient ?</a:t>
            </a:r>
          </a:p>
          <a:p>
            <a:pPr marL="285750" indent="-285750">
              <a:buFont typeface="Arial" panose="020B0604020202020204" pitchFamily="34" charset="0"/>
              <a:buChar char="•"/>
            </a:pPr>
            <a:r>
              <a:rPr lang="fr-FR" sz="1600" dirty="0"/>
              <a:t>Quand on descend</a:t>
            </a:r>
          </a:p>
          <a:p>
            <a:pPr marL="742950" lvl="1" indent="-285750">
              <a:buFont typeface="Arial" panose="020B0604020202020204" pitchFamily="34" charset="0"/>
              <a:buChar char="•"/>
            </a:pPr>
            <a:r>
              <a:rPr lang="fr-FR" sz="1600" dirty="0"/>
              <a:t>Des bulles d’air s’insère dans une carie mal soignée ou une couronne mal fixée </a:t>
            </a:r>
          </a:p>
          <a:p>
            <a:pPr marL="285750" indent="-285750">
              <a:buFont typeface="Arial" panose="020B0604020202020204" pitchFamily="34" charset="0"/>
              <a:buChar char="•"/>
            </a:pPr>
            <a:r>
              <a:rPr lang="fr-FR" sz="1600" dirty="0"/>
              <a:t>A la remontée, la bulle a du mal à s’échapper, elle se dilate et appuie sur un nerf d’où la douleur.</a:t>
            </a:r>
          </a:p>
        </p:txBody>
      </p:sp>
      <p:sp>
        <p:nvSpPr>
          <p:cNvPr id="6" name="ZoneTexte 5">
            <a:extLst>
              <a:ext uri="{FF2B5EF4-FFF2-40B4-BE49-F238E27FC236}">
                <a16:creationId xmlns:a16="http://schemas.microsoft.com/office/drawing/2014/main" id="{011B4EC4-B7DB-372C-ED55-417CFCF60D4C}"/>
              </a:ext>
            </a:extLst>
          </p:cNvPr>
          <p:cNvSpPr txBox="1"/>
          <p:nvPr/>
        </p:nvSpPr>
        <p:spPr>
          <a:xfrm>
            <a:off x="504356" y="2667149"/>
            <a:ext cx="6241218" cy="1077218"/>
          </a:xfrm>
          <a:prstGeom prst="rect">
            <a:avLst/>
          </a:prstGeom>
          <a:solidFill>
            <a:schemeClr val="accent4">
              <a:lumMod val="20000"/>
              <a:lumOff val="80000"/>
            </a:schemeClr>
          </a:solidFill>
          <a:ln>
            <a:solidFill>
              <a:schemeClr val="accent1">
                <a:lumMod val="50000"/>
              </a:schemeClr>
            </a:solidFill>
          </a:ln>
        </p:spPr>
        <p:txBody>
          <a:bodyPr wrap="square" rtlCol="0">
            <a:spAutoFit/>
          </a:bodyPr>
          <a:lstStyle/>
          <a:p>
            <a:r>
              <a:rPr lang="fr-FR" sz="1600" dirty="0"/>
              <a:t>Solution</a:t>
            </a:r>
          </a:p>
          <a:p>
            <a:pPr marL="285750" indent="-285750">
              <a:buFont typeface="Arial" panose="020B0604020202020204" pitchFamily="34" charset="0"/>
              <a:buChar char="•"/>
            </a:pPr>
            <a:r>
              <a:rPr lang="fr-FR" sz="1600" dirty="0"/>
              <a:t>Stopper la remontée</a:t>
            </a:r>
          </a:p>
          <a:p>
            <a:pPr marL="285750" indent="-285750">
              <a:buFont typeface="Arial" panose="020B0604020202020204" pitchFamily="34" charset="0"/>
              <a:buChar char="•"/>
            </a:pPr>
            <a:r>
              <a:rPr lang="fr-FR" sz="1600" dirty="0"/>
              <a:t>Redescendre jusqu’à l’arrêt de la douleur</a:t>
            </a:r>
          </a:p>
          <a:p>
            <a:pPr marL="285750" indent="-285750">
              <a:buFont typeface="Arial" panose="020B0604020202020204" pitchFamily="34" charset="0"/>
              <a:buChar char="•"/>
            </a:pPr>
            <a:r>
              <a:rPr lang="fr-FR" sz="1600" dirty="0"/>
              <a:t>Remonter très très doucement. Faire des pauses si nécessaire</a:t>
            </a:r>
          </a:p>
        </p:txBody>
      </p:sp>
      <p:sp>
        <p:nvSpPr>
          <p:cNvPr id="7" name="ZoneTexte 6">
            <a:extLst>
              <a:ext uri="{FF2B5EF4-FFF2-40B4-BE49-F238E27FC236}">
                <a16:creationId xmlns:a16="http://schemas.microsoft.com/office/drawing/2014/main" id="{49DC3911-BABE-86AE-052E-1B12FE49FC99}"/>
              </a:ext>
            </a:extLst>
          </p:cNvPr>
          <p:cNvSpPr txBox="1"/>
          <p:nvPr/>
        </p:nvSpPr>
        <p:spPr>
          <a:xfrm>
            <a:off x="6880485" y="2667149"/>
            <a:ext cx="4807158" cy="830997"/>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r>
              <a:rPr lang="fr-FR" sz="1600" dirty="0"/>
              <a:t>Prévention</a:t>
            </a:r>
          </a:p>
          <a:p>
            <a:pPr marL="285750" indent="-285750">
              <a:buFont typeface="Arial" panose="020B0604020202020204" pitchFamily="34" charset="0"/>
              <a:buChar char="•"/>
            </a:pPr>
            <a:r>
              <a:rPr lang="fr-FR" sz="1600" dirty="0"/>
              <a:t>Une bonne hygiène dentaire</a:t>
            </a:r>
          </a:p>
          <a:p>
            <a:pPr marL="285750" indent="-285750">
              <a:buFont typeface="Arial" panose="020B0604020202020204" pitchFamily="34" charset="0"/>
              <a:buChar char="•"/>
            </a:pPr>
            <a:r>
              <a:rPr lang="fr-FR" sz="1600" dirty="0"/>
              <a:t>Au moins une visite annuelle chez le dentiste</a:t>
            </a:r>
          </a:p>
        </p:txBody>
      </p:sp>
    </p:spTree>
    <p:extLst>
      <p:ext uri="{BB962C8B-B14F-4D97-AF65-F5344CB8AC3E}">
        <p14:creationId xmlns:p14="http://schemas.microsoft.com/office/powerpoint/2010/main" val="2008196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77E5B-A5B3-F5DB-335E-CC49CFD5F93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D4B2AD-D12B-2ED7-0EF5-C666F210902A}"/>
              </a:ext>
            </a:extLst>
          </p:cNvPr>
          <p:cNvSpPr>
            <a:spLocks noGrp="1"/>
          </p:cNvSpPr>
          <p:nvPr>
            <p:ph type="title"/>
          </p:nvPr>
        </p:nvSpPr>
        <p:spPr>
          <a:xfrm>
            <a:off x="0" y="0"/>
            <a:ext cx="12192000" cy="611059"/>
          </a:xfrm>
        </p:spPr>
        <p:txBody>
          <a:bodyPr>
            <a:normAutofit fontScale="90000"/>
          </a:bodyPr>
          <a:lstStyle/>
          <a:p>
            <a:pPr algn="ctr"/>
            <a:r>
              <a:rPr lang="fr-FR" dirty="0"/>
              <a:t>Barotraumatismes: Estomac &amp; Intestin</a:t>
            </a:r>
          </a:p>
        </p:txBody>
      </p:sp>
      <p:sp>
        <p:nvSpPr>
          <p:cNvPr id="3" name="Espace réservé du contenu 2">
            <a:extLst>
              <a:ext uri="{FF2B5EF4-FFF2-40B4-BE49-F238E27FC236}">
                <a16:creationId xmlns:a16="http://schemas.microsoft.com/office/drawing/2014/main" id="{B9496478-F971-9859-15AF-CEACCC86C577}"/>
              </a:ext>
            </a:extLst>
          </p:cNvPr>
          <p:cNvSpPr>
            <a:spLocks noGrp="1"/>
          </p:cNvSpPr>
          <p:nvPr>
            <p:ph idx="1"/>
          </p:nvPr>
        </p:nvSpPr>
        <p:spPr>
          <a:xfrm>
            <a:off x="504356" y="889836"/>
            <a:ext cx="11183288" cy="459279"/>
          </a:xfrm>
          <a:solidFill>
            <a:schemeClr val="accent6">
              <a:lumMod val="20000"/>
              <a:lumOff val="80000"/>
            </a:schemeClr>
          </a:solidFill>
          <a:ln>
            <a:solidFill>
              <a:schemeClr val="accent6">
                <a:lumMod val="50000"/>
              </a:schemeClr>
            </a:solidFill>
          </a:ln>
        </p:spPr>
        <p:txBody>
          <a:bodyPr>
            <a:normAutofit/>
          </a:bodyPr>
          <a:lstStyle/>
          <a:p>
            <a:pPr marL="0" indent="0" algn="ctr">
              <a:buNone/>
            </a:pPr>
            <a:r>
              <a:rPr lang="fr-FR" sz="1800" i="1" dirty="0"/>
              <a:t>Le glouton doit savoir choisir ses plats….</a:t>
            </a:r>
          </a:p>
        </p:txBody>
      </p:sp>
      <p:sp>
        <p:nvSpPr>
          <p:cNvPr id="5" name="ZoneTexte 4">
            <a:extLst>
              <a:ext uri="{FF2B5EF4-FFF2-40B4-BE49-F238E27FC236}">
                <a16:creationId xmlns:a16="http://schemas.microsoft.com/office/drawing/2014/main" id="{FFB64A34-9CD1-3722-8574-3F3F27980319}"/>
              </a:ext>
            </a:extLst>
          </p:cNvPr>
          <p:cNvSpPr txBox="1"/>
          <p:nvPr/>
        </p:nvSpPr>
        <p:spPr>
          <a:xfrm>
            <a:off x="504354" y="1476151"/>
            <a:ext cx="11183287" cy="830997"/>
          </a:xfrm>
          <a:prstGeom prst="rect">
            <a:avLst/>
          </a:prstGeom>
          <a:solidFill>
            <a:schemeClr val="accent2">
              <a:lumMod val="20000"/>
              <a:lumOff val="80000"/>
            </a:schemeClr>
          </a:solidFill>
          <a:ln>
            <a:solidFill>
              <a:schemeClr val="accent2">
                <a:lumMod val="50000"/>
              </a:schemeClr>
            </a:solidFill>
          </a:ln>
        </p:spPr>
        <p:txBody>
          <a:bodyPr wrap="square" rtlCol="0">
            <a:spAutoFit/>
          </a:bodyPr>
          <a:lstStyle/>
          <a:p>
            <a:r>
              <a:rPr lang="fr-FR" sz="1600" dirty="0"/>
              <a:t>D’où cela vient ?</a:t>
            </a:r>
          </a:p>
          <a:p>
            <a:pPr marL="285750" indent="-285750">
              <a:buFont typeface="Arial" panose="020B0604020202020204" pitchFamily="34" charset="0"/>
              <a:buChar char="•"/>
            </a:pPr>
            <a:r>
              <a:rPr lang="fr-FR" sz="1600" dirty="0"/>
              <a:t>La digestion de certains aliments génère des gaz. A la remontée, ces gaz se dilatent et génère des douleurs abdominales.</a:t>
            </a:r>
          </a:p>
          <a:p>
            <a:pPr marL="285750" indent="-285750">
              <a:buFont typeface="Arial" panose="020B0604020202020204" pitchFamily="34" charset="0"/>
              <a:buChar char="•"/>
            </a:pPr>
            <a:r>
              <a:rPr lang="fr-FR" sz="1600" dirty="0"/>
              <a:t>Très rare en plongée loisir</a:t>
            </a:r>
          </a:p>
        </p:txBody>
      </p:sp>
      <p:sp>
        <p:nvSpPr>
          <p:cNvPr id="6" name="ZoneTexte 5">
            <a:extLst>
              <a:ext uri="{FF2B5EF4-FFF2-40B4-BE49-F238E27FC236}">
                <a16:creationId xmlns:a16="http://schemas.microsoft.com/office/drawing/2014/main" id="{EE3DC5FE-C219-B7E8-DB6B-63C489543651}"/>
              </a:ext>
            </a:extLst>
          </p:cNvPr>
          <p:cNvSpPr txBox="1"/>
          <p:nvPr/>
        </p:nvSpPr>
        <p:spPr>
          <a:xfrm>
            <a:off x="504353" y="2434184"/>
            <a:ext cx="11183287" cy="1477328"/>
          </a:xfrm>
          <a:prstGeom prst="rect">
            <a:avLst/>
          </a:prstGeom>
          <a:solidFill>
            <a:schemeClr val="accent4">
              <a:lumMod val="20000"/>
              <a:lumOff val="80000"/>
            </a:schemeClr>
          </a:solidFill>
          <a:ln>
            <a:solidFill>
              <a:schemeClr val="accent1">
                <a:lumMod val="50000"/>
              </a:schemeClr>
            </a:solidFill>
          </a:ln>
        </p:spPr>
        <p:txBody>
          <a:bodyPr wrap="square" rtlCol="0">
            <a:spAutoFit/>
          </a:bodyPr>
          <a:lstStyle/>
          <a:p>
            <a:r>
              <a:rPr lang="fr-FR" dirty="0"/>
              <a:t>Solution</a:t>
            </a:r>
          </a:p>
          <a:p>
            <a:pPr marL="285750" indent="-285750">
              <a:buFont typeface="Arial" panose="020B0604020202020204" pitchFamily="34" charset="0"/>
              <a:buChar char="•"/>
            </a:pPr>
            <a:r>
              <a:rPr lang="fr-FR" dirty="0"/>
              <a:t>Stopper la remontée</a:t>
            </a:r>
          </a:p>
          <a:p>
            <a:pPr marL="285750" indent="-285750">
              <a:buFont typeface="Arial" panose="020B0604020202020204" pitchFamily="34" charset="0"/>
              <a:buChar char="•"/>
            </a:pPr>
            <a:r>
              <a:rPr lang="fr-FR" dirty="0"/>
              <a:t>Redescendre jusqu’à l’arrêt de la douleur</a:t>
            </a:r>
          </a:p>
          <a:p>
            <a:pPr marL="285750" indent="-285750">
              <a:buFont typeface="Arial" panose="020B0604020202020204" pitchFamily="34" charset="0"/>
              <a:buChar char="•"/>
            </a:pPr>
            <a:r>
              <a:rPr lang="fr-FR" dirty="0"/>
              <a:t>Péter pour évacuer les gaz.</a:t>
            </a:r>
          </a:p>
          <a:p>
            <a:pPr marL="285750" indent="-285750">
              <a:buFont typeface="Arial" panose="020B0604020202020204" pitchFamily="34" charset="0"/>
              <a:buChar char="•"/>
            </a:pPr>
            <a:r>
              <a:rPr lang="fr-FR" dirty="0"/>
              <a:t>Remonter très très doucement. Faire des pauses si nécessaire</a:t>
            </a:r>
          </a:p>
        </p:txBody>
      </p:sp>
      <p:sp>
        <p:nvSpPr>
          <p:cNvPr id="7" name="ZoneTexte 6">
            <a:extLst>
              <a:ext uri="{FF2B5EF4-FFF2-40B4-BE49-F238E27FC236}">
                <a16:creationId xmlns:a16="http://schemas.microsoft.com/office/drawing/2014/main" id="{AF39555F-E763-D7CB-B227-DCF80000E172}"/>
              </a:ext>
            </a:extLst>
          </p:cNvPr>
          <p:cNvSpPr txBox="1"/>
          <p:nvPr/>
        </p:nvSpPr>
        <p:spPr>
          <a:xfrm>
            <a:off x="504353" y="4038548"/>
            <a:ext cx="11183287" cy="646331"/>
          </a:xfrm>
          <a:prstGeom prst="rect">
            <a:avLst/>
          </a:prstGeom>
          <a:solidFill>
            <a:schemeClr val="accent5">
              <a:lumMod val="20000"/>
              <a:lumOff val="80000"/>
            </a:schemeClr>
          </a:solidFill>
          <a:ln>
            <a:solidFill>
              <a:schemeClr val="accent5">
                <a:lumMod val="75000"/>
              </a:schemeClr>
            </a:solidFill>
          </a:ln>
        </p:spPr>
        <p:txBody>
          <a:bodyPr wrap="square" rtlCol="0">
            <a:spAutoFit/>
          </a:bodyPr>
          <a:lstStyle/>
          <a:p>
            <a:r>
              <a:rPr lang="fr-FR" dirty="0"/>
              <a:t>Prévention</a:t>
            </a:r>
          </a:p>
          <a:p>
            <a:pPr marL="285750" indent="-285750">
              <a:buFont typeface="Arial" panose="020B0604020202020204" pitchFamily="34" charset="0"/>
              <a:buChar char="•"/>
            </a:pPr>
            <a:r>
              <a:rPr lang="fr-FR" dirty="0"/>
              <a:t>Eviter les plats qui génèrent des gaz comme le Cassoulet.</a:t>
            </a:r>
          </a:p>
        </p:txBody>
      </p:sp>
    </p:spTree>
    <p:extLst>
      <p:ext uri="{BB962C8B-B14F-4D97-AF65-F5344CB8AC3E}">
        <p14:creationId xmlns:p14="http://schemas.microsoft.com/office/powerpoint/2010/main" val="273362014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2158</TotalTime>
  <Words>1643</Words>
  <Application>Microsoft Macintosh PowerPoint</Application>
  <PresentationFormat>Grand écran</PresentationFormat>
  <Paragraphs>351</Paragraphs>
  <Slides>11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Aptos</vt:lpstr>
      <vt:lpstr>Aptos Display</vt:lpstr>
      <vt:lpstr>Arial</vt:lpstr>
      <vt:lpstr>Thème Office</vt:lpstr>
      <vt:lpstr>Barotraumatismes</vt:lpstr>
      <vt:lpstr>Présentation PowerPoint</vt:lpstr>
      <vt:lpstr>Barotraumatismes: Les sinus</vt:lpstr>
      <vt:lpstr>Barotraumatismes: Les sinus</vt:lpstr>
      <vt:lpstr>Barotraumatismes: Les sinus</vt:lpstr>
      <vt:lpstr>Barotraumatismes: Les oreilles</vt:lpstr>
      <vt:lpstr>Barotraumatismes: Les oreilles</vt:lpstr>
      <vt:lpstr>Barotraumatismes: Plaquage de masque</vt:lpstr>
      <vt:lpstr>Barotraumatismes: Surpression pulmonaire</vt:lpstr>
      <vt:lpstr>Barotraumatismes: Les dents</vt:lpstr>
      <vt:lpstr>Barotraumatismes: Estomac &amp; Intestin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olivier artigue</dc:creator>
  <cp:lastModifiedBy>Olivier Artigue</cp:lastModifiedBy>
  <cp:revision>38</cp:revision>
  <dcterms:created xsi:type="dcterms:W3CDTF">2025-11-10T18:02:01Z</dcterms:created>
  <dcterms:modified xsi:type="dcterms:W3CDTF">2026-02-16T18:22:41Z</dcterms:modified>
</cp:coreProperties>
</file>
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643"/>
  </p:normalViewPr>
  <p:slideViewPr>
    <p:cSldViewPr snapToGrid="0">
      <p:cViewPr varScale="1">
        <p:scale>
          <a:sx n="159" d="100"/>
          <a:sy n="159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BD1E2-0DF6-D7D2-E928-B83CAF9B1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1DC6CF-6A95-C630-B153-6E3A6F287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7E7FC6-98F3-23D2-1FDB-C1B5C77E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05F4B4-F80C-D5A6-DEE5-DB4BE9B8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9273B-C749-8967-DEDC-FA27ADE3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26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F4DA2B-DEDF-696D-C974-99210CA8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9C030E-46DA-D6A3-95AF-B0386289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D3A2D3-63D1-E29C-28F4-9E2E9E3D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873A61-D3FC-2D08-7D3C-1D335A52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F67205-D965-88C5-9E7B-177B7F73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90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02AB6-702A-98B5-CDFD-05FB4503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BBDA96-958D-5F26-39C7-7650A7805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72B52D-1D63-3D11-9EBD-BEE25465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0DAC7B-2C31-31C5-285C-FABF035C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DC41B6-8463-7A4A-57E5-F768B6AE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07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E710D-1EEC-CC5F-F352-CF002617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5E2251-8FC3-07BA-4DAF-AA4794677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3BC843-39CD-D6EC-4B07-C359C4B8B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369B48-D349-FDFD-6838-B4463487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BE736F-CE53-948F-538A-E1373CEA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F24322-D185-F543-F1D7-6969D90B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25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51375-9486-0FD5-7A1B-2E569D396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D013F7-B1A0-7345-B084-27F47CC90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51D70B-4A58-273A-BB89-CDC30F000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D1CC913-ED47-55C0-3785-05CA3E3BD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434955-14D5-CF7E-3728-7F081503B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42FA32-9427-8601-FD41-AA3D75C0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E22980-4E3B-55A5-9C4F-32428D58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A4F9BD8-150D-A39C-3B48-C876A4B5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3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6BDE7-5283-CEF5-613A-756D603A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803AB9-0F2E-5E5B-4A6C-83D6F8FE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1CFDA9-AD98-B4A7-674F-8EC16A4A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9B6553-46A6-E6BB-78D0-6F31B6E0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88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618D13-B4D9-A6AF-AF13-AD6C3B09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34FA7A-2F4B-20F7-5F78-156E072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36C1D7-A0E8-69ED-5B12-A9C6627F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0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512922-0C37-AF46-77D9-14BCE82F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FC756A-5CFA-15A5-1BCE-687FA7A58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E1581D-A14D-8695-C1FA-B8A6D761A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C332CE-EFF2-86D6-E5D0-AF0DAEC3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E3888E-7656-4AC8-B04E-39EECF6A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7E0450-4436-45F5-B2BF-4C387052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35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38F221-8469-F061-FFB9-08B6FEAB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59BD3D0-283A-EC9C-283D-D77CB129E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F22CF3-E7EE-4E43-251E-632970769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C85696-3F52-8254-939A-39C93E5C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568924-C53D-A058-3A73-986FD3CD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E23D94-E153-19B6-1272-E37A999E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61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6D2C1C-5B1B-2B13-EF54-E363E286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3FA8D43-6A65-0081-EA36-C2A75737A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6374CC-9339-E2DC-132F-0C8C0F31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34173F-7397-EA2E-A0F3-8385ECEE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F51543-45D0-55AD-2C2A-AD1C31E4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46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CBDB34-E110-A00B-BAF8-E4662A2F2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C064F6-C4D2-A15B-2692-C47AED9A3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B1BDD6-C75E-ED82-3570-A5783088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4488A1-4F8A-6E5E-FEDD-A4553223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CDC91B-4D82-5E8A-2A65-7413EF0E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485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D74591-062F-E1CC-A6E5-D5025C95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75C805-6C5B-C7FD-0977-63C2BAD93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7808E8-F784-D064-475D-8175AFFE4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3F2AA-395A-6947-811D-D09F3687E38F}" type="datetimeFigureOut">
              <a:rPr lang="fr-FR" smtClean="0"/>
              <a:t>10/12/2025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C8F219-B651-F6D5-246B-29B11D9EF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C3C298-4608-2A4B-2350-AD30E9D2A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50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gifrance.gouv.fr/codes/article_lc/LEGIARTI000025393859/2024-11-21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riangle 31">
            <a:extLst>
              <a:ext uri="{FF2B5EF4-FFF2-40B4-BE49-F238E27FC236}">
                <a16:creationId xmlns:a16="http://schemas.microsoft.com/office/drawing/2014/main" id="{85A5C4C4-EE87-7203-CAAD-3E1D6D9F67CE}"/>
              </a:ext>
            </a:extLst>
          </p:cNvPr>
          <p:cNvSpPr/>
          <p:nvPr/>
        </p:nvSpPr>
        <p:spPr>
          <a:xfrm rot="16200000">
            <a:off x="4282092" y="4730052"/>
            <a:ext cx="302836" cy="31197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31FA7299-13EB-FD62-4E12-8FC0469CB702}"/>
              </a:ext>
            </a:extLst>
          </p:cNvPr>
          <p:cNvSpPr/>
          <p:nvPr/>
        </p:nvSpPr>
        <p:spPr>
          <a:xfrm rot="5400000">
            <a:off x="1211477" y="4695898"/>
            <a:ext cx="302836" cy="31197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35C2F0A-E77A-DD55-4A9B-CBBEE49603D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89AB7A3-26A5-4F15-4FD6-5EFF9E305930}"/>
              </a:ext>
            </a:extLst>
          </p:cNvPr>
          <p:cNvSpPr txBox="1"/>
          <p:nvPr/>
        </p:nvSpPr>
        <p:spPr>
          <a:xfrm>
            <a:off x="5048398" y="6490366"/>
            <a:ext cx="7101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Contexte: </a:t>
            </a:r>
            <a:r>
              <a:rPr lang="fr-FR" sz="1400" dirty="0"/>
              <a:t>Cours en salle pour des plongeurs sont adultes et N1 – </a:t>
            </a:r>
            <a:r>
              <a:rPr lang="fr-FR" sz="1400" b="1" dirty="0"/>
              <a:t>Prévoir</a:t>
            </a:r>
            <a:r>
              <a:rPr lang="fr-FR" sz="1400" dirty="0"/>
              <a:t>: Vrai détendeurs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DBFE560-5A77-9303-AEEC-11BC25838601}"/>
              </a:ext>
            </a:extLst>
          </p:cNvPr>
          <p:cNvSpPr txBox="1"/>
          <p:nvPr/>
        </p:nvSpPr>
        <p:spPr>
          <a:xfrm>
            <a:off x="172847" y="461665"/>
            <a:ext cx="2454133" cy="3785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Introduction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/>
              <a:t>Rappels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200" dirty="0"/>
              <a:t>Objectifs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Nouveautés (CDS 322-80)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Octopus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Ordinateur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Impacte de l’autonomie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Comprendre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Notion simple: détendeurs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Piston / Membrane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Compensation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Asservissement (pa20)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Débit continu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Conseil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Achats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Conclusion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 retenir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 venir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039B1CA8-68F8-8F96-B8D8-07693192A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294568"/>
              </p:ext>
            </p:extLst>
          </p:nvPr>
        </p:nvGraphicFramePr>
        <p:xfrm>
          <a:off x="5799096" y="4048586"/>
          <a:ext cx="610750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501">
                  <a:extLst>
                    <a:ext uri="{9D8B030D-6E8A-4147-A177-3AD203B41FA5}">
                      <a16:colId xmlns:a16="http://schemas.microsoft.com/office/drawing/2014/main" val="3124997968"/>
                    </a:ext>
                  </a:extLst>
                </a:gridCol>
                <a:gridCol w="1221501">
                  <a:extLst>
                    <a:ext uri="{9D8B030D-6E8A-4147-A177-3AD203B41FA5}">
                      <a16:colId xmlns:a16="http://schemas.microsoft.com/office/drawing/2014/main" val="3298248596"/>
                    </a:ext>
                  </a:extLst>
                </a:gridCol>
                <a:gridCol w="1221501">
                  <a:extLst>
                    <a:ext uri="{9D8B030D-6E8A-4147-A177-3AD203B41FA5}">
                      <a16:colId xmlns:a16="http://schemas.microsoft.com/office/drawing/2014/main" val="2343380878"/>
                    </a:ext>
                  </a:extLst>
                </a:gridCol>
                <a:gridCol w="1221501">
                  <a:extLst>
                    <a:ext uri="{9D8B030D-6E8A-4147-A177-3AD203B41FA5}">
                      <a16:colId xmlns:a16="http://schemas.microsoft.com/office/drawing/2014/main" val="2967934686"/>
                    </a:ext>
                  </a:extLst>
                </a:gridCol>
                <a:gridCol w="1221501">
                  <a:extLst>
                    <a:ext uri="{9D8B030D-6E8A-4147-A177-3AD203B41FA5}">
                      <a16:colId xmlns:a16="http://schemas.microsoft.com/office/drawing/2014/main" val="86000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Simple piston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Simple membrane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Compensé piston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Compensé membrane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2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Complexité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712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Froid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0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Prix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5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Entretien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84168"/>
                  </a:ext>
                </a:extLst>
              </a:tr>
            </a:tbl>
          </a:graphicData>
        </a:graphic>
      </p:graphicFrame>
      <p:pic>
        <p:nvPicPr>
          <p:cNvPr id="11" name="Image 10" descr="Une image contenant capture d’écran, diagramme, conception, Rectangle&#10;&#10;Le contenu généré par l’IA peut être incorrect.">
            <a:extLst>
              <a:ext uri="{FF2B5EF4-FFF2-40B4-BE49-F238E27FC236}">
                <a16:creationId xmlns:a16="http://schemas.microsoft.com/office/drawing/2014/main" id="{DBB74A34-31B1-3FCD-B1F8-F79121C02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921" y="591613"/>
            <a:ext cx="6180312" cy="3266736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85CA122-A1D0-528F-0DDA-9D32C0D7136B}"/>
              </a:ext>
            </a:extLst>
          </p:cNvPr>
          <p:cNvSpPr/>
          <p:nvPr/>
        </p:nvSpPr>
        <p:spPr>
          <a:xfrm>
            <a:off x="2634869" y="5096622"/>
            <a:ext cx="537882" cy="164473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12l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34A0FB-B864-927A-08D0-93ACACF2A15D}"/>
              </a:ext>
            </a:extLst>
          </p:cNvPr>
          <p:cNvSpPr/>
          <p:nvPr/>
        </p:nvSpPr>
        <p:spPr>
          <a:xfrm>
            <a:off x="2775775" y="4666316"/>
            <a:ext cx="256069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59369511-2BA7-9F09-BE1D-4EF02EE9DBA8}"/>
              </a:ext>
            </a:extLst>
          </p:cNvPr>
          <p:cNvSpPr/>
          <p:nvPr/>
        </p:nvSpPr>
        <p:spPr>
          <a:xfrm>
            <a:off x="1351082" y="4634042"/>
            <a:ext cx="451821" cy="4303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0BCC442-83BD-BE60-1E89-ACB244F2D750}"/>
              </a:ext>
            </a:extLst>
          </p:cNvPr>
          <p:cNvSpPr/>
          <p:nvPr/>
        </p:nvSpPr>
        <p:spPr>
          <a:xfrm>
            <a:off x="3917143" y="4634042"/>
            <a:ext cx="516367" cy="50561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</a:t>
            </a:r>
            <a:endParaRPr lang="fr-FR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7B56929-87C7-407A-6278-C642228DC96B}"/>
              </a:ext>
            </a:extLst>
          </p:cNvPr>
          <p:cNvSpPr/>
          <p:nvPr/>
        </p:nvSpPr>
        <p:spPr>
          <a:xfrm>
            <a:off x="504855" y="6129356"/>
            <a:ext cx="451821" cy="42176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</a:t>
            </a:r>
            <a:endParaRPr lang="fr-FR" dirty="0"/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E8F6640-C16B-719B-201E-59C738466D8F}"/>
              </a:ext>
            </a:extLst>
          </p:cNvPr>
          <p:cNvCxnSpPr>
            <a:cxnSpLocks/>
            <a:stCxn id="13" idx="1"/>
            <a:endCxn id="14" idx="6"/>
          </p:cNvCxnSpPr>
          <p:nvPr/>
        </p:nvCxnSpPr>
        <p:spPr>
          <a:xfrm flipH="1" flipV="1">
            <a:off x="1802903" y="4849195"/>
            <a:ext cx="972872" cy="32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E540C5F-A5EF-9041-EA75-544A79D78728}"/>
              </a:ext>
            </a:extLst>
          </p:cNvPr>
          <p:cNvCxnSpPr>
            <a:cxnSpLocks/>
            <a:stCxn id="13" idx="3"/>
            <a:endCxn id="15" idx="2"/>
          </p:cNvCxnSpPr>
          <p:nvPr/>
        </p:nvCxnSpPr>
        <p:spPr>
          <a:xfrm>
            <a:off x="3031844" y="4881469"/>
            <a:ext cx="885299" cy="537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2D878B10-616F-0C64-3FCB-7A92F58BB31E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890508" y="5026697"/>
            <a:ext cx="1864809" cy="1164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E7EA06EC-5E4E-D4E8-70C7-2B384779D9C2}"/>
              </a:ext>
            </a:extLst>
          </p:cNvPr>
          <p:cNvCxnSpPr>
            <a:cxnSpLocks/>
          </p:cNvCxnSpPr>
          <p:nvPr/>
        </p:nvCxnSpPr>
        <p:spPr>
          <a:xfrm flipH="1" flipV="1">
            <a:off x="3031844" y="4978289"/>
            <a:ext cx="1923165" cy="995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96114AAC-F355-769E-9E73-A0E0A9A00C94}"/>
              </a:ext>
            </a:extLst>
          </p:cNvPr>
          <p:cNvSpPr txBox="1"/>
          <p:nvPr/>
        </p:nvSpPr>
        <p:spPr>
          <a:xfrm>
            <a:off x="685409" y="4598199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P.A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B6B7D41-BBDA-E1C2-8E95-9FDC6F37FC40}"/>
              </a:ext>
            </a:extLst>
          </p:cNvPr>
          <p:cNvSpPr txBox="1"/>
          <p:nvPr/>
        </p:nvSpPr>
        <p:spPr>
          <a:xfrm>
            <a:off x="4560764" y="4700394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P.A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ECA318F-2EF4-5177-717D-66BCC2190D72}"/>
              </a:ext>
            </a:extLst>
          </p:cNvPr>
          <p:cNvSpPr txBox="1"/>
          <p:nvPr/>
        </p:nvSpPr>
        <p:spPr>
          <a:xfrm>
            <a:off x="2073224" y="4471439"/>
            <a:ext cx="59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M.P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F2070C2-F9B4-D58C-9D9E-2D1CD0432D80}"/>
              </a:ext>
            </a:extLst>
          </p:cNvPr>
          <p:cNvSpPr txBox="1"/>
          <p:nvPr/>
        </p:nvSpPr>
        <p:spPr>
          <a:xfrm>
            <a:off x="3161688" y="4496000"/>
            <a:ext cx="59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M.P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327FA74-8AC7-1479-83BF-D5BCCD13C642}"/>
              </a:ext>
            </a:extLst>
          </p:cNvPr>
          <p:cNvSpPr txBox="1"/>
          <p:nvPr/>
        </p:nvSpPr>
        <p:spPr>
          <a:xfrm>
            <a:off x="4257837" y="5333292"/>
            <a:ext cx="59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50"/>
                </a:solidFill>
              </a:rPr>
              <a:t>M.P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3EBF6B4-6189-2420-AF10-E8F7B4AD8F66}"/>
              </a:ext>
            </a:extLst>
          </p:cNvPr>
          <p:cNvSpPr txBox="1"/>
          <p:nvPr/>
        </p:nvSpPr>
        <p:spPr>
          <a:xfrm>
            <a:off x="910354" y="5528714"/>
            <a:ext cx="59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H.P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6843F3A-F947-5DB9-EF28-59ACA12ACBCD}"/>
              </a:ext>
            </a:extLst>
          </p:cNvPr>
          <p:cNvSpPr txBox="1"/>
          <p:nvPr/>
        </p:nvSpPr>
        <p:spPr>
          <a:xfrm>
            <a:off x="4614666" y="5946041"/>
            <a:ext cx="1022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Direct</a:t>
            </a:r>
          </a:p>
          <a:p>
            <a:r>
              <a:rPr lang="fr-FR" dirty="0"/>
              <a:t>système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2F7BA6D9-3FBC-E4D0-EE54-DF54CD48033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903809" y="4471439"/>
            <a:ext cx="1" cy="1948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9DD49B96-B067-3698-48AA-91B98C04F744}"/>
              </a:ext>
            </a:extLst>
          </p:cNvPr>
          <p:cNvSpPr txBox="1"/>
          <p:nvPr/>
        </p:nvSpPr>
        <p:spPr>
          <a:xfrm>
            <a:off x="2342070" y="4184932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1</a:t>
            </a:r>
            <a:r>
              <a:rPr lang="fr-FR" baseline="30000" dirty="0">
                <a:solidFill>
                  <a:srgbClr val="C00000"/>
                </a:solidFill>
              </a:rPr>
              <a:t>er</a:t>
            </a:r>
            <a:r>
              <a:rPr lang="fr-FR" dirty="0">
                <a:solidFill>
                  <a:srgbClr val="C00000"/>
                </a:solidFill>
              </a:rPr>
              <a:t> étage</a:t>
            </a:r>
          </a:p>
        </p:txBody>
      </p: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96B692F1-BCB8-2FE0-DFDD-CD2AAEFD2C00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160254" y="3964678"/>
            <a:ext cx="15073" cy="6693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95880A4-7DB7-1D89-D65E-AA9237B33EC3}"/>
              </a:ext>
            </a:extLst>
          </p:cNvPr>
          <p:cNvCxnSpPr>
            <a:cxnSpLocks/>
          </p:cNvCxnSpPr>
          <p:nvPr/>
        </p:nvCxnSpPr>
        <p:spPr>
          <a:xfrm>
            <a:off x="1580183" y="3964678"/>
            <a:ext cx="15073" cy="6693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749F105F-60BE-696B-7496-E49CC0A1865A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1576992" y="3907777"/>
            <a:ext cx="613570" cy="5690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A06DB075-A6A0-0DF7-08F1-C5CDF7207FFF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3650257" y="3907777"/>
            <a:ext cx="500930" cy="5690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93C44E02-3F95-A1D9-3C0B-C51FE64517B4}"/>
              </a:ext>
            </a:extLst>
          </p:cNvPr>
          <p:cNvSpPr txBox="1"/>
          <p:nvPr/>
        </p:nvSpPr>
        <p:spPr>
          <a:xfrm>
            <a:off x="2190562" y="3723111"/>
            <a:ext cx="14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2eme étages</a:t>
            </a:r>
          </a:p>
        </p:txBody>
      </p:sp>
      <p:sp>
        <p:nvSpPr>
          <p:cNvPr id="55" name="Nuage 54">
            <a:extLst>
              <a:ext uri="{FF2B5EF4-FFF2-40B4-BE49-F238E27FC236}">
                <a16:creationId xmlns:a16="http://schemas.microsoft.com/office/drawing/2014/main" id="{D686FFF3-333C-396C-509B-27A1D41DA1C2}"/>
              </a:ext>
            </a:extLst>
          </p:cNvPr>
          <p:cNvSpPr/>
          <p:nvPr/>
        </p:nvSpPr>
        <p:spPr>
          <a:xfrm>
            <a:off x="2799827" y="591613"/>
            <a:ext cx="2709282" cy="3125029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784AE3EF-507E-D198-C073-7345D8B1EF16}"/>
              </a:ext>
            </a:extLst>
          </p:cNvPr>
          <p:cNvSpPr txBox="1"/>
          <p:nvPr/>
        </p:nvSpPr>
        <p:spPr>
          <a:xfrm>
            <a:off x="3172507" y="1292952"/>
            <a:ext cx="191398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P.M.T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Stab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Lampe / Phare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Tablette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D783A18D-C4A7-FD12-29F5-44B955078936}"/>
              </a:ext>
            </a:extLst>
          </p:cNvPr>
          <p:cNvSpPr txBox="1"/>
          <p:nvPr/>
        </p:nvSpPr>
        <p:spPr>
          <a:xfrm>
            <a:off x="4056871" y="89135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$$$</a:t>
            </a:r>
          </a:p>
        </p:txBody>
      </p:sp>
    </p:spTree>
    <p:extLst>
      <p:ext uri="{BB962C8B-B14F-4D97-AF65-F5344CB8AC3E}">
        <p14:creationId xmlns:p14="http://schemas.microsoft.com/office/powerpoint/2010/main" val="3427730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ACDD-191D-FF5E-69E4-027FD462D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5DA14E8-0C90-BA3C-8B2E-D1F593C193DC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07C96F4-447C-A550-E7B9-1013FFCF589A}"/>
              </a:ext>
            </a:extLst>
          </p:cNvPr>
          <p:cNvSpPr txBox="1"/>
          <p:nvPr/>
        </p:nvSpPr>
        <p:spPr>
          <a:xfrm>
            <a:off x="4410634" y="586013"/>
            <a:ext cx="728163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Connaissance plus fine du matériel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Détendeur se compose d’un: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Premier étage: se situe au niveau du bloc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Deuxième étage: se trouve dans la bouche du plongeur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fr-FR" dirty="0"/>
              <a:t>Nouveaux éléments obligatoires (code du sport </a:t>
            </a:r>
            <a:r>
              <a:rPr lang="fr-FR" b="1" u="sng" dirty="0">
                <a:hlinkClick r:id="rId2"/>
              </a:rPr>
              <a:t>Article A322-80</a:t>
            </a:r>
            <a:r>
              <a:rPr lang="fr-F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Octopus: 2</a:t>
            </a:r>
            <a:r>
              <a:rPr lang="fr-FR" baseline="30000" dirty="0"/>
              <a:t>ème</a:t>
            </a:r>
            <a:r>
              <a:rPr lang="fr-FR" dirty="0"/>
              <a:t> source d’air, permet de donner de l’air à un équipier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Parachute: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Pourquoi : Se signaler en surface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Quel choix 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/>
              <a:t>Avec / sans soupape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/>
              <a:t>Dérouleur ou pas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Ordinateur: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Moyen de décompression: Déterminer ses paliers en fonction des paramètres de la plongée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Fait l’objet d’un cours particulier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6414138-E58F-B6E7-055F-DC4456D091F8}"/>
              </a:ext>
            </a:extLst>
          </p:cNvPr>
          <p:cNvSpPr txBox="1"/>
          <p:nvPr/>
        </p:nvSpPr>
        <p:spPr>
          <a:xfrm>
            <a:off x="172847" y="461665"/>
            <a:ext cx="2454133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Nouveautés (CDS 322-80)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Octopus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Ordinateur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Impacte de l’autonomie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Comprendre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Notion simple: détendeurs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Piston / Membrane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Compensation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Asservissement (pa20)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Débit continu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Conseil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Achats</a:t>
            </a:r>
          </a:p>
        </p:txBody>
      </p:sp>
    </p:spTree>
    <p:extLst>
      <p:ext uri="{BB962C8B-B14F-4D97-AF65-F5344CB8AC3E}">
        <p14:creationId xmlns:p14="http://schemas.microsoft.com/office/powerpoint/2010/main" val="1953512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FDAC9-41FB-B3DE-004C-ECF45F4A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474DC1C-3F00-5C1D-FED1-EA13D34ABDA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7327E04-0003-F212-18F0-91AACE512BCC}"/>
              </a:ext>
            </a:extLst>
          </p:cNvPr>
          <p:cNvSpPr txBox="1"/>
          <p:nvPr/>
        </p:nvSpPr>
        <p:spPr>
          <a:xfrm>
            <a:off x="4114010" y="1861123"/>
            <a:ext cx="67646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Communication sur le matériel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Présenter le sien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Comprendre celui de ses équipiers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contrôle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Surface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Avant mise à l’eau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Sous l’eau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158178E-D5BC-1576-1836-78B896DD83D2}"/>
              </a:ext>
            </a:extLst>
          </p:cNvPr>
          <p:cNvSpPr txBox="1"/>
          <p:nvPr/>
        </p:nvSpPr>
        <p:spPr>
          <a:xfrm>
            <a:off x="3993502" y="489100"/>
            <a:ext cx="676469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fr-FR" b="1" dirty="0">
              <a:solidFill>
                <a:srgbClr val="C00000"/>
              </a:solidFill>
            </a:endParaRPr>
          </a:p>
          <a:p>
            <a:pPr algn="ctr"/>
            <a:r>
              <a:rPr lang="fr-FR" b="1" dirty="0">
                <a:solidFill>
                  <a:srgbClr val="C00000"/>
                </a:solidFill>
              </a:rPr>
              <a:t>Autonomie =&gt; Plus de Guide de palanquée (GP)</a:t>
            </a:r>
          </a:p>
          <a:p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828FF87-7203-F2B3-2252-D704FE30E088}"/>
              </a:ext>
            </a:extLst>
          </p:cNvPr>
          <p:cNvSpPr txBox="1"/>
          <p:nvPr/>
        </p:nvSpPr>
        <p:spPr>
          <a:xfrm>
            <a:off x="206738" y="489100"/>
            <a:ext cx="2454133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Nouveautés (CDS 322-80)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Octopus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Ordinateur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Impacte de l’autonomie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Comprendre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Notion simple: détendeurs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Piston / Membrane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Compensation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Asservissement (pa20)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Débit continu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Conseil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Achats</a:t>
            </a:r>
          </a:p>
        </p:txBody>
      </p:sp>
    </p:spTree>
    <p:extLst>
      <p:ext uri="{BB962C8B-B14F-4D97-AF65-F5344CB8AC3E}">
        <p14:creationId xmlns:p14="http://schemas.microsoft.com/office/powerpoint/2010/main" val="989757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4BAE-1A64-B174-A961-C432BAE0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DA91FBD-2849-FBC7-985B-108D5AE82E4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4DC19F7-C59D-5076-2E60-E1ED8F54D958}"/>
              </a:ext>
            </a:extLst>
          </p:cNvPr>
          <p:cNvSpPr txBox="1"/>
          <p:nvPr/>
        </p:nvSpPr>
        <p:spPr>
          <a:xfrm>
            <a:off x="3512436" y="473712"/>
            <a:ext cx="53038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Le détendeur n’est plus un simple distributeur d’air, </a:t>
            </a:r>
          </a:p>
          <a:p>
            <a:r>
              <a:rPr lang="fr-FR" dirty="0"/>
              <a:t>on a besoin d’aller voir plus loin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4E8433-94AC-0548-AFFE-7C2BFAF0FCE5}"/>
              </a:ext>
            </a:extLst>
          </p:cNvPr>
          <p:cNvSpPr txBox="1"/>
          <p:nvPr/>
        </p:nvSpPr>
        <p:spPr>
          <a:xfrm>
            <a:off x="5253064" y="1337980"/>
            <a:ext cx="68032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Détendeur se compose d’un: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Premier étage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Se situe au niveau du bloc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On y raccorde le manomètre de pression </a:t>
            </a:r>
            <a:endParaRPr lang="fr-FR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Délivre l’air de la bouteille à une pression dite moyenne comprise entre 8 et 10 bars à destination des 2</a:t>
            </a:r>
            <a:r>
              <a:rPr lang="fr-FR" baseline="30000" dirty="0"/>
              <a:t>ème</a:t>
            </a:r>
            <a:r>
              <a:rPr lang="fr-FR" dirty="0"/>
              <a:t> étages (principal et </a:t>
            </a:r>
            <a:r>
              <a:rPr lang="fr-FR" dirty="0" err="1"/>
              <a:t>octopus</a:t>
            </a:r>
            <a:r>
              <a:rPr lang="fr-F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Deuxième étage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Délivre l’air à la pression ambiante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Se trouve dans la bouche du plongeur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Le principal (celui qu’on utilise)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L’octopus</a:t>
            </a:r>
            <a:r>
              <a:rPr lang="fr-FR" dirty="0"/>
              <a:t> (celui qu’on passe à un équipier)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79A746-EAD5-53B2-8794-26F89F08E8AC}"/>
              </a:ext>
            </a:extLst>
          </p:cNvPr>
          <p:cNvSpPr txBox="1"/>
          <p:nvPr/>
        </p:nvSpPr>
        <p:spPr>
          <a:xfrm>
            <a:off x="206738" y="489100"/>
            <a:ext cx="2454133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Nouveautés (CDS 322-80)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Octopus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Ordinateur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Impacte de l’autonomie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Comprendre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Notion simple: détendeurs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Piston / Membrane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Compensation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Asservissement (pa20)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Débit continu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Conseil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Achats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33605FE-C3D0-7B62-4C4D-3D663482E7A6}"/>
              </a:ext>
            </a:extLst>
          </p:cNvPr>
          <p:cNvSpPr txBox="1"/>
          <p:nvPr/>
        </p:nvSpPr>
        <p:spPr>
          <a:xfrm>
            <a:off x="7704818" y="6401237"/>
            <a:ext cx="416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Prévoir un ensemble complet détendeur</a:t>
            </a: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F38CCBBC-5599-EA23-B7AF-3DBB066434A3}"/>
              </a:ext>
            </a:extLst>
          </p:cNvPr>
          <p:cNvSpPr/>
          <p:nvPr/>
        </p:nvSpPr>
        <p:spPr>
          <a:xfrm rot="16200000">
            <a:off x="4153755" y="4538917"/>
            <a:ext cx="302836" cy="31197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8DC511FF-BF55-5FBF-A2C7-804EBBE7B339}"/>
              </a:ext>
            </a:extLst>
          </p:cNvPr>
          <p:cNvSpPr/>
          <p:nvPr/>
        </p:nvSpPr>
        <p:spPr>
          <a:xfrm rot="5400000">
            <a:off x="1083140" y="4504763"/>
            <a:ext cx="302836" cy="31197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7CF12DA-52DD-07F6-2614-E6C983023C8B}"/>
              </a:ext>
            </a:extLst>
          </p:cNvPr>
          <p:cNvSpPr/>
          <p:nvPr/>
        </p:nvSpPr>
        <p:spPr>
          <a:xfrm>
            <a:off x="2506532" y="4905487"/>
            <a:ext cx="537882" cy="164473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12l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A129E5-4403-F003-376D-D5861D5A1727}"/>
              </a:ext>
            </a:extLst>
          </p:cNvPr>
          <p:cNvSpPr/>
          <p:nvPr/>
        </p:nvSpPr>
        <p:spPr>
          <a:xfrm>
            <a:off x="2647438" y="4475181"/>
            <a:ext cx="256069" cy="430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41BE1FA-FF58-BCB0-BF01-7CEE559A4B70}"/>
              </a:ext>
            </a:extLst>
          </p:cNvPr>
          <p:cNvSpPr/>
          <p:nvPr/>
        </p:nvSpPr>
        <p:spPr>
          <a:xfrm>
            <a:off x="1222745" y="4442907"/>
            <a:ext cx="451821" cy="4303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9600223-0EBD-D534-078B-4643632BE568}"/>
              </a:ext>
            </a:extLst>
          </p:cNvPr>
          <p:cNvSpPr/>
          <p:nvPr/>
        </p:nvSpPr>
        <p:spPr>
          <a:xfrm>
            <a:off x="3788806" y="4442907"/>
            <a:ext cx="516367" cy="50561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</a:t>
            </a:r>
            <a:endParaRPr lang="fr-FR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BD0D9ED-AFD0-333A-ACFE-C0FAFC61528F}"/>
              </a:ext>
            </a:extLst>
          </p:cNvPr>
          <p:cNvSpPr/>
          <p:nvPr/>
        </p:nvSpPr>
        <p:spPr>
          <a:xfrm>
            <a:off x="376518" y="5938221"/>
            <a:ext cx="451821" cy="42176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</a:t>
            </a:r>
            <a:endParaRPr lang="fr-FR" dirty="0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E572DE9B-E2BC-EF32-32FA-5B1518214583}"/>
              </a:ext>
            </a:extLst>
          </p:cNvPr>
          <p:cNvCxnSpPr>
            <a:cxnSpLocks/>
            <a:stCxn id="15" idx="1"/>
            <a:endCxn id="16" idx="6"/>
          </p:cNvCxnSpPr>
          <p:nvPr/>
        </p:nvCxnSpPr>
        <p:spPr>
          <a:xfrm flipH="1" flipV="1">
            <a:off x="1674566" y="4658060"/>
            <a:ext cx="972872" cy="32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3FFDFC68-7D43-03FA-BB8D-28539049D363}"/>
              </a:ext>
            </a:extLst>
          </p:cNvPr>
          <p:cNvCxnSpPr>
            <a:cxnSpLocks/>
            <a:stCxn id="15" idx="3"/>
            <a:endCxn id="17" idx="2"/>
          </p:cNvCxnSpPr>
          <p:nvPr/>
        </p:nvCxnSpPr>
        <p:spPr>
          <a:xfrm>
            <a:off x="2903507" y="4690334"/>
            <a:ext cx="885299" cy="537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380AFA46-A606-E283-EA28-068CE636FC30}"/>
              </a:ext>
            </a:extLst>
          </p:cNvPr>
          <p:cNvCxnSpPr>
            <a:cxnSpLocks/>
            <a:endCxn id="18" idx="7"/>
          </p:cNvCxnSpPr>
          <p:nvPr/>
        </p:nvCxnSpPr>
        <p:spPr>
          <a:xfrm flipH="1">
            <a:off x="762171" y="4835562"/>
            <a:ext cx="1864809" cy="1164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F86199DF-B3A9-D8BE-A5B9-FAE04104E9EF}"/>
              </a:ext>
            </a:extLst>
          </p:cNvPr>
          <p:cNvCxnSpPr>
            <a:cxnSpLocks/>
          </p:cNvCxnSpPr>
          <p:nvPr/>
        </p:nvCxnSpPr>
        <p:spPr>
          <a:xfrm flipH="1" flipV="1">
            <a:off x="2903507" y="4787154"/>
            <a:ext cx="1923165" cy="9950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3C15A17E-2DF7-4986-CFDC-52BB30F2D357}"/>
              </a:ext>
            </a:extLst>
          </p:cNvPr>
          <p:cNvSpPr txBox="1"/>
          <p:nvPr/>
        </p:nvSpPr>
        <p:spPr>
          <a:xfrm>
            <a:off x="557072" y="4407064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P.A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DC7816F-020F-E371-7D84-93E9660F50BB}"/>
              </a:ext>
            </a:extLst>
          </p:cNvPr>
          <p:cNvSpPr txBox="1"/>
          <p:nvPr/>
        </p:nvSpPr>
        <p:spPr>
          <a:xfrm>
            <a:off x="4432427" y="4509259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P.A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C6D5282-90E7-FCDB-0896-DA4E5737D43B}"/>
              </a:ext>
            </a:extLst>
          </p:cNvPr>
          <p:cNvSpPr txBox="1"/>
          <p:nvPr/>
        </p:nvSpPr>
        <p:spPr>
          <a:xfrm>
            <a:off x="1944887" y="4280304"/>
            <a:ext cx="59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M.P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76AE452-13F6-9AB0-0703-128E1E0E22E9}"/>
              </a:ext>
            </a:extLst>
          </p:cNvPr>
          <p:cNvSpPr txBox="1"/>
          <p:nvPr/>
        </p:nvSpPr>
        <p:spPr>
          <a:xfrm>
            <a:off x="3033351" y="4304865"/>
            <a:ext cx="59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M.P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D5740CC-AFE2-048C-4D76-7FCDAFDC7E9A}"/>
              </a:ext>
            </a:extLst>
          </p:cNvPr>
          <p:cNvSpPr txBox="1"/>
          <p:nvPr/>
        </p:nvSpPr>
        <p:spPr>
          <a:xfrm>
            <a:off x="4129500" y="5142157"/>
            <a:ext cx="59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M.P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C7CD1AE-C205-565E-3186-061853C5750E}"/>
              </a:ext>
            </a:extLst>
          </p:cNvPr>
          <p:cNvSpPr txBox="1"/>
          <p:nvPr/>
        </p:nvSpPr>
        <p:spPr>
          <a:xfrm>
            <a:off x="782017" y="5337579"/>
            <a:ext cx="593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H.P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C8A3AA4-8921-8A08-62DF-9CF378766C18}"/>
              </a:ext>
            </a:extLst>
          </p:cNvPr>
          <p:cNvSpPr txBox="1"/>
          <p:nvPr/>
        </p:nvSpPr>
        <p:spPr>
          <a:xfrm>
            <a:off x="4486329" y="5754906"/>
            <a:ext cx="1022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Direct</a:t>
            </a:r>
          </a:p>
          <a:p>
            <a:r>
              <a:rPr lang="fr-FR" dirty="0"/>
              <a:t>système</a:t>
            </a:r>
          </a:p>
        </p:txBody>
      </p: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1011C355-7095-A789-9929-3D7A024E22B4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775472" y="4280304"/>
            <a:ext cx="1" cy="1948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DC55642B-8F8E-6F58-A879-FB5651842242}"/>
              </a:ext>
            </a:extLst>
          </p:cNvPr>
          <p:cNvSpPr txBox="1"/>
          <p:nvPr/>
        </p:nvSpPr>
        <p:spPr>
          <a:xfrm>
            <a:off x="2213733" y="3993797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1</a:t>
            </a:r>
            <a:r>
              <a:rPr lang="fr-FR" baseline="30000" dirty="0">
                <a:solidFill>
                  <a:srgbClr val="C00000"/>
                </a:solidFill>
              </a:rPr>
              <a:t>er</a:t>
            </a:r>
            <a:r>
              <a:rPr lang="fr-FR" dirty="0">
                <a:solidFill>
                  <a:srgbClr val="C00000"/>
                </a:solidFill>
              </a:rPr>
              <a:t> étage</a:t>
            </a: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997519F-2C0A-E971-94FF-88D48C2C81B8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031917" y="3773543"/>
            <a:ext cx="15073" cy="6693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FC051712-8EAE-6145-86DE-D6585AFB700D}"/>
              </a:ext>
            </a:extLst>
          </p:cNvPr>
          <p:cNvCxnSpPr>
            <a:cxnSpLocks/>
          </p:cNvCxnSpPr>
          <p:nvPr/>
        </p:nvCxnSpPr>
        <p:spPr>
          <a:xfrm>
            <a:off x="1451846" y="3773543"/>
            <a:ext cx="15073" cy="66936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4CE2A0A9-2E2C-A6A6-05E1-AFFC84834C00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1448655" y="3716642"/>
            <a:ext cx="613570" cy="5690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8BA62CB8-EBAD-8F67-2B34-663F094BF676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3521920" y="3716642"/>
            <a:ext cx="500930" cy="5690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EE617067-FEA8-5119-2B64-E59DCCDE5894}"/>
              </a:ext>
            </a:extLst>
          </p:cNvPr>
          <p:cNvSpPr txBox="1"/>
          <p:nvPr/>
        </p:nvSpPr>
        <p:spPr>
          <a:xfrm>
            <a:off x="2062225" y="3531976"/>
            <a:ext cx="145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2eme étages</a:t>
            </a:r>
          </a:p>
        </p:txBody>
      </p:sp>
    </p:spTree>
    <p:extLst>
      <p:ext uri="{BB962C8B-B14F-4D97-AF65-F5344CB8AC3E}">
        <p14:creationId xmlns:p14="http://schemas.microsoft.com/office/powerpoint/2010/main" val="254978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998F-3DC0-F1BA-9BD9-B7EE86A7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5C326258-7E19-98CD-CC99-317F4AC110E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3D78955-0DEC-48F0-BF34-F4485CB8BF38}"/>
              </a:ext>
            </a:extLst>
          </p:cNvPr>
          <p:cNvSpPr txBox="1"/>
          <p:nvPr/>
        </p:nvSpPr>
        <p:spPr>
          <a:xfrm>
            <a:off x="3512436" y="473712"/>
            <a:ext cx="53038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Le détendeur n’est plus un simple distributeur d’air, </a:t>
            </a:r>
          </a:p>
          <a:p>
            <a:r>
              <a:rPr lang="fr-FR" dirty="0"/>
              <a:t>on a besoin d’aller voir plus loin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59A166-69B4-98F2-1DF9-31C2AE02FFF8}"/>
              </a:ext>
            </a:extLst>
          </p:cNvPr>
          <p:cNvSpPr txBox="1"/>
          <p:nvPr/>
        </p:nvSpPr>
        <p:spPr>
          <a:xfrm>
            <a:off x="4668819" y="1427819"/>
            <a:ext cx="68251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Compensation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L’effort pour aspirer de l’air devient constant, ne dépend pas de la pression bouteille. Autrement dit, un élément de confort.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Concerne le premier et deuxième étages.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Plus cher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Comment reconnaître ?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EA165CC3-5D87-9EF9-C65A-C9A69AE40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29007"/>
              </p:ext>
            </p:extLst>
          </p:nvPr>
        </p:nvGraphicFramePr>
        <p:xfrm>
          <a:off x="5196668" y="4274481"/>
          <a:ext cx="610750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501">
                  <a:extLst>
                    <a:ext uri="{9D8B030D-6E8A-4147-A177-3AD203B41FA5}">
                      <a16:colId xmlns:a16="http://schemas.microsoft.com/office/drawing/2014/main" val="3124997968"/>
                    </a:ext>
                  </a:extLst>
                </a:gridCol>
                <a:gridCol w="1221501">
                  <a:extLst>
                    <a:ext uri="{9D8B030D-6E8A-4147-A177-3AD203B41FA5}">
                      <a16:colId xmlns:a16="http://schemas.microsoft.com/office/drawing/2014/main" val="3298248596"/>
                    </a:ext>
                  </a:extLst>
                </a:gridCol>
                <a:gridCol w="1221501">
                  <a:extLst>
                    <a:ext uri="{9D8B030D-6E8A-4147-A177-3AD203B41FA5}">
                      <a16:colId xmlns:a16="http://schemas.microsoft.com/office/drawing/2014/main" val="2343380878"/>
                    </a:ext>
                  </a:extLst>
                </a:gridCol>
                <a:gridCol w="1221501">
                  <a:extLst>
                    <a:ext uri="{9D8B030D-6E8A-4147-A177-3AD203B41FA5}">
                      <a16:colId xmlns:a16="http://schemas.microsoft.com/office/drawing/2014/main" val="2967934686"/>
                    </a:ext>
                  </a:extLst>
                </a:gridCol>
                <a:gridCol w="1221501">
                  <a:extLst>
                    <a:ext uri="{9D8B030D-6E8A-4147-A177-3AD203B41FA5}">
                      <a16:colId xmlns:a16="http://schemas.microsoft.com/office/drawing/2014/main" val="860007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Simple piston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Simple membrane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Compensé </a:t>
                      </a:r>
                      <a:r>
                        <a:rPr lang="fr-FR" sz="1200" dirty="0" err="1"/>
                        <a:t>pistion</a:t>
                      </a:r>
                      <a:endParaRPr lang="fr-F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Compensé membrane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028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Complexité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13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712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Froid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306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Prix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05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200" dirty="0"/>
                        <a:t>Entretien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$$$$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84168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B4F350AA-FFFF-08BC-58C0-D66D0A5ECB51}"/>
              </a:ext>
            </a:extLst>
          </p:cNvPr>
          <p:cNvSpPr txBox="1"/>
          <p:nvPr/>
        </p:nvSpPr>
        <p:spPr>
          <a:xfrm>
            <a:off x="206738" y="489100"/>
            <a:ext cx="2454133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Nouveautés (CDS 322-80)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Octopus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Ordinateur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Impacte de l’autonomie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Comprendre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Notion simple: détendeurs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Piston / Membrane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Compensation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Asservissement (pa20)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Débit continu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Conseil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Achats</a:t>
            </a:r>
          </a:p>
        </p:txBody>
      </p:sp>
    </p:spTree>
    <p:extLst>
      <p:ext uri="{BB962C8B-B14F-4D97-AF65-F5344CB8AC3E}">
        <p14:creationId xmlns:p14="http://schemas.microsoft.com/office/powerpoint/2010/main" val="210664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2F32-7B14-FFF8-7836-311F22EA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6023109-77D3-7CCC-F504-25263EF1377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A240E83-275D-73E2-4A8B-D1C0B2D5387E}"/>
              </a:ext>
            </a:extLst>
          </p:cNvPr>
          <p:cNvSpPr txBox="1"/>
          <p:nvPr/>
        </p:nvSpPr>
        <p:spPr>
          <a:xfrm>
            <a:off x="3512436" y="473712"/>
            <a:ext cx="53038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Le détendeur n’est plus un simple distributeur d’air, </a:t>
            </a:r>
          </a:p>
          <a:p>
            <a:r>
              <a:rPr lang="fr-FR" dirty="0"/>
              <a:t>on a besoin d’aller voir plus loin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4B4DEA-AD19-402E-CB17-550F2F0D93FC}"/>
              </a:ext>
            </a:extLst>
          </p:cNvPr>
          <p:cNvSpPr txBox="1"/>
          <p:nvPr/>
        </p:nvSpPr>
        <p:spPr>
          <a:xfrm>
            <a:off x="4043372" y="2070806"/>
            <a:ext cx="10492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Comment ça marche (l’asservissement d’un détendeur) ?</a:t>
            </a:r>
          </a:p>
          <a:p>
            <a:endParaRPr lang="fr-FR" dirty="0"/>
          </a:p>
        </p:txBody>
      </p:sp>
      <p:pic>
        <p:nvPicPr>
          <p:cNvPr id="4" name="Image 3" descr="Une image contenant capture d’écran, diagramme, conception, Rectangle&#10;&#10;Le contenu généré par l’IA peut être incorrect.">
            <a:extLst>
              <a:ext uri="{FF2B5EF4-FFF2-40B4-BE49-F238E27FC236}">
                <a16:creationId xmlns:a16="http://schemas.microsoft.com/office/drawing/2014/main" id="{98B74394-6741-CA4C-FEFE-21CC0D848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825" y="2592961"/>
            <a:ext cx="7772400" cy="410826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AE8B182-9D8F-80FB-CC8F-9065F5DDF0CF}"/>
              </a:ext>
            </a:extLst>
          </p:cNvPr>
          <p:cNvSpPr txBox="1"/>
          <p:nvPr/>
        </p:nvSpPr>
        <p:spPr>
          <a:xfrm>
            <a:off x="9289778" y="827654"/>
            <a:ext cx="2532681" cy="120032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Débit continu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Comment ça arrive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Que faire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Prévention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04CA966-BA33-24E7-7289-C1D2402D1FFB}"/>
              </a:ext>
            </a:extLst>
          </p:cNvPr>
          <p:cNvSpPr txBox="1"/>
          <p:nvPr/>
        </p:nvSpPr>
        <p:spPr>
          <a:xfrm>
            <a:off x="206738" y="489100"/>
            <a:ext cx="2454133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Nouveautés (CDS 322-80)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Octopus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Ordinateur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Impacte de l’autonomie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Comprendre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Notion simple: détendeurs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Piston / Membrane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Compensation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Asservissement (pa20)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Débit continu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Conseil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Achats</a:t>
            </a:r>
          </a:p>
        </p:txBody>
      </p:sp>
    </p:spTree>
    <p:extLst>
      <p:ext uri="{BB962C8B-B14F-4D97-AF65-F5344CB8AC3E}">
        <p14:creationId xmlns:p14="http://schemas.microsoft.com/office/powerpoint/2010/main" val="411927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783C-CC61-4A2D-6298-08918D0C6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5DD190EE-AC73-644C-465C-02704B6351F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FDEC881-18E8-E45E-464F-E6E2294A18F5}"/>
              </a:ext>
            </a:extLst>
          </p:cNvPr>
          <p:cNvSpPr txBox="1"/>
          <p:nvPr/>
        </p:nvSpPr>
        <p:spPr>
          <a:xfrm>
            <a:off x="206738" y="489100"/>
            <a:ext cx="2454133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Nouveautés (CDS 322-80)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Octopus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Ordinateur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Impacte de l’autonomie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Comprendre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Notion simple: détendeurs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Piston / Membrane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Compensation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Asservissement (pa20)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accent6">
                    <a:lumMod val="75000"/>
                  </a:schemeClr>
                </a:solidFill>
              </a:rPr>
              <a:t>Débit continu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Conseil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Achats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5DF752B-BF8D-FB3E-E714-2CC7A17A1D0E}"/>
              </a:ext>
            </a:extLst>
          </p:cNvPr>
          <p:cNvSpPr txBox="1"/>
          <p:nvPr/>
        </p:nvSpPr>
        <p:spPr>
          <a:xfrm>
            <a:off x="2917179" y="580000"/>
            <a:ext cx="480753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Achat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Déjà vu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Détendeur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Ordinateur (autre cours)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Reste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Sac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/>
              <a:t>Taille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/>
              <a:t>Souple / rigide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P.M.T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 err="1"/>
              <a:t>Boutillon</a:t>
            </a:r>
            <a:r>
              <a:rPr lang="fr-FR" dirty="0"/>
              <a:t> / chaussante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/>
              <a:t>Volume masque / champ de vision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Combi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/>
              <a:t>Humide / Semi / étanche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Stab</a:t>
            </a:r>
            <a:endParaRPr lang="fr-F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dirty="0" err="1"/>
              <a:t>Reglable</a:t>
            </a:r>
            <a:r>
              <a:rPr lang="fr-FR" dirty="0"/>
              <a:t> / dorsale / non réglable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Lampe / Phare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Tablette</a:t>
            </a:r>
          </a:p>
        </p:txBody>
      </p:sp>
    </p:spTree>
    <p:extLst>
      <p:ext uri="{BB962C8B-B14F-4D97-AF65-F5344CB8AC3E}">
        <p14:creationId xmlns:p14="http://schemas.microsoft.com/office/powerpoint/2010/main" val="371343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05D66-737F-7D3C-F99E-D7406699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FC50600-7BBA-A702-F80E-6CB7245E0F7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14169D-6FD4-C294-9BD5-2069B23723CA}"/>
              </a:ext>
            </a:extLst>
          </p:cNvPr>
          <p:cNvSpPr txBox="1"/>
          <p:nvPr/>
        </p:nvSpPr>
        <p:spPr>
          <a:xfrm>
            <a:off x="3512436" y="473712"/>
            <a:ext cx="53038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Le détendeur n’est plus un simple distributeur d’air, </a:t>
            </a:r>
          </a:p>
          <a:p>
            <a:r>
              <a:rPr lang="fr-FR" dirty="0"/>
              <a:t>on a besoin d’aller voir plus loin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B7F7426-9514-D2AB-EE5B-76CC93C9D23B}"/>
              </a:ext>
            </a:extLst>
          </p:cNvPr>
          <p:cNvSpPr txBox="1"/>
          <p:nvPr/>
        </p:nvSpPr>
        <p:spPr>
          <a:xfrm>
            <a:off x="237392" y="1681171"/>
            <a:ext cx="10492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Comment ça marche (non compensé) ?</a:t>
            </a:r>
          </a:p>
          <a:p>
            <a:endParaRPr lang="fr-FR" dirty="0"/>
          </a:p>
        </p:txBody>
      </p:sp>
      <p:pic>
        <p:nvPicPr>
          <p:cNvPr id="8" name="Image 7" descr="Une image contenant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BCBE3347-69A4-967C-9860-3E8AA98A7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92" y="2213838"/>
            <a:ext cx="4819800" cy="2886298"/>
          </a:xfrm>
          <a:prstGeom prst="rect">
            <a:avLst/>
          </a:prstGeom>
        </p:spPr>
      </p:pic>
      <p:pic>
        <p:nvPicPr>
          <p:cNvPr id="10" name="Image 9" descr="Une image contenant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1C446D1E-723A-8499-733A-6966F0B19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798" y="2270670"/>
            <a:ext cx="6212414" cy="288629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8FC9A44-025B-84C6-0216-79C192EEA7AD}"/>
              </a:ext>
            </a:extLst>
          </p:cNvPr>
          <p:cNvSpPr txBox="1"/>
          <p:nvPr/>
        </p:nvSpPr>
        <p:spPr>
          <a:xfrm>
            <a:off x="139959" y="6384288"/>
            <a:ext cx="577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Fiche complémentaire pour questions complémentaires</a:t>
            </a:r>
          </a:p>
        </p:txBody>
      </p:sp>
    </p:spTree>
    <p:extLst>
      <p:ext uri="{BB962C8B-B14F-4D97-AF65-F5344CB8AC3E}">
        <p14:creationId xmlns:p14="http://schemas.microsoft.com/office/powerpoint/2010/main" val="288643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81B57-9465-D6C1-12D9-728BF597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3EC9736-2D52-7CC9-1DCD-0F033AA0312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Connaissance du matériel  pour un élève en formation PA12 ou PA20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4888D1F-7267-371F-7030-B3C3664E3162}"/>
              </a:ext>
            </a:extLst>
          </p:cNvPr>
          <p:cNvSpPr txBox="1"/>
          <p:nvPr/>
        </p:nvSpPr>
        <p:spPr>
          <a:xfrm>
            <a:off x="3512436" y="473712"/>
            <a:ext cx="53038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Le détendeur n’est plus un simple distributeur d’air, </a:t>
            </a:r>
          </a:p>
          <a:p>
            <a:r>
              <a:rPr lang="fr-FR" dirty="0"/>
              <a:t>on a besoin d’aller voir plus loin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B0655A-501F-1FCC-EDED-8EF438C10F29}"/>
              </a:ext>
            </a:extLst>
          </p:cNvPr>
          <p:cNvSpPr txBox="1"/>
          <p:nvPr/>
        </p:nvSpPr>
        <p:spPr>
          <a:xfrm>
            <a:off x="237392" y="1681171"/>
            <a:ext cx="10492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Comment ça marche (non compensé) ?</a:t>
            </a: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FAA189A-B83F-E2C1-6F83-8C7A34A93375}"/>
              </a:ext>
            </a:extLst>
          </p:cNvPr>
          <p:cNvSpPr txBox="1"/>
          <p:nvPr/>
        </p:nvSpPr>
        <p:spPr>
          <a:xfrm>
            <a:off x="139959" y="6384288"/>
            <a:ext cx="577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Fiche complémentaire pour questions complémentaires</a:t>
            </a:r>
          </a:p>
        </p:txBody>
      </p:sp>
      <p:pic>
        <p:nvPicPr>
          <p:cNvPr id="4" name="Image 3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A37DC6B9-C3CC-E8C1-0FC3-F91E9AB20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93" y="2258008"/>
            <a:ext cx="5459165" cy="3694923"/>
          </a:xfrm>
          <a:prstGeom prst="rect">
            <a:avLst/>
          </a:prstGeom>
        </p:spPr>
      </p:pic>
      <p:pic>
        <p:nvPicPr>
          <p:cNvPr id="12" name="Image 11" descr="Une image contenant texte, conception&#10;&#10;Le contenu généré par l’IA peut être incorrect.">
            <a:extLst>
              <a:ext uri="{FF2B5EF4-FFF2-40B4-BE49-F238E27FC236}">
                <a16:creationId xmlns:a16="http://schemas.microsoft.com/office/drawing/2014/main" id="{4B0543C3-98F4-3705-52DC-FC2A4FAA9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702" y="2435290"/>
            <a:ext cx="5611675" cy="379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472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7087</TotalTime>
  <Words>881</Words>
  <Application>Microsoft Macintosh PowerPoint</Application>
  <PresentationFormat>Grand écran</PresentationFormat>
  <Paragraphs>291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20</cp:revision>
  <dcterms:created xsi:type="dcterms:W3CDTF">2025-11-23T17:54:36Z</dcterms:created>
  <dcterms:modified xsi:type="dcterms:W3CDTF">2025-12-10T15:27:46Z</dcterms:modified>
</cp:coreProperties>
</file>
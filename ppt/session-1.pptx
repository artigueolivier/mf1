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8" r:id="rId2"/>
    <p:sldId id="261" r:id="rId3"/>
    <p:sldId id="262" r:id="rId4"/>
    <p:sldId id="263" r:id="rId5"/>
    <p:sldId id="264" r:id="rId6"/>
    <p:sldId id="265" r:id="rId7"/>
    <p:sldId id="259" r:id="rId8"/>
    <p:sldId id="266" r:id="rId9"/>
    <p:sldId id="267" r:id="rId10"/>
    <p:sldId id="268" r:id="rId11"/>
    <p:sldId id="269" r:id="rId12"/>
    <p:sldId id="270" r:id="rId13"/>
    <p:sldId id="272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0"/>
    <p:restoredTop sz="94654"/>
  </p:normalViewPr>
  <p:slideViewPr>
    <p:cSldViewPr snapToGrid="0">
      <p:cViewPr varScale="1">
        <p:scale>
          <a:sx n="178" d="100"/>
          <a:sy n="178" d="100"/>
        </p:scale>
        <p:origin x="13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31FCE-A6C3-F446-B22B-10DB4E70F2B2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D271C-FFA4-264C-921D-960A0AAE9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16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F5A3C-2A2C-F514-8A02-70E42D7B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DDD12A-F999-9E78-41F7-1905B17DA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417528-7A95-8C21-526A-7DA052872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276956-ECDD-7584-DF0B-7DFCD10E9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51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A5B2-0463-0E13-D214-E65C067A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A5A9129-7C94-C466-FC56-3D277270F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D81DDD-056D-C3DD-ADE4-0B1A7016E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1435F8-4BBE-1B9C-3F99-DD3B40135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351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A71D-DBF8-F19A-4D3A-F1841667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8D8E1C-20CE-7ADB-C921-92114BFE0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9C399A-0B70-ABCD-9828-AEDD0C564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6D9FCA-CA28-2BF8-81C5-6D1530D0F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789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D271C-FFA4-264C-921D-960A0AAE990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0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AEDE-217D-4DAC-3F80-7531553E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00305F-BBC6-B358-DC95-C6C345B99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C18286-CAB6-0026-978D-99F5DF033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E2E33E-1D40-612C-4894-6F463FACC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D271C-FFA4-264C-921D-960A0AAE990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40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sur l’épave: </a:t>
            </a:r>
            <a:r>
              <a:rPr lang="fr-FR" sz="3200" dirty="0" err="1"/>
              <a:t>Hukai</a:t>
            </a:r>
            <a:endParaRPr lang="fr-FR" sz="32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5FEB4FB-959E-2265-5B0D-3D42E2FD186F}"/>
              </a:ext>
            </a:extLst>
          </p:cNvPr>
          <p:cNvGrpSpPr/>
          <p:nvPr/>
        </p:nvGrpSpPr>
        <p:grpSpPr>
          <a:xfrm>
            <a:off x="2783240" y="2392469"/>
            <a:ext cx="3862000" cy="1036531"/>
            <a:chOff x="4600876" y="2392471"/>
            <a:chExt cx="3862000" cy="1036531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A6F3E35-C79D-EA10-2D1D-A7F3348155EA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44193FA-AFB3-CC9C-A843-309AEA295082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Triangle 31">
                <a:extLst>
                  <a:ext uri="{FF2B5EF4-FFF2-40B4-BE49-F238E27FC236}">
                    <a16:creationId xmlns:a16="http://schemas.microsoft.com/office/drawing/2014/main" id="{BB436901-5CC2-7EB4-3572-269FB2CF97EF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E9EBEA73-BBFB-B532-D269-C9E09025D1A8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FB04B1-8DF2-7169-EC4D-B720DE9486E8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DE1386F-E709-B8D9-D373-FF49AFAA213C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99A9F10-4700-B3FB-3207-4C78BE66CD68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E74FBC8-45EC-6B76-B0DF-2B0058225CD2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8788B7-D439-A896-553E-FB1CA0B1845E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86ACA3-8D13-8ECA-CDA3-DA48EF6982BE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7DBA472-BAAC-805C-8626-B0AB36DD0B78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03E9799D-E012-F6FE-2979-919B7705C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895798-9680-888F-9CB3-53BB44ECA809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Triangle rectangle 22">
                <a:extLst>
                  <a:ext uri="{FF2B5EF4-FFF2-40B4-BE49-F238E27FC236}">
                    <a16:creationId xmlns:a16="http://schemas.microsoft.com/office/drawing/2014/main" id="{9D216CBD-DCD2-31AB-C5FB-0F8877BB3A6A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9A90F-5345-B2EF-F46F-B5633826831B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Triangle rectangle 24">
                <a:extLst>
                  <a:ext uri="{FF2B5EF4-FFF2-40B4-BE49-F238E27FC236}">
                    <a16:creationId xmlns:a16="http://schemas.microsoft.com/office/drawing/2014/main" id="{AC0866B9-8C4D-9635-E4D7-B61A918D60D0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FB8EB7-681D-418E-C435-6221975A9C6F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536A731B-33E4-AC4F-C765-2DBF32CCA0F5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0CBB0C7-CFC4-7181-8092-60F4BE9BC647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lus 13">
              <a:extLst>
                <a:ext uri="{FF2B5EF4-FFF2-40B4-BE49-F238E27FC236}">
                  <a16:creationId xmlns:a16="http://schemas.microsoft.com/office/drawing/2014/main" id="{0508F374-9010-4D10-90D7-0C95C782F6DB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4760D9C4-3A78-5779-43DB-EC5891EACD83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16" name="Émoticône 15">
                <a:extLst>
                  <a:ext uri="{FF2B5EF4-FFF2-40B4-BE49-F238E27FC236}">
                    <a16:creationId xmlns:a16="http://schemas.microsoft.com/office/drawing/2014/main" id="{F1A610B0-C79A-00F9-7BA0-6320101AE14B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6E7C679C-E3AE-0AB8-3BCD-208EBE29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A8BC2FA5-65D3-DFC7-3B2B-6CA53CCA7288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BAACD0EC-2CFC-47A2-1C66-E05337E187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49A50692-FE28-0CE8-8306-B5AA2D46D8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96323"/>
              </p:ext>
            </p:extLst>
          </p:nvPr>
        </p:nvGraphicFramePr>
        <p:xfrm>
          <a:off x="7579360" y="141726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9CCF788-5280-CF66-5785-6ECD139C0D48}"/>
              </a:ext>
            </a:extLst>
          </p:cNvPr>
          <p:cNvCxnSpPr>
            <a:cxnSpLocks/>
          </p:cNvCxnSpPr>
          <p:nvPr/>
        </p:nvCxnSpPr>
        <p:spPr>
          <a:xfrm>
            <a:off x="93370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604D3EA1-21F7-1DA6-E05D-3B5713829628}"/>
              </a:ext>
            </a:extLst>
          </p:cNvPr>
          <p:cNvCxnSpPr>
            <a:cxnSpLocks/>
          </p:cNvCxnSpPr>
          <p:nvPr/>
        </p:nvCxnSpPr>
        <p:spPr>
          <a:xfrm>
            <a:off x="109626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579B095-4DC4-94F8-30FF-B7F359BCB1E3}"/>
              </a:ext>
            </a:extLst>
          </p:cNvPr>
          <p:cNvCxnSpPr>
            <a:cxnSpLocks/>
          </p:cNvCxnSpPr>
          <p:nvPr/>
        </p:nvCxnSpPr>
        <p:spPr>
          <a:xfrm>
            <a:off x="1172464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6130445" y="1045199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5F8340-8024-507F-0374-B5BE3AEF2ABA}"/>
              </a:ext>
            </a:extLst>
          </p:cNvPr>
          <p:cNvSpPr/>
          <p:nvPr/>
        </p:nvSpPr>
        <p:spPr>
          <a:xfrm>
            <a:off x="701040" y="5975925"/>
            <a:ext cx="6400800" cy="56274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riangle rectangle 46">
            <a:extLst>
              <a:ext uri="{FF2B5EF4-FFF2-40B4-BE49-F238E27FC236}">
                <a16:creationId xmlns:a16="http://schemas.microsoft.com/office/drawing/2014/main" id="{E7158E76-85A7-8D95-B400-9AE7FD627013}"/>
              </a:ext>
            </a:extLst>
          </p:cNvPr>
          <p:cNvSpPr/>
          <p:nvPr/>
        </p:nvSpPr>
        <p:spPr>
          <a:xfrm rot="5400000">
            <a:off x="7110216" y="5676856"/>
            <a:ext cx="853440" cy="87019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Cadre 49">
            <a:extLst>
              <a:ext uri="{FF2B5EF4-FFF2-40B4-BE49-F238E27FC236}">
                <a16:creationId xmlns:a16="http://schemas.microsoft.com/office/drawing/2014/main" id="{B15D8AC8-AADA-511A-5861-BC7D08A9E2C6}"/>
              </a:ext>
            </a:extLst>
          </p:cNvPr>
          <p:cNvSpPr/>
          <p:nvPr/>
        </p:nvSpPr>
        <p:spPr>
          <a:xfrm>
            <a:off x="701040" y="5340871"/>
            <a:ext cx="2153920" cy="635053"/>
          </a:xfrm>
          <a:prstGeom prst="fram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Document 43">
            <a:extLst>
              <a:ext uri="{FF2B5EF4-FFF2-40B4-BE49-F238E27FC236}">
                <a16:creationId xmlns:a16="http://schemas.microsoft.com/office/drawing/2014/main" id="{7689C17F-CA15-02B9-EF39-CBB6979A8872}"/>
              </a:ext>
            </a:extLst>
          </p:cNvPr>
          <p:cNvSpPr/>
          <p:nvPr/>
        </p:nvSpPr>
        <p:spPr>
          <a:xfrm rot="10800000">
            <a:off x="111760" y="6378197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30288" y="3432237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7738221" y="3269378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484507" y="3215284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stCxn id="52" idx="4"/>
            <a:endCxn id="47" idx="0"/>
          </p:cNvCxnSpPr>
          <p:nvPr/>
        </p:nvCxnSpPr>
        <p:spPr>
          <a:xfrm flipH="1">
            <a:off x="7972033" y="3738479"/>
            <a:ext cx="10028" cy="194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stCxn id="51" idx="4"/>
          </p:cNvCxnSpPr>
          <p:nvPr/>
        </p:nvCxnSpPr>
        <p:spPr>
          <a:xfrm flipH="1">
            <a:off x="700721" y="3684385"/>
            <a:ext cx="27626" cy="1669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7579360" y="614340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40m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3410805" y="568673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1533844" y="499573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6030976" y="3332746"/>
            <a:ext cx="16151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8117229" y="3738479"/>
            <a:ext cx="0" cy="2518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/>
          <p:nvPr/>
        </p:nvCxnSpPr>
        <p:spPr>
          <a:xfrm flipH="1">
            <a:off x="4463808" y="6328074"/>
            <a:ext cx="2996045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4463808" y="5685232"/>
            <a:ext cx="0" cy="57206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2900815" y="5685232"/>
            <a:ext cx="156299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83FD89F-798E-1D21-7BCF-6D373B857062}"/>
              </a:ext>
            </a:extLst>
          </p:cNvPr>
          <p:cNvCxnSpPr>
            <a:cxnSpLocks/>
          </p:cNvCxnSpPr>
          <p:nvPr/>
        </p:nvCxnSpPr>
        <p:spPr>
          <a:xfrm flipV="1">
            <a:off x="2900815" y="4995730"/>
            <a:ext cx="0" cy="570567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484507" y="3684385"/>
            <a:ext cx="0" cy="131134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 flipV="1">
            <a:off x="565553" y="4986413"/>
            <a:ext cx="2268787" cy="2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994509" y="3328732"/>
            <a:ext cx="16151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6537838" y="4073947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130429"/>
              </p:ext>
            </p:extLst>
          </p:nvPr>
        </p:nvGraphicFramePr>
        <p:xfrm>
          <a:off x="8852255" y="2649938"/>
          <a:ext cx="32026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532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1942098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Pleine eau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Parachute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Départ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Toutes 3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Remontée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Epave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Rentre pas épave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0B516040-5B20-8113-86E8-E5294ED5AC05}"/>
              </a:ext>
            </a:extLst>
          </p:cNvPr>
          <p:cNvSpPr txBox="1"/>
          <p:nvPr/>
        </p:nvSpPr>
        <p:spPr>
          <a:xfrm>
            <a:off x="60755" y="819325"/>
            <a:ext cx="29542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4 – Sécurité site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d'organiser la sécurité, lors d'une sortie club, pour une plongée sur une épave posée à 40M pour des N2. </a:t>
            </a:r>
            <a:endParaRPr lang="fr-FR" sz="14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3494CC0-6541-24D5-D200-EBB2C2192879}"/>
              </a:ext>
            </a:extLst>
          </p:cNvPr>
          <p:cNvSpPr txBox="1"/>
          <p:nvPr/>
        </p:nvSpPr>
        <p:spPr>
          <a:xfrm>
            <a:off x="8852255" y="4268927"/>
            <a:ext cx="3198574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Plongeurs club 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7ème plongée d’un séjour d’une semaine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50C7999-A96E-F7CF-E1E7-C67DCB66D5C9}"/>
              </a:ext>
            </a:extLst>
          </p:cNvPr>
          <p:cNvSpPr txBox="1"/>
          <p:nvPr/>
        </p:nvSpPr>
        <p:spPr>
          <a:xfrm>
            <a:off x="8852065" y="5696453"/>
            <a:ext cx="320263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Rappel protocoles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rapide</a:t>
            </a:r>
          </a:p>
        </p:txBody>
      </p:sp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086959-FA88-4ADB-7E76-1CDA3F042512}"/>
              </a:ext>
            </a:extLst>
          </p:cNvPr>
          <p:cNvSpPr/>
          <p:nvPr/>
        </p:nvSpPr>
        <p:spPr>
          <a:xfrm>
            <a:off x="1967775" y="2484638"/>
            <a:ext cx="962108" cy="85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6D58275E-24CF-ABC1-24B3-A657AE924C88}"/>
              </a:ext>
            </a:extLst>
          </p:cNvPr>
          <p:cNvGrpSpPr/>
          <p:nvPr/>
        </p:nvGrpSpPr>
        <p:grpSpPr>
          <a:xfrm>
            <a:off x="3820603" y="3598998"/>
            <a:ext cx="8136418" cy="3156746"/>
            <a:chOff x="225261" y="3738478"/>
            <a:chExt cx="8136418" cy="29598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29ECF9-719A-523D-FFF3-8709A87407FB}"/>
                </a:ext>
              </a:extLst>
            </p:cNvPr>
            <p:cNvSpPr/>
            <p:nvPr/>
          </p:nvSpPr>
          <p:spPr>
            <a:xfrm>
              <a:off x="8188847" y="3738479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C211B3-6DB8-6516-078D-780E99BE6AD2}"/>
                </a:ext>
              </a:extLst>
            </p:cNvPr>
            <p:cNvSpPr/>
            <p:nvPr/>
          </p:nvSpPr>
          <p:spPr>
            <a:xfrm>
              <a:off x="283779" y="6512740"/>
              <a:ext cx="7924279" cy="185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8C69FC-F429-70C1-6126-18254A825FD3}"/>
                </a:ext>
              </a:extLst>
            </p:cNvPr>
            <p:cNvSpPr/>
            <p:nvPr/>
          </p:nvSpPr>
          <p:spPr>
            <a:xfrm>
              <a:off x="225261" y="3738478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CECA74-B712-03E6-E6D2-3B249F40D044}"/>
                </a:ext>
              </a:extLst>
            </p:cNvPr>
            <p:cNvSpPr/>
            <p:nvPr/>
          </p:nvSpPr>
          <p:spPr>
            <a:xfrm>
              <a:off x="4612640" y="4038460"/>
              <a:ext cx="338139" cy="26330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050F054-F99E-4CBA-43B0-3C5DD5359F44}"/>
                </a:ext>
              </a:extLst>
            </p:cNvPr>
            <p:cNvSpPr/>
            <p:nvPr/>
          </p:nvSpPr>
          <p:spPr>
            <a:xfrm>
              <a:off x="283779" y="4995730"/>
              <a:ext cx="4381458" cy="16911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carrière: Les bassines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ACA3-8D13-8ECA-CDA3-DA48EF6982BE}"/>
              </a:ext>
            </a:extLst>
          </p:cNvPr>
          <p:cNvSpPr/>
          <p:nvPr/>
        </p:nvSpPr>
        <p:spPr>
          <a:xfrm>
            <a:off x="3862333" y="3033621"/>
            <a:ext cx="148907" cy="2851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B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7DBA472-BAAC-805C-8626-B0AB36DD0B78}"/>
              </a:ext>
            </a:extLst>
          </p:cNvPr>
          <p:cNvGrpSpPr/>
          <p:nvPr/>
        </p:nvGrpSpPr>
        <p:grpSpPr>
          <a:xfrm>
            <a:off x="2444064" y="1414132"/>
            <a:ext cx="431988" cy="490419"/>
            <a:chOff x="7251700" y="4230806"/>
            <a:chExt cx="431988" cy="490419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E9799D-E012-F6FE-2979-919B7705C4E4}"/>
                </a:ext>
              </a:extLst>
            </p:cNvPr>
            <p:cNvCxnSpPr>
              <a:cxnSpLocks/>
            </p:cNvCxnSpPr>
            <p:nvPr/>
          </p:nvCxnSpPr>
          <p:spPr>
            <a:xfrm>
              <a:off x="7251700" y="4230806"/>
              <a:ext cx="0" cy="490419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895798-9680-888F-9CB3-53BB44ECA809}"/>
                </a:ext>
              </a:extLst>
            </p:cNvPr>
            <p:cNvSpPr/>
            <p:nvPr/>
          </p:nvSpPr>
          <p:spPr>
            <a:xfrm>
              <a:off x="7458074" y="4230806"/>
              <a:ext cx="98235" cy="20926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riangle rectangle 22">
              <a:extLst>
                <a:ext uri="{FF2B5EF4-FFF2-40B4-BE49-F238E27FC236}">
                  <a16:creationId xmlns:a16="http://schemas.microsoft.com/office/drawing/2014/main" id="{9D216CBD-DCD2-31AB-C5FB-0F8877BB3A6A}"/>
                </a:ext>
              </a:extLst>
            </p:cNvPr>
            <p:cNvSpPr/>
            <p:nvPr/>
          </p:nvSpPr>
          <p:spPr>
            <a:xfrm rot="5400000">
              <a:off x="7565288" y="4221828"/>
              <a:ext cx="10942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89A90F-5345-B2EF-F46F-B5633826831B}"/>
                </a:ext>
              </a:extLst>
            </p:cNvPr>
            <p:cNvSpPr/>
            <p:nvPr/>
          </p:nvSpPr>
          <p:spPr>
            <a:xfrm>
              <a:off x="7251700" y="4230806"/>
              <a:ext cx="206374" cy="209266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Triangle rectangle 24">
              <a:extLst>
                <a:ext uri="{FF2B5EF4-FFF2-40B4-BE49-F238E27FC236}">
                  <a16:creationId xmlns:a16="http://schemas.microsoft.com/office/drawing/2014/main" id="{AC0866B9-8C4D-9635-E4D7-B61A918D60D0}"/>
                </a:ext>
              </a:extLst>
            </p:cNvPr>
            <p:cNvSpPr/>
            <p:nvPr/>
          </p:nvSpPr>
          <p:spPr>
            <a:xfrm rot="5400000" flipH="1">
              <a:off x="7573963" y="4330347"/>
              <a:ext cx="9207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B8EB7-681D-418E-C435-6221975A9C6F}"/>
              </a:ext>
            </a:extLst>
          </p:cNvPr>
          <p:cNvSpPr/>
          <p:nvPr/>
        </p:nvSpPr>
        <p:spPr>
          <a:xfrm>
            <a:off x="2046548" y="2590303"/>
            <a:ext cx="202557" cy="6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</p:txBody>
      </p: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/>
        </p:nvGraphicFramePr>
        <p:xfrm>
          <a:off x="7579360" y="141726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477979" y="900095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013866" y="3558290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9778933" y="3280903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6516561" y="3341337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cxnSpLocks/>
            <a:stCxn id="52" idx="4"/>
          </p:cNvCxnSpPr>
          <p:nvPr/>
        </p:nvCxnSpPr>
        <p:spPr>
          <a:xfrm flipH="1">
            <a:off x="10015917" y="3750004"/>
            <a:ext cx="6856" cy="2807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6760401" y="3810438"/>
            <a:ext cx="0" cy="1038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11162938" y="626946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38m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8105039" y="362577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7591696" y="46124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5200153" y="3458799"/>
            <a:ext cx="4516341" cy="92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10109200" y="3810438"/>
            <a:ext cx="0" cy="251881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>
            <a:cxnSpLocks/>
          </p:cNvCxnSpPr>
          <p:nvPr/>
        </p:nvCxnSpPr>
        <p:spPr>
          <a:xfrm flipH="1">
            <a:off x="8610306" y="6454127"/>
            <a:ext cx="1336776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8634826" y="3625772"/>
            <a:ext cx="0" cy="275757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5200153" y="3507931"/>
            <a:ext cx="3434673" cy="5566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83FD89F-798E-1D21-7BCF-6D373B857062}"/>
              </a:ext>
            </a:extLst>
          </p:cNvPr>
          <p:cNvCxnSpPr>
            <a:cxnSpLocks/>
          </p:cNvCxnSpPr>
          <p:nvPr/>
        </p:nvCxnSpPr>
        <p:spPr>
          <a:xfrm>
            <a:off x="6917489" y="3810438"/>
            <a:ext cx="0" cy="100793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4068085" y="3810438"/>
            <a:ext cx="0" cy="103878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 flipV="1">
            <a:off x="4181985" y="4849224"/>
            <a:ext cx="2268787" cy="2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5127942" y="3640232"/>
            <a:ext cx="13564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476756" y="2098346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/>
        </p:nvGraphicFramePr>
        <p:xfrm>
          <a:off x="325622" y="3720871"/>
          <a:ext cx="331748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229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1803252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solidFill>
                            <a:schemeClr val="tx1"/>
                          </a:solidFill>
                        </a:rPr>
                        <a:t>Clarrière</a:t>
                      </a:r>
                      <a:endParaRPr lang="fr-F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chemeClr val="tx1"/>
                          </a:solidFill>
                        </a:rPr>
                        <a:t>Lampe / plongeur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285072">
                <a:tc>
                  <a:txBody>
                    <a:bodyPr/>
                    <a:lstStyle/>
                    <a:p>
                      <a:r>
                        <a:rPr lang="fr-FR" sz="1400" b="0" dirty="0"/>
                        <a:t>Matériel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Combi adaptée + cagoule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277815">
                <a:tc>
                  <a:txBody>
                    <a:bodyPr/>
                    <a:lstStyle/>
                    <a:p>
                      <a:r>
                        <a:rPr lang="fr-FR" sz="1400" b="0" dirty="0"/>
                        <a:t>Départ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Toutes 3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8003"/>
                  </a:ext>
                </a:extLst>
              </a:tr>
              <a:tr h="277815">
                <a:tc>
                  <a:txBody>
                    <a:bodyPr/>
                    <a:lstStyle/>
                    <a:p>
                      <a:r>
                        <a:rPr lang="fr-FR" sz="1400" b="0" dirty="0"/>
                        <a:t>Remontée 38m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Remontée 18m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70b / DTR: 2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/>
                        <a:t>Epave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Rentre pas  dedans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87306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B3ADB31-64FF-9977-798A-1265713B918E}"/>
              </a:ext>
            </a:extLst>
          </p:cNvPr>
          <p:cNvSpPr/>
          <p:nvPr/>
        </p:nvSpPr>
        <p:spPr>
          <a:xfrm>
            <a:off x="1967775" y="3341337"/>
            <a:ext cx="3142454" cy="2844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9EBEA73-BBFB-B532-D269-C9E09025D1A8}"/>
              </a:ext>
            </a:extLst>
          </p:cNvPr>
          <p:cNvGrpSpPr/>
          <p:nvPr/>
        </p:nvGrpSpPr>
        <p:grpSpPr>
          <a:xfrm rot="16200000">
            <a:off x="3862120" y="3576754"/>
            <a:ext cx="647529" cy="260673"/>
            <a:chOff x="4600876" y="3077678"/>
            <a:chExt cx="647529" cy="2606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FB04B1-8DF2-7169-EC4D-B720DE9486E8}"/>
                </a:ext>
              </a:extLst>
            </p:cNvPr>
            <p:cNvSpPr/>
            <p:nvPr/>
          </p:nvSpPr>
          <p:spPr>
            <a:xfrm>
              <a:off x="4600876" y="3185962"/>
              <a:ext cx="64752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E1386F-E709-B8D9-D373-FF49AFAA213C}"/>
                </a:ext>
              </a:extLst>
            </p:cNvPr>
            <p:cNvSpPr/>
            <p:nvPr/>
          </p:nvSpPr>
          <p:spPr>
            <a:xfrm>
              <a:off x="5072514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9A9F10-4700-B3FB-3207-4C78BE66CD68}"/>
                </a:ext>
              </a:extLst>
            </p:cNvPr>
            <p:cNvSpPr/>
            <p:nvPr/>
          </p:nvSpPr>
          <p:spPr>
            <a:xfrm>
              <a:off x="4945779" y="3083281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74FBC8-45EC-6B76-B0DF-2B0058225CD2}"/>
                </a:ext>
              </a:extLst>
            </p:cNvPr>
            <p:cNvSpPr/>
            <p:nvPr/>
          </p:nvSpPr>
          <p:spPr>
            <a:xfrm>
              <a:off x="4796872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8788B7-D439-A896-553E-FB1CA0B1845E}"/>
                </a:ext>
              </a:extLst>
            </p:cNvPr>
            <p:cNvSpPr/>
            <p:nvPr/>
          </p:nvSpPr>
          <p:spPr>
            <a:xfrm>
              <a:off x="4651976" y="3077678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6" name="Triangle 55">
            <a:extLst>
              <a:ext uri="{FF2B5EF4-FFF2-40B4-BE49-F238E27FC236}">
                <a16:creationId xmlns:a16="http://schemas.microsoft.com/office/drawing/2014/main" id="{BD94177A-D485-58B8-D6B4-5C60656FDEF1}"/>
              </a:ext>
            </a:extLst>
          </p:cNvPr>
          <p:cNvSpPr/>
          <p:nvPr/>
        </p:nvSpPr>
        <p:spPr>
          <a:xfrm>
            <a:off x="1963599" y="1878696"/>
            <a:ext cx="962106" cy="605942"/>
          </a:xfrm>
          <a:prstGeom prst="triangle">
            <a:avLst>
              <a:gd name="adj" fmla="val 4917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lus 13">
            <a:extLst>
              <a:ext uri="{FF2B5EF4-FFF2-40B4-BE49-F238E27FC236}">
                <a16:creationId xmlns:a16="http://schemas.microsoft.com/office/drawing/2014/main" id="{0508F374-9010-4D10-90D7-0C95C782F6DB}"/>
              </a:ext>
            </a:extLst>
          </p:cNvPr>
          <p:cNvSpPr/>
          <p:nvPr/>
        </p:nvSpPr>
        <p:spPr>
          <a:xfrm flipV="1">
            <a:off x="2481048" y="2941683"/>
            <a:ext cx="418193" cy="388356"/>
          </a:xfrm>
          <a:prstGeom prst="mathPlu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A081587-8223-032D-4CF3-01349A07BF8A}"/>
              </a:ext>
            </a:extLst>
          </p:cNvPr>
          <p:cNvSpPr/>
          <p:nvPr/>
        </p:nvSpPr>
        <p:spPr>
          <a:xfrm>
            <a:off x="4969565" y="4612404"/>
            <a:ext cx="1116630" cy="327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D79017-25D3-B68D-8555-FBC82367268B}"/>
              </a:ext>
            </a:extLst>
          </p:cNvPr>
          <p:cNvSpPr/>
          <p:nvPr/>
        </p:nvSpPr>
        <p:spPr>
          <a:xfrm>
            <a:off x="9082310" y="6090690"/>
            <a:ext cx="1026890" cy="3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Avion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CC5578-B14D-8126-77B9-96AA82F621E2}"/>
              </a:ext>
            </a:extLst>
          </p:cNvPr>
          <p:cNvSpPr txBox="1"/>
          <p:nvPr/>
        </p:nvSpPr>
        <p:spPr>
          <a:xfrm>
            <a:off x="321315" y="5814764"/>
            <a:ext cx="3317481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Rappel protocoles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Procédure de givrage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FF3213-63E0-483C-EBE5-2CF1DE67990A}"/>
              </a:ext>
            </a:extLst>
          </p:cNvPr>
          <p:cNvSpPr txBox="1"/>
          <p:nvPr/>
        </p:nvSpPr>
        <p:spPr>
          <a:xfrm>
            <a:off x="3936786" y="1110741"/>
            <a:ext cx="29542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1 – Sécurité site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d'organiser la sécurité pour une sortie en carrière, pour un groupe de plongeurs N1, N2 et N3. </a:t>
            </a:r>
            <a:endParaRPr lang="fr-FR" sz="1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89F026E-CB5C-0157-C26E-AC32E10D89BF}"/>
              </a:ext>
            </a:extLst>
          </p:cNvPr>
          <p:cNvSpPr txBox="1"/>
          <p:nvPr/>
        </p:nvSpPr>
        <p:spPr>
          <a:xfrm>
            <a:off x="7591697" y="2158780"/>
            <a:ext cx="4489210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Plongeurs club 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3ème plongée d’un week-end en carrière</a:t>
            </a:r>
          </a:p>
        </p:txBody>
      </p:sp>
    </p:spTree>
    <p:extLst>
      <p:ext uri="{BB962C8B-B14F-4D97-AF65-F5344CB8AC3E}">
        <p14:creationId xmlns:p14="http://schemas.microsoft.com/office/powerpoint/2010/main" val="189787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109600A-93DD-1FEE-F592-1F036BE5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7888"/>
              </p:ext>
            </p:extLst>
          </p:nvPr>
        </p:nvGraphicFramePr>
        <p:xfrm>
          <a:off x="6922157" y="558835"/>
          <a:ext cx="5189542" cy="4950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68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6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30m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Compréhension DP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Planification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Orientation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Parachute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r>
                        <a:rPr lang="fr-FR" sz="1400" dirty="0"/>
                        <a:t>IPD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pPr algn="l"/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B.C.</a:t>
                      </a:r>
                    </a:p>
                    <a:p>
                      <a:pPr algn="l"/>
                      <a:r>
                        <a:rPr lang="fr-FR" sz="1400" dirty="0"/>
                        <a:t>Signes</a:t>
                      </a:r>
                    </a:p>
                    <a:p>
                      <a:pPr algn="l"/>
                      <a:r>
                        <a:rPr lang="fr-FR" sz="1400" dirty="0"/>
                        <a:t>IDP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810699">
                <a:tc>
                  <a:txBody>
                    <a:bodyPr/>
                    <a:lstStyle/>
                    <a:p>
                      <a:r>
                        <a:rPr lang="fr-FR" sz="16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30m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B.C.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r>
                        <a:rPr lang="fr-FR" sz="1400" dirty="0"/>
                        <a:t>IPD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pPr algn="l"/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</a:t>
                      </a:r>
                    </a:p>
                    <a:p>
                      <a:pPr algn="l"/>
                      <a:r>
                        <a:rPr lang="fr-FR" sz="1400" dirty="0"/>
                        <a:t>Signes</a:t>
                      </a:r>
                    </a:p>
                    <a:p>
                      <a:pPr algn="l"/>
                      <a:r>
                        <a:rPr lang="fr-FR" sz="1400" dirty="0"/>
                        <a:t>IPD</a:t>
                      </a:r>
                    </a:p>
                    <a:p>
                      <a:pPr algn="l"/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6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5D0E774A-3B90-136A-9BC6-60A604DD09CB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Week-end en carrière pour prépa N3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375D44-C522-ABA7-0332-96EE382F62AD}"/>
              </a:ext>
            </a:extLst>
          </p:cNvPr>
          <p:cNvSpPr txBox="1"/>
          <p:nvPr/>
        </p:nvSpPr>
        <p:spPr>
          <a:xfrm>
            <a:off x="160568" y="1679762"/>
            <a:ext cx="3723609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prépa N3, club Ile de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2 moniteur E3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8 fosses à 20m pour IPD et parachute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987485A-C7A1-DF43-DA55-877E286F3D4C}"/>
              </a:ext>
            </a:extLst>
          </p:cNvPr>
          <p:cNvSpPr txBox="1"/>
          <p:nvPr/>
        </p:nvSpPr>
        <p:spPr>
          <a:xfrm>
            <a:off x="160568" y="416235"/>
            <a:ext cx="29542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1 – Sécurité site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d'effectuer l'organisation et le briefing pour une sortie de 2 jours en carrière pour 4 prépas N3.</a:t>
            </a:r>
            <a:endParaRPr lang="fr-FR" sz="14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8373982-D2CB-85AF-52DC-C3A4F240A6B8}"/>
              </a:ext>
            </a:extLst>
          </p:cNvPr>
          <p:cNvSpPr txBox="1"/>
          <p:nvPr/>
        </p:nvSpPr>
        <p:spPr>
          <a:xfrm>
            <a:off x="160568" y="3101511"/>
            <a:ext cx="3723609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Rappel protocoles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Procédure de givrage</a:t>
            </a:r>
          </a:p>
          <a:p>
            <a:r>
              <a:rPr lang="fr-FR" sz="1600" dirty="0"/>
              <a:t>Rappel sécurité: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80m max remontée / plongée</a:t>
            </a:r>
          </a:p>
        </p:txBody>
      </p:sp>
      <p:sp>
        <p:nvSpPr>
          <p:cNvPr id="26" name="Accolade fermante 25">
            <a:extLst>
              <a:ext uri="{FF2B5EF4-FFF2-40B4-BE49-F238E27FC236}">
                <a16:creationId xmlns:a16="http://schemas.microsoft.com/office/drawing/2014/main" id="{8DF7307B-E9DC-C467-1170-E457029BD50B}"/>
              </a:ext>
            </a:extLst>
          </p:cNvPr>
          <p:cNvSpPr/>
          <p:nvPr/>
        </p:nvSpPr>
        <p:spPr>
          <a:xfrm>
            <a:off x="9290351" y="1761260"/>
            <a:ext cx="226577" cy="865847"/>
          </a:xfrm>
          <a:prstGeom prst="rightBrace">
            <a:avLst>
              <a:gd name="adj1" fmla="val 44697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9D7F826-F658-D9D3-CF00-B697871927DB}"/>
              </a:ext>
            </a:extLst>
          </p:cNvPr>
          <p:cNvSpPr txBox="1"/>
          <p:nvPr/>
        </p:nvSpPr>
        <p:spPr>
          <a:xfrm>
            <a:off x="9403639" y="2009517"/>
            <a:ext cx="53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B.C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EC0B416-EEAA-39CA-4A25-8BD4F5C85100}"/>
              </a:ext>
            </a:extLst>
          </p:cNvPr>
          <p:cNvSpPr txBox="1"/>
          <p:nvPr/>
        </p:nvSpPr>
        <p:spPr>
          <a:xfrm>
            <a:off x="160568" y="4531907"/>
            <a:ext cx="372360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Info séjour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Carrière à 1 heure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Repas restaurant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0490D2D-40EF-5461-F203-E6402258F2AE}"/>
              </a:ext>
            </a:extLst>
          </p:cNvPr>
          <p:cNvSpPr txBox="1"/>
          <p:nvPr/>
        </p:nvSpPr>
        <p:spPr>
          <a:xfrm>
            <a:off x="4013651" y="678666"/>
            <a:ext cx="2816028" cy="45858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Briefing</a:t>
            </a:r>
          </a:p>
          <a:p>
            <a:r>
              <a:rPr lang="fr-FR" sz="1600" dirty="0"/>
              <a:t>Vérification des présents</a:t>
            </a:r>
          </a:p>
          <a:p>
            <a:r>
              <a:rPr lang="fr-FR" sz="1600" dirty="0"/>
              <a:t>Rappel des palanquées</a:t>
            </a:r>
          </a:p>
          <a:p>
            <a:r>
              <a:rPr lang="fr-FR" sz="1600" dirty="0"/>
              <a:t>Rappel emplacement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Oxygène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Bloc sécu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Poss</a:t>
            </a:r>
          </a:p>
          <a:p>
            <a:r>
              <a:rPr lang="fr-FR" sz="1600" dirty="0"/>
              <a:t>Rappel protocole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Procédure givrage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Perte palanquée</a:t>
            </a:r>
          </a:p>
          <a:p>
            <a:r>
              <a:rPr lang="fr-FR" sz="1600" dirty="0"/>
              <a:t>Rappel sécurité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80m max / plongée</a:t>
            </a:r>
          </a:p>
          <a:p>
            <a:r>
              <a:rPr lang="fr-FR" sz="1600" dirty="0"/>
              <a:t>Rappel du programme</a:t>
            </a:r>
          </a:p>
          <a:p>
            <a:r>
              <a:rPr lang="fr-FR" sz="1600" dirty="0"/>
              <a:t>Présentation du site</a:t>
            </a:r>
          </a:p>
          <a:p>
            <a:r>
              <a:rPr lang="fr-FR" sz="1600" dirty="0"/>
              <a:t>Paramètres plongée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993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1B76-C899-E881-5834-53619AC0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3C353E3-41C5-9949-0265-64823C402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933828"/>
              </p:ext>
            </p:extLst>
          </p:nvPr>
        </p:nvGraphicFramePr>
        <p:xfrm>
          <a:off x="6922157" y="558835"/>
          <a:ext cx="5189542" cy="4736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68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6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12m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Compréhension DP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Planification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Orientation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Propulsion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12m</a:t>
                      </a:r>
                    </a:p>
                    <a:p>
                      <a:pPr algn="l"/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B.C.</a:t>
                      </a:r>
                      <a:endParaRPr lang="fr-FR" sz="1400" dirty="0"/>
                    </a:p>
                    <a:p>
                      <a:pPr algn="l"/>
                      <a:r>
                        <a:rPr lang="fr-FR" sz="1400" dirty="0"/>
                        <a:t>IDP++</a:t>
                      </a:r>
                    </a:p>
                    <a:p>
                      <a:pPr algn="l"/>
                      <a:r>
                        <a:rPr lang="fr-FR" sz="1400" dirty="0"/>
                        <a:t>Parachute++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810699">
                <a:tc>
                  <a:txBody>
                    <a:bodyPr/>
                    <a:lstStyle/>
                    <a:p>
                      <a:r>
                        <a:rPr lang="fr-FR" sz="16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10m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B.C.</a:t>
                      </a:r>
                      <a:endParaRPr lang="fr-FR" sz="1400" dirty="0"/>
                    </a:p>
                    <a:p>
                      <a:r>
                        <a:rPr lang="fr-FR" sz="1400" dirty="0"/>
                        <a:t>IPD+</a:t>
                      </a:r>
                    </a:p>
                    <a:p>
                      <a:r>
                        <a:rPr lang="fr-FR" sz="1400" dirty="0"/>
                        <a:t>Parachute+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10m</a:t>
                      </a:r>
                    </a:p>
                    <a:p>
                      <a:pPr algn="l"/>
                      <a:r>
                        <a:rPr lang="fr-FR" sz="1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B.C</a:t>
                      </a:r>
                    </a:p>
                    <a:p>
                      <a:pPr algn="l"/>
                      <a:r>
                        <a:rPr lang="fr-FR" sz="1400" dirty="0"/>
                        <a:t>IPD+++</a:t>
                      </a:r>
                    </a:p>
                    <a:p>
                      <a:pPr algn="l"/>
                      <a:r>
                        <a:rPr lang="fr-FR" sz="1400" dirty="0"/>
                        <a:t>Parachute+++</a:t>
                      </a:r>
                    </a:p>
                    <a:p>
                      <a:pPr algn="l"/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6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7C48F8AF-1A01-A97C-493B-139FE248BD46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Pratique PA12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6115336-83E4-4F2A-576D-A83E616DE609}"/>
              </a:ext>
            </a:extLst>
          </p:cNvPr>
          <p:cNvSpPr txBox="1"/>
          <p:nvPr/>
        </p:nvSpPr>
        <p:spPr>
          <a:xfrm>
            <a:off x="160568" y="1679762"/>
            <a:ext cx="3723609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prépa PA12, club Ile de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2 moniteur: 1 E2, 1 E3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08AC193-4F0C-5485-758A-0A872C5580DC}"/>
              </a:ext>
            </a:extLst>
          </p:cNvPr>
          <p:cNvSpPr txBox="1"/>
          <p:nvPr/>
        </p:nvSpPr>
        <p:spPr>
          <a:xfrm>
            <a:off x="160568" y="416235"/>
            <a:ext cx="2954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Pratique PA12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d'effectuer l'organisation pour la pratique PA12</a:t>
            </a:r>
            <a:endParaRPr lang="fr-FR" sz="1400" dirty="0"/>
          </a:p>
        </p:txBody>
      </p:sp>
      <p:sp>
        <p:nvSpPr>
          <p:cNvPr id="26" name="Accolade fermante 25">
            <a:extLst>
              <a:ext uri="{FF2B5EF4-FFF2-40B4-BE49-F238E27FC236}">
                <a16:creationId xmlns:a16="http://schemas.microsoft.com/office/drawing/2014/main" id="{55E9918B-5232-CCB6-7710-A316CFDFFC7B}"/>
              </a:ext>
            </a:extLst>
          </p:cNvPr>
          <p:cNvSpPr/>
          <p:nvPr/>
        </p:nvSpPr>
        <p:spPr>
          <a:xfrm>
            <a:off x="9290351" y="1761260"/>
            <a:ext cx="226577" cy="865847"/>
          </a:xfrm>
          <a:prstGeom prst="rightBrace">
            <a:avLst>
              <a:gd name="adj1" fmla="val 44697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88BF27D-C619-1F7F-4DE0-519B588A5843}"/>
              </a:ext>
            </a:extLst>
          </p:cNvPr>
          <p:cNvSpPr txBox="1"/>
          <p:nvPr/>
        </p:nvSpPr>
        <p:spPr>
          <a:xfrm>
            <a:off x="9403639" y="2009517"/>
            <a:ext cx="53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B.C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580426F-F422-5A77-146D-A6E028ACFA0D}"/>
              </a:ext>
            </a:extLst>
          </p:cNvPr>
          <p:cNvSpPr txBox="1"/>
          <p:nvPr/>
        </p:nvSpPr>
        <p:spPr>
          <a:xfrm>
            <a:off x="160568" y="2866344"/>
            <a:ext cx="372360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Info séjour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Site abrité en mer à 1 heure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Repas restaurant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E52F07-00F3-EE36-5342-0E2D8A7A73D4}"/>
              </a:ext>
            </a:extLst>
          </p:cNvPr>
          <p:cNvSpPr txBox="1"/>
          <p:nvPr/>
        </p:nvSpPr>
        <p:spPr>
          <a:xfrm>
            <a:off x="160568" y="3806705"/>
            <a:ext cx="3723609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Explication (mentionné pas écrit)</a:t>
            </a:r>
          </a:p>
          <a:p>
            <a:r>
              <a:rPr lang="fr-FR" sz="1600" dirty="0"/>
              <a:t>+: Initiation</a:t>
            </a:r>
          </a:p>
          <a:p>
            <a:r>
              <a:rPr lang="fr-FR" sz="1600" dirty="0"/>
              <a:t>++: Perfectionnement</a:t>
            </a:r>
          </a:p>
          <a:p>
            <a:r>
              <a:rPr lang="fr-FR" sz="1600" dirty="0"/>
              <a:t>+++: Maitrise</a:t>
            </a:r>
          </a:p>
        </p:txBody>
      </p:sp>
    </p:spTree>
    <p:extLst>
      <p:ext uri="{BB962C8B-B14F-4D97-AF65-F5344CB8AC3E}">
        <p14:creationId xmlns:p14="http://schemas.microsoft.com/office/powerpoint/2010/main" val="359796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C220-A79A-2CA0-33CB-2D6FE276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DBFD149-F750-8900-0297-3E3FC23E9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046795"/>
              </p:ext>
            </p:extLst>
          </p:nvPr>
        </p:nvGraphicFramePr>
        <p:xfrm>
          <a:off x="3689498" y="804898"/>
          <a:ext cx="8123274" cy="4505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36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541182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  <a:gridCol w="3306725">
                  <a:extLst>
                    <a:ext uri="{9D8B030D-6E8A-4147-A177-3AD203B41FA5}">
                      <a16:colId xmlns:a16="http://schemas.microsoft.com/office/drawing/2014/main" val="2430469827"/>
                    </a:ext>
                  </a:extLst>
                </a:gridCol>
              </a:tblGrid>
              <a:tr h="415771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1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3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5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1725999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Accueil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Accueil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Programme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Prérogative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Critère d’évaluation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Cadre fédéral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Assurance</a:t>
                      </a:r>
                    </a:p>
                    <a:p>
                      <a:endParaRPr lang="fr-FR" sz="13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Accidents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Barotraumatisme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ADD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 err="1"/>
                        <a:t>Essouflement</a:t>
                      </a:r>
                      <a:endParaRPr lang="fr-FR" sz="14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Froid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Malaise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Narcose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Matériel</a:t>
                      </a:r>
                    </a:p>
                    <a:p>
                      <a:pPr algn="l"/>
                      <a:endParaRPr lang="fr-FR" sz="15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Fonctionnement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Entretien</a:t>
                      </a:r>
                    </a:p>
                    <a:p>
                      <a:pPr algn="l"/>
                      <a:endParaRPr lang="fr-FR" sz="1500" b="1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2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4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6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646090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Physique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Archimède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Pression &amp; volume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Consommation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Autonomie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Désaturation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Principes (basique)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Moyens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Tables (support péda)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Ordinateurs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Gestion dans palanquée</a:t>
                      </a:r>
                    </a:p>
                    <a:p>
                      <a:pPr algn="l"/>
                      <a:endParaRPr lang="fr-FR" sz="13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Comportement</a:t>
                      </a:r>
                    </a:p>
                    <a:p>
                      <a:pPr algn="l"/>
                      <a:endParaRPr lang="fr-FR" sz="15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Connaissance du milieu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Evolution dans le milieu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Chartre du plongeur responsable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F1F46521-CB25-FBA3-9FC1-7DCFB1945AFF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Théorie N2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0641463-6EF2-E054-6CC6-9BA790ACC283}"/>
              </a:ext>
            </a:extLst>
          </p:cNvPr>
          <p:cNvSpPr txBox="1"/>
          <p:nvPr/>
        </p:nvSpPr>
        <p:spPr>
          <a:xfrm>
            <a:off x="163862" y="1727856"/>
            <a:ext cx="3281088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Souligner (mentionné pas écrit)</a:t>
            </a:r>
          </a:p>
          <a:p>
            <a:r>
              <a:rPr lang="fr-FR" sz="1600" dirty="0"/>
              <a:t>Les effets de la profondeur sur: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Consommation / autonomie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Accidents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Désaturation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60A246F-D9AE-373A-33AD-9DFBD9439688}"/>
              </a:ext>
            </a:extLst>
          </p:cNvPr>
          <p:cNvSpPr txBox="1"/>
          <p:nvPr/>
        </p:nvSpPr>
        <p:spPr>
          <a:xfrm>
            <a:off x="160568" y="416235"/>
            <a:ext cx="2954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Théorie N2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de définir une progression pour la théorie N2</a:t>
            </a:r>
            <a:endParaRPr lang="fr-FR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584DC3-D241-482C-ACFC-C07A69C1936C}"/>
              </a:ext>
            </a:extLst>
          </p:cNvPr>
          <p:cNvSpPr txBox="1"/>
          <p:nvPr/>
        </p:nvSpPr>
        <p:spPr>
          <a:xfrm>
            <a:off x="163861" y="3285709"/>
            <a:ext cx="328108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Autre (mentionné pas écrit)</a:t>
            </a:r>
          </a:p>
          <a:p>
            <a:r>
              <a:rPr lang="fr-FR" sz="1600" dirty="0"/>
              <a:t>Planification et orientation abordé dans le cadre de la pratique</a:t>
            </a:r>
          </a:p>
        </p:txBody>
      </p:sp>
    </p:spTree>
    <p:extLst>
      <p:ext uri="{BB962C8B-B14F-4D97-AF65-F5344CB8AC3E}">
        <p14:creationId xmlns:p14="http://schemas.microsoft.com/office/powerpoint/2010/main" val="86819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59F2-517E-D1DB-46EA-BE828206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D0E98D7-1DBE-6EB9-A2D5-8301B4F86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80567"/>
              </p:ext>
            </p:extLst>
          </p:nvPr>
        </p:nvGraphicFramePr>
        <p:xfrm>
          <a:off x="3689498" y="804898"/>
          <a:ext cx="8123274" cy="4536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36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541182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  <a:gridCol w="3306725">
                  <a:extLst>
                    <a:ext uri="{9D8B030D-6E8A-4147-A177-3AD203B41FA5}">
                      <a16:colId xmlns:a16="http://schemas.microsoft.com/office/drawing/2014/main" val="2430469827"/>
                    </a:ext>
                  </a:extLst>
                </a:gridCol>
              </a:tblGrid>
              <a:tr h="415771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1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3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Unité 5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1725999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Accueil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Accueil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Programme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Prérogative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Critère d’évaluation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Cadre fédéral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Assurance</a:t>
                      </a:r>
                    </a:p>
                    <a:p>
                      <a:endParaRPr lang="fr-FR" sz="13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Accidents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Barotraumatisme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ADD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 err="1"/>
                        <a:t>Essouflement</a:t>
                      </a:r>
                      <a:endParaRPr lang="fr-FR" sz="14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Froid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Malaise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Narcose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++ Conduite à tenir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Orientation</a:t>
                      </a:r>
                    </a:p>
                    <a:p>
                      <a:pPr algn="l"/>
                      <a:endParaRPr lang="fr-FR" sz="15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Stratégie selon plongée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Outils / Moyens</a:t>
                      </a:r>
                    </a:p>
                    <a:p>
                      <a:pPr algn="l"/>
                      <a:endParaRPr lang="fr-FR" sz="1500" b="1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2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4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Unité 6</a:t>
                      </a:r>
                    </a:p>
                  </a:txBody>
                  <a:tcPr marT="41564" marB="41564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646090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Physique </a:t>
                      </a:r>
                    </a:p>
                    <a:p>
                      <a:pPr algn="ctr"/>
                      <a:r>
                        <a:rPr lang="fr-FR" sz="1300" dirty="0"/>
                        <a:t>Centrée sur consommation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Elément de physique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Déterminer / calculer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Consommation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Autonomie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Influence de la profondeur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Désaturation</a:t>
                      </a:r>
                    </a:p>
                    <a:p>
                      <a:pPr algn="ctr"/>
                      <a:endParaRPr lang="fr-FR" sz="13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Principes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Moyens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Tables (support péda)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Ordinateurs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Gestion dans palanquée</a:t>
                      </a:r>
                    </a:p>
                    <a:p>
                      <a:pPr algn="l"/>
                      <a:endParaRPr lang="fr-FR" sz="13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Comportement</a:t>
                      </a:r>
                    </a:p>
                    <a:p>
                      <a:pPr algn="l"/>
                      <a:endParaRPr lang="fr-FR" sz="15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Connaissance du milieu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Evolution dans le milieu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Chartre du plongeur responsable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D0562E33-E29F-A5E1-A45F-AC0D3708885A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Théorie PA40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CB95119-8138-9260-7EEA-EE1061485463}"/>
              </a:ext>
            </a:extLst>
          </p:cNvPr>
          <p:cNvSpPr txBox="1"/>
          <p:nvPr/>
        </p:nvSpPr>
        <p:spPr>
          <a:xfrm>
            <a:off x="163862" y="1727856"/>
            <a:ext cx="3281088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Souligner (mentionné pas écrit)</a:t>
            </a:r>
          </a:p>
          <a:p>
            <a:r>
              <a:rPr lang="fr-FR" sz="1600" dirty="0"/>
              <a:t>Les effets de la profondeur sur: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Consommation / autonomie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Accidents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Désaturation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49EBAB5-C817-8C55-8462-39A1E5442A50}"/>
              </a:ext>
            </a:extLst>
          </p:cNvPr>
          <p:cNvSpPr txBox="1"/>
          <p:nvPr/>
        </p:nvSpPr>
        <p:spPr>
          <a:xfrm>
            <a:off x="160568" y="416235"/>
            <a:ext cx="2954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Théorie PA40</a:t>
            </a:r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de définir une progression pour la théorie PA40</a:t>
            </a:r>
            <a:endParaRPr lang="fr-FR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936A71-974C-066A-0190-EDEAAF389291}"/>
              </a:ext>
            </a:extLst>
          </p:cNvPr>
          <p:cNvSpPr txBox="1"/>
          <p:nvPr/>
        </p:nvSpPr>
        <p:spPr>
          <a:xfrm>
            <a:off x="163861" y="3285709"/>
            <a:ext cx="328108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Autre (mentionné pas écrit)</a:t>
            </a:r>
          </a:p>
          <a:p>
            <a:r>
              <a:rPr lang="fr-FR" sz="1600" dirty="0"/>
              <a:t>Planification abordée dans le cadre de la pratique</a:t>
            </a:r>
          </a:p>
        </p:txBody>
      </p:sp>
    </p:spTree>
    <p:extLst>
      <p:ext uri="{BB962C8B-B14F-4D97-AF65-F5344CB8AC3E}">
        <p14:creationId xmlns:p14="http://schemas.microsoft.com/office/powerpoint/2010/main" val="221459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BCC8B0A8-17BA-5535-7DA2-8537441DF131}"/>
              </a:ext>
            </a:extLst>
          </p:cNvPr>
          <p:cNvSpPr/>
          <p:nvPr/>
        </p:nvSpPr>
        <p:spPr>
          <a:xfrm>
            <a:off x="86316" y="5548812"/>
            <a:ext cx="12105684" cy="11758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3847811B-1D80-46A9-B8BF-A340FAC31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609080"/>
              </p:ext>
            </p:extLst>
          </p:nvPr>
        </p:nvGraphicFramePr>
        <p:xfrm>
          <a:off x="5578879" y="486868"/>
          <a:ext cx="5189542" cy="4980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68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205592">
                <a:tc>
                  <a:txBody>
                    <a:bodyPr/>
                    <a:lstStyle/>
                    <a:p>
                      <a:r>
                        <a:rPr lang="fr-FR" sz="14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6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12m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20m</a:t>
                      </a:r>
                    </a:p>
                    <a:p>
                      <a:pPr algn="l"/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810699">
                <a:tc>
                  <a:txBody>
                    <a:bodyPr/>
                    <a:lstStyle/>
                    <a:p>
                      <a:r>
                        <a:rPr lang="fr-FR" sz="16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10m</a:t>
                      </a:r>
                    </a:p>
                    <a:p>
                      <a:r>
                        <a:rPr lang="fr-FR" sz="1400" dirty="0"/>
                        <a:t>Lestage (ajustement)</a:t>
                      </a:r>
                    </a:p>
                    <a:p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18m</a:t>
                      </a:r>
                    </a:p>
                    <a:p>
                      <a:pPr algn="l"/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6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400" dirty="0"/>
                        <a:t>19h30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39430"/>
                  </a:ext>
                </a:extLst>
              </a:tr>
            </a:tbl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F4294792-3423-9C66-ADFF-DC717CED33A7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Séjour N1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465D15C0-AF1F-A23D-8B70-48775E8AA8CB}"/>
              </a:ext>
            </a:extLst>
          </p:cNvPr>
          <p:cNvSpPr/>
          <p:nvPr/>
        </p:nvSpPr>
        <p:spPr>
          <a:xfrm>
            <a:off x="6364277" y="5587961"/>
            <a:ext cx="2168665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Samedi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BE5E716-13AF-A024-8A76-EFB9604E49EF}"/>
              </a:ext>
            </a:extLst>
          </p:cNvPr>
          <p:cNvSpPr/>
          <p:nvPr/>
        </p:nvSpPr>
        <p:spPr>
          <a:xfrm>
            <a:off x="8599756" y="5587961"/>
            <a:ext cx="2168665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Dimanche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4C2FF77-076F-CCE7-B5F3-E41CD707FC81}"/>
              </a:ext>
            </a:extLst>
          </p:cNvPr>
          <p:cNvSpPr/>
          <p:nvPr/>
        </p:nvSpPr>
        <p:spPr>
          <a:xfrm>
            <a:off x="4911865" y="5587961"/>
            <a:ext cx="1385598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Vendredi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E7DB4EB-1A31-3742-56B4-4BF69E585781}"/>
              </a:ext>
            </a:extLst>
          </p:cNvPr>
          <p:cNvSpPr/>
          <p:nvPr/>
        </p:nvSpPr>
        <p:spPr>
          <a:xfrm>
            <a:off x="10835235" y="5587963"/>
            <a:ext cx="127044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AE089B7-62B2-AC4D-8852-A4F3BAED34BE}"/>
              </a:ext>
            </a:extLst>
          </p:cNvPr>
          <p:cNvSpPr/>
          <p:nvPr/>
        </p:nvSpPr>
        <p:spPr>
          <a:xfrm>
            <a:off x="2530244" y="5599789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79B64A3-BBCA-92C3-8577-AF35C42ABE5E}"/>
              </a:ext>
            </a:extLst>
          </p:cNvPr>
          <p:cNvSpPr txBox="1"/>
          <p:nvPr/>
        </p:nvSpPr>
        <p:spPr>
          <a:xfrm>
            <a:off x="10835235" y="5887367"/>
            <a:ext cx="1270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Retour TGV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A2BDD60-2BD3-3385-FAED-1C8F98CE9D93}"/>
              </a:ext>
            </a:extLst>
          </p:cNvPr>
          <p:cNvSpPr txBox="1"/>
          <p:nvPr/>
        </p:nvSpPr>
        <p:spPr>
          <a:xfrm>
            <a:off x="2530244" y="5939033"/>
            <a:ext cx="150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Présentation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EC99D9D-1211-6F09-8198-0A147E9B2BAA}"/>
              </a:ext>
            </a:extLst>
          </p:cNvPr>
          <p:cNvSpPr txBox="1"/>
          <p:nvPr/>
        </p:nvSpPr>
        <p:spPr>
          <a:xfrm>
            <a:off x="4832536" y="5893626"/>
            <a:ext cx="1464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Aller TGV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Matériel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DC6633D-8A83-E418-F05D-C0C32F5283DF}"/>
              </a:ext>
            </a:extLst>
          </p:cNvPr>
          <p:cNvSpPr txBox="1"/>
          <p:nvPr/>
        </p:nvSpPr>
        <p:spPr>
          <a:xfrm>
            <a:off x="4097217" y="5040981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5A18E64-E28C-2F61-CC51-9A43605CEC41}"/>
              </a:ext>
            </a:extLst>
          </p:cNvPr>
          <p:cNvSpPr txBox="1"/>
          <p:nvPr/>
        </p:nvSpPr>
        <p:spPr>
          <a:xfrm>
            <a:off x="1715596" y="5040981"/>
            <a:ext cx="814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6A77165-A71A-04C7-1563-DB290EA940C0}"/>
              </a:ext>
            </a:extLst>
          </p:cNvPr>
          <p:cNvSpPr/>
          <p:nvPr/>
        </p:nvSpPr>
        <p:spPr>
          <a:xfrm>
            <a:off x="137523" y="5587961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mois plutôt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974A900-5783-438D-B902-A1B7C5215BAE}"/>
              </a:ext>
            </a:extLst>
          </p:cNvPr>
          <p:cNvSpPr txBox="1"/>
          <p:nvPr/>
        </p:nvSpPr>
        <p:spPr>
          <a:xfrm>
            <a:off x="126422" y="5949579"/>
            <a:ext cx="150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Administratif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D9C1886-363C-8A73-7D0A-6B0FFC4EC22A}"/>
              </a:ext>
            </a:extLst>
          </p:cNvPr>
          <p:cNvSpPr txBox="1"/>
          <p:nvPr/>
        </p:nvSpPr>
        <p:spPr>
          <a:xfrm>
            <a:off x="6316108" y="5922293"/>
            <a:ext cx="2216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Plongées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Carnet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5D94C688-47EE-B85B-9165-22E200A2337E}"/>
              </a:ext>
            </a:extLst>
          </p:cNvPr>
          <p:cNvSpPr txBox="1"/>
          <p:nvPr/>
        </p:nvSpPr>
        <p:spPr>
          <a:xfrm>
            <a:off x="8516872" y="5922293"/>
            <a:ext cx="2216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Plongées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Carnet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263B5D-3B5F-5E21-4439-7F0A72D281F7}"/>
              </a:ext>
            </a:extLst>
          </p:cNvPr>
          <p:cNvSpPr txBox="1"/>
          <p:nvPr/>
        </p:nvSpPr>
        <p:spPr>
          <a:xfrm>
            <a:off x="212403" y="1163541"/>
            <a:ext cx="3234804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N1 - validation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fosse à 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GP et 1 E3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5E1318D-B12C-6C9F-F53C-FFA3E607CDCC}"/>
              </a:ext>
            </a:extLst>
          </p:cNvPr>
          <p:cNvSpPr txBox="1"/>
          <p:nvPr/>
        </p:nvSpPr>
        <p:spPr>
          <a:xfrm>
            <a:off x="212403" y="2449759"/>
            <a:ext cx="3234804" cy="28007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Logement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S’intègre dans un séjour club d’une semaine.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DP assuré par E4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Hôtel,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5 min bateau / club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Repas: hôtel</a:t>
            </a:r>
          </a:p>
          <a:p>
            <a:r>
              <a:rPr lang="fr-FR" sz="1600" b="1" dirty="0"/>
              <a:t>Le jour de l’arrivée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Récupérer le matériel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Découverte de la combi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Fonctionnement du club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BFA9974-7824-FF45-9350-C0CD7A02B94E}"/>
              </a:ext>
            </a:extLst>
          </p:cNvPr>
          <p:cNvSpPr txBox="1"/>
          <p:nvPr/>
        </p:nvSpPr>
        <p:spPr>
          <a:xfrm>
            <a:off x="126422" y="221485"/>
            <a:ext cx="5189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22 – </a:t>
            </a: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Stage de formation et validation</a:t>
            </a:r>
            <a:endParaRPr lang="fr-FR" sz="1400" b="1" dirty="0"/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d'organiser un stage de 2 jours en mer pour 4 N1 ayant pour thème "la validation des 4 premières plongées en milieu naturel". </a:t>
            </a:r>
            <a:endParaRPr lang="fr-FR" sz="14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96F41EA-01A2-4A34-42EA-9415B1714331}"/>
              </a:ext>
            </a:extLst>
          </p:cNvPr>
          <p:cNvSpPr txBox="1"/>
          <p:nvPr/>
        </p:nvSpPr>
        <p:spPr>
          <a:xfrm>
            <a:off x="1003741" y="6339800"/>
            <a:ext cx="31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>
                <a:solidFill>
                  <a:schemeClr val="bg1">
                    <a:lumMod val="50000"/>
                  </a:schemeClr>
                </a:solidFill>
              </a:rPr>
              <a:t>Support interne, pas dessiné</a:t>
            </a:r>
          </a:p>
        </p:txBody>
      </p:sp>
    </p:spTree>
    <p:extLst>
      <p:ext uri="{BB962C8B-B14F-4D97-AF65-F5344CB8AC3E}">
        <p14:creationId xmlns:p14="http://schemas.microsoft.com/office/powerpoint/2010/main" val="364771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9B3AF1C7-D181-309A-35AE-FDECDEE2652F}"/>
              </a:ext>
            </a:extLst>
          </p:cNvPr>
          <p:cNvSpPr/>
          <p:nvPr/>
        </p:nvSpPr>
        <p:spPr>
          <a:xfrm>
            <a:off x="86316" y="5548812"/>
            <a:ext cx="12105684" cy="11758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6BEC75-7976-CA50-5177-C4C943DDE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01864"/>
              </p:ext>
            </p:extLst>
          </p:nvPr>
        </p:nvGraphicFramePr>
        <p:xfrm>
          <a:off x="4887020" y="542126"/>
          <a:ext cx="6062631" cy="4872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760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1213690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1280729">
                  <a:extLst>
                    <a:ext uri="{9D8B030D-6E8A-4147-A177-3AD203B41FA5}">
                      <a16:colId xmlns:a16="http://schemas.microsoft.com/office/drawing/2014/main" val="1962881342"/>
                    </a:ext>
                  </a:extLst>
                </a:gridCol>
                <a:gridCol w="1280729">
                  <a:extLst>
                    <a:ext uri="{9D8B030D-6E8A-4147-A177-3AD203B41FA5}">
                      <a16:colId xmlns:a16="http://schemas.microsoft.com/office/drawing/2014/main" val="963310050"/>
                    </a:ext>
                  </a:extLst>
                </a:gridCol>
                <a:gridCol w="1390723">
                  <a:extLst>
                    <a:ext uri="{9D8B030D-6E8A-4147-A177-3AD203B41FA5}">
                      <a16:colId xmlns:a16="http://schemas.microsoft.com/office/drawing/2014/main" val="2255952462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205592">
                <a:tc>
                  <a:txBody>
                    <a:bodyPr/>
                    <a:lstStyle/>
                    <a:p>
                      <a:r>
                        <a:rPr lang="fr-FR" sz="14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4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30m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r>
                        <a:rPr lang="fr-FR" sz="1400" dirty="0"/>
                        <a:t>IPD*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5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r>
                        <a:rPr lang="fr-FR" sz="1400" dirty="0"/>
                        <a:t>IPD*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7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r>
                        <a:rPr lang="fr-FR" sz="1400" dirty="0"/>
                        <a:t>IPD*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306673">
                <a:tc>
                  <a:txBody>
                    <a:bodyPr/>
                    <a:lstStyle/>
                    <a:p>
                      <a:r>
                        <a:rPr lang="fr-FR" sz="14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25m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25m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6</a:t>
                      </a:r>
                    </a:p>
                    <a:p>
                      <a:pPr algn="ctr"/>
                      <a:r>
                        <a:rPr lang="fr-FR" sz="1400" dirty="0"/>
                        <a:t>25m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8</a:t>
                      </a:r>
                    </a:p>
                    <a:p>
                      <a:pPr algn="ctr"/>
                      <a:r>
                        <a:rPr lang="fr-FR" sz="1400" dirty="0"/>
                        <a:t>25m</a:t>
                      </a:r>
                    </a:p>
                    <a:p>
                      <a:r>
                        <a:rPr lang="fr-FR" sz="1400" dirty="0"/>
                        <a:t>Signes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4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400" dirty="0"/>
                        <a:t>19h30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39430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C765FC61-7805-1555-464F-BDDAD7899719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Séjour </a:t>
            </a:r>
            <a:r>
              <a:rPr lang="fr-FR" dirty="0" err="1"/>
              <a:t>Prepa</a:t>
            </a:r>
            <a:r>
              <a:rPr lang="fr-FR" dirty="0"/>
              <a:t> N3 – 4 jours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5FF7943-9C2A-A3DE-2EDE-868716356F2F}"/>
              </a:ext>
            </a:extLst>
          </p:cNvPr>
          <p:cNvSpPr/>
          <p:nvPr/>
        </p:nvSpPr>
        <p:spPr>
          <a:xfrm>
            <a:off x="5773963" y="5587961"/>
            <a:ext cx="1189878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Samedi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B0DF581-00C1-39B3-DD3A-0F45844538FC}"/>
              </a:ext>
            </a:extLst>
          </p:cNvPr>
          <p:cNvSpPr/>
          <p:nvPr/>
        </p:nvSpPr>
        <p:spPr>
          <a:xfrm>
            <a:off x="7036982" y="5587960"/>
            <a:ext cx="1219866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Dimanche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E1A7136-8358-AF2B-3913-33AD8922E999}"/>
              </a:ext>
            </a:extLst>
          </p:cNvPr>
          <p:cNvSpPr/>
          <p:nvPr/>
        </p:nvSpPr>
        <p:spPr>
          <a:xfrm>
            <a:off x="4321549" y="5587961"/>
            <a:ext cx="1385598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Vendredi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B8163C1-AC64-FD45-2787-E44C668339B0}"/>
              </a:ext>
            </a:extLst>
          </p:cNvPr>
          <p:cNvSpPr/>
          <p:nvPr/>
        </p:nvSpPr>
        <p:spPr>
          <a:xfrm>
            <a:off x="11042248" y="5599788"/>
            <a:ext cx="101222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Mercredi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41306A0-9D88-3ADF-E9F1-34473D4012E5}"/>
              </a:ext>
            </a:extLst>
          </p:cNvPr>
          <p:cNvSpPr/>
          <p:nvPr/>
        </p:nvSpPr>
        <p:spPr>
          <a:xfrm>
            <a:off x="2356619" y="5599789"/>
            <a:ext cx="1243103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2EBDF4-907B-D046-9744-6618641AD848}"/>
              </a:ext>
            </a:extLst>
          </p:cNvPr>
          <p:cNvSpPr txBox="1"/>
          <p:nvPr/>
        </p:nvSpPr>
        <p:spPr>
          <a:xfrm>
            <a:off x="10979427" y="5946459"/>
            <a:ext cx="114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Retour TGV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F57FCA-E7A8-80B8-3FA0-CC73166A4361}"/>
              </a:ext>
            </a:extLst>
          </p:cNvPr>
          <p:cNvSpPr txBox="1"/>
          <p:nvPr/>
        </p:nvSpPr>
        <p:spPr>
          <a:xfrm>
            <a:off x="2356619" y="5939033"/>
            <a:ext cx="124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Présentation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1BB025-A6C2-32ED-2A5D-4F61C67175CB}"/>
              </a:ext>
            </a:extLst>
          </p:cNvPr>
          <p:cNvSpPr txBox="1"/>
          <p:nvPr/>
        </p:nvSpPr>
        <p:spPr>
          <a:xfrm>
            <a:off x="4242220" y="5893626"/>
            <a:ext cx="1464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Aller TGV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Matérie</a:t>
            </a:r>
            <a:r>
              <a:rPr lang="fr-FR" sz="1600" dirty="0"/>
              <a:t>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9889DB8-670D-C19B-3EA4-013067926A0A}"/>
              </a:ext>
            </a:extLst>
          </p:cNvPr>
          <p:cNvSpPr txBox="1"/>
          <p:nvPr/>
        </p:nvSpPr>
        <p:spPr>
          <a:xfrm>
            <a:off x="3576342" y="5040981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168CAF-404D-CBFF-D881-087C9B739723}"/>
              </a:ext>
            </a:extLst>
          </p:cNvPr>
          <p:cNvSpPr txBox="1"/>
          <p:nvPr/>
        </p:nvSpPr>
        <p:spPr>
          <a:xfrm>
            <a:off x="1611421" y="5040981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3542BCF-A246-97D3-FD8D-A2422C256C17}"/>
              </a:ext>
            </a:extLst>
          </p:cNvPr>
          <p:cNvSpPr/>
          <p:nvPr/>
        </p:nvSpPr>
        <p:spPr>
          <a:xfrm>
            <a:off x="137523" y="5587961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mois plutôt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5E5310C-3606-AA24-1993-E4E363DAD6FC}"/>
              </a:ext>
            </a:extLst>
          </p:cNvPr>
          <p:cNvSpPr txBox="1"/>
          <p:nvPr/>
        </p:nvSpPr>
        <p:spPr>
          <a:xfrm>
            <a:off x="126422" y="5949579"/>
            <a:ext cx="150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Administratif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A64DCE1-A0C7-1783-7CD7-95E9A1C1B68E}"/>
              </a:ext>
            </a:extLst>
          </p:cNvPr>
          <p:cNvSpPr txBox="1"/>
          <p:nvPr/>
        </p:nvSpPr>
        <p:spPr>
          <a:xfrm>
            <a:off x="126422" y="1562155"/>
            <a:ext cx="2585067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4 N3 - 8 fosses à 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2 E3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5A4B6F3-41BB-A894-E8B2-E84B75E6E51F}"/>
              </a:ext>
            </a:extLst>
          </p:cNvPr>
          <p:cNvSpPr txBox="1"/>
          <p:nvPr/>
        </p:nvSpPr>
        <p:spPr>
          <a:xfrm>
            <a:off x="137518" y="2393809"/>
            <a:ext cx="2585067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Logement (mentionné,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Hôtel,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5 min bateau / club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Repas: hôtel</a:t>
            </a:r>
          </a:p>
          <a:p>
            <a:r>
              <a:rPr lang="fr-FR" sz="1600" b="1" dirty="0"/>
              <a:t>Le jour de l’arrivée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Récupérer le matériel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Découverte de la combi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Fonctionnement du club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AE5CEE3-9B9A-9679-7056-EFA47DBE7852}"/>
              </a:ext>
            </a:extLst>
          </p:cNvPr>
          <p:cNvSpPr txBox="1"/>
          <p:nvPr/>
        </p:nvSpPr>
        <p:spPr>
          <a:xfrm>
            <a:off x="2813883" y="1578201"/>
            <a:ext cx="1966214" cy="25237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Signes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Panne d’air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Narcosse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Crampe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Malaise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Essouflement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Froid</a:t>
            </a:r>
          </a:p>
          <a:p>
            <a:r>
              <a:rPr lang="fr-FR" sz="1600" b="1" dirty="0"/>
              <a:t>Attendus sur signe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Réaction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Conduite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Automatisme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87DC8E2-3397-58C9-DE72-9AFC1C2D5D55}"/>
              </a:ext>
            </a:extLst>
          </p:cNvPr>
          <p:cNvSpPr/>
          <p:nvPr/>
        </p:nvSpPr>
        <p:spPr>
          <a:xfrm>
            <a:off x="8312132" y="5589885"/>
            <a:ext cx="1219866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CC10727-A166-1D27-B895-4B57493307D5}"/>
              </a:ext>
            </a:extLst>
          </p:cNvPr>
          <p:cNvSpPr/>
          <p:nvPr/>
        </p:nvSpPr>
        <p:spPr>
          <a:xfrm>
            <a:off x="9610418" y="5591810"/>
            <a:ext cx="1311133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Mardi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8093F4F-BC58-E464-97FE-424907A26DCE}"/>
              </a:ext>
            </a:extLst>
          </p:cNvPr>
          <p:cNvCxnSpPr/>
          <p:nvPr/>
        </p:nvCxnSpPr>
        <p:spPr>
          <a:xfrm>
            <a:off x="6817489" y="1226916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62E9D7C-3533-690E-A3FE-7B7CA9F9C706}"/>
              </a:ext>
            </a:extLst>
          </p:cNvPr>
          <p:cNvCxnSpPr/>
          <p:nvPr/>
        </p:nvCxnSpPr>
        <p:spPr>
          <a:xfrm>
            <a:off x="6817489" y="3115519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C97665DC-CEFD-5F54-116F-A3D8AAA60996}"/>
              </a:ext>
            </a:extLst>
          </p:cNvPr>
          <p:cNvCxnSpPr/>
          <p:nvPr/>
        </p:nvCxnSpPr>
        <p:spPr>
          <a:xfrm>
            <a:off x="6817489" y="4853651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91B2144-67DC-18F1-58F7-26B2914BF8CF}"/>
              </a:ext>
            </a:extLst>
          </p:cNvPr>
          <p:cNvCxnSpPr/>
          <p:nvPr/>
        </p:nvCxnSpPr>
        <p:spPr>
          <a:xfrm>
            <a:off x="6817489" y="5225970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04780F7A-79D6-D23B-8E32-FB57FF0BE7F5}"/>
              </a:ext>
            </a:extLst>
          </p:cNvPr>
          <p:cNvSpPr txBox="1"/>
          <p:nvPr/>
        </p:nvSpPr>
        <p:spPr>
          <a:xfrm>
            <a:off x="2821693" y="4890163"/>
            <a:ext cx="195059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Rappels</a:t>
            </a:r>
          </a:p>
          <a:p>
            <a:r>
              <a:rPr lang="fr-FR" sz="1600" dirty="0"/>
              <a:t>80m max / plongée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57D2B9A-5D0F-2399-8B64-92CCCEEB5F5E}"/>
              </a:ext>
            </a:extLst>
          </p:cNvPr>
          <p:cNvSpPr txBox="1"/>
          <p:nvPr/>
        </p:nvSpPr>
        <p:spPr>
          <a:xfrm>
            <a:off x="137518" y="599468"/>
            <a:ext cx="46121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22 – </a:t>
            </a: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Stage de formation et validation</a:t>
            </a:r>
            <a:endParaRPr lang="fr-FR" sz="1400" b="1" dirty="0"/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d'organiser un stage de 4 jours en mer pour 4 prépas N3 ayant pour thème "l'adaptation à la profondeur" </a:t>
            </a:r>
            <a:endParaRPr lang="fr-FR" sz="14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35B920D-2DEA-B8A9-ACE1-F9D490621C8B}"/>
              </a:ext>
            </a:extLst>
          </p:cNvPr>
          <p:cNvSpPr txBox="1"/>
          <p:nvPr/>
        </p:nvSpPr>
        <p:spPr>
          <a:xfrm>
            <a:off x="1003741" y="6339800"/>
            <a:ext cx="31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>
                <a:solidFill>
                  <a:schemeClr val="bg1">
                    <a:lumMod val="50000"/>
                  </a:schemeClr>
                </a:solidFill>
              </a:rPr>
              <a:t>Support interne, pas dessiné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B5A65E7-9318-8C39-23EC-C46A13BAE235}"/>
              </a:ext>
            </a:extLst>
          </p:cNvPr>
          <p:cNvSpPr txBox="1"/>
          <p:nvPr/>
        </p:nvSpPr>
        <p:spPr>
          <a:xfrm>
            <a:off x="2821693" y="4202290"/>
            <a:ext cx="195059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IPD</a:t>
            </a:r>
          </a:p>
          <a:p>
            <a:r>
              <a:rPr lang="fr-FR" sz="1600" dirty="0"/>
              <a:t>Démarrage 40-30m</a:t>
            </a:r>
          </a:p>
        </p:txBody>
      </p:sp>
    </p:spTree>
    <p:extLst>
      <p:ext uri="{BB962C8B-B14F-4D97-AF65-F5344CB8AC3E}">
        <p14:creationId xmlns:p14="http://schemas.microsoft.com/office/powerpoint/2010/main" val="60435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7A39-DD95-E552-3E3E-A076B04C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C7E04BC-EC17-2F4B-3CB7-F898D9A6B452}"/>
              </a:ext>
            </a:extLst>
          </p:cNvPr>
          <p:cNvSpPr/>
          <p:nvPr/>
        </p:nvSpPr>
        <p:spPr>
          <a:xfrm>
            <a:off x="86316" y="5548812"/>
            <a:ext cx="12105684" cy="11758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8EFE8C1-C1BC-8AA6-E781-2DCE2E3B7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7739"/>
              </p:ext>
            </p:extLst>
          </p:nvPr>
        </p:nvGraphicFramePr>
        <p:xfrm>
          <a:off x="4887019" y="412654"/>
          <a:ext cx="6092407" cy="48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421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1768558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1699328">
                  <a:extLst>
                    <a:ext uri="{9D8B030D-6E8A-4147-A177-3AD203B41FA5}">
                      <a16:colId xmlns:a16="http://schemas.microsoft.com/office/drawing/2014/main" val="1962881342"/>
                    </a:ext>
                  </a:extLst>
                </a:gridCol>
                <a:gridCol w="1455100">
                  <a:extLst>
                    <a:ext uri="{9D8B030D-6E8A-4147-A177-3AD203B41FA5}">
                      <a16:colId xmlns:a16="http://schemas.microsoft.com/office/drawing/2014/main" val="963310050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205592">
                <a:tc>
                  <a:txBody>
                    <a:bodyPr/>
                    <a:lstStyle/>
                    <a:p>
                      <a:r>
                        <a:rPr lang="fr-FR" sz="14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4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15m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/>
                        <a:t>Descente</a:t>
                      </a:r>
                    </a:p>
                    <a:p>
                      <a:r>
                        <a:rPr lang="fr-FR" sz="1400" dirty="0"/>
                        <a:t>Propulsion</a:t>
                      </a:r>
                    </a:p>
                    <a:p>
                      <a:r>
                        <a:rPr lang="fr-FR" sz="1400" dirty="0"/>
                        <a:t>Remontée</a:t>
                      </a:r>
                    </a:p>
                    <a:p>
                      <a:r>
                        <a:rPr lang="fr-FR" sz="1400" dirty="0"/>
                        <a:t>VDM</a:t>
                      </a:r>
                    </a:p>
                    <a:p>
                      <a:r>
                        <a:rPr lang="fr-FR" sz="1400" dirty="0"/>
                        <a:t>Lâcher / reprise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18m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B.C</a:t>
                      </a:r>
                    </a:p>
                    <a:p>
                      <a:r>
                        <a:rPr lang="fr-FR" sz="1400" dirty="0"/>
                        <a:t>Réaction signes</a:t>
                      </a:r>
                    </a:p>
                    <a:p>
                      <a:r>
                        <a:rPr lang="fr-FR" sz="1400" dirty="0"/>
                        <a:t>Intervention relais</a:t>
                      </a:r>
                    </a:p>
                    <a:p>
                      <a:r>
                        <a:rPr lang="fr-FR" sz="1400" dirty="0"/>
                        <a:t>Parachute / P.S.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5</a:t>
                      </a:r>
                    </a:p>
                    <a:p>
                      <a:pPr algn="ctr"/>
                      <a:r>
                        <a:rPr lang="fr-FR" sz="1400" dirty="0"/>
                        <a:t>40m</a:t>
                      </a:r>
                    </a:p>
                    <a:p>
                      <a:r>
                        <a:rPr lang="fr-FR" sz="1400" dirty="0"/>
                        <a:t>Exploration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306673">
                <a:tc>
                  <a:txBody>
                    <a:bodyPr/>
                    <a:lstStyle/>
                    <a:p>
                      <a:r>
                        <a:rPr lang="fr-FR" sz="14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12m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B.C</a:t>
                      </a:r>
                    </a:p>
                    <a:p>
                      <a:r>
                        <a:rPr lang="fr-FR" sz="1400" dirty="0"/>
                        <a:t>Lestage (ajuste.)</a:t>
                      </a:r>
                    </a:p>
                    <a:p>
                      <a:r>
                        <a:rPr lang="fr-FR" sz="1400" dirty="0"/>
                        <a:t>REC</a:t>
                      </a:r>
                    </a:p>
                    <a:p>
                      <a:r>
                        <a:rPr lang="fr-FR" sz="1400" dirty="0"/>
                        <a:t>Parachute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15m</a:t>
                      </a:r>
                    </a:p>
                    <a:p>
                      <a:r>
                        <a:rPr lang="fr-F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B.C.</a:t>
                      </a:r>
                    </a:p>
                    <a:p>
                      <a:r>
                        <a:rPr lang="fr-FR" sz="1400" dirty="0"/>
                        <a:t>Réaction signes</a:t>
                      </a:r>
                    </a:p>
                    <a:p>
                      <a:r>
                        <a:rPr lang="fr-FR" sz="1400" dirty="0"/>
                        <a:t>Intervention relais</a:t>
                      </a:r>
                    </a:p>
                    <a:p>
                      <a:r>
                        <a:rPr lang="fr-FR" sz="1400" dirty="0"/>
                        <a:t>Parachute / P.S.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Plongée 6</a:t>
                      </a:r>
                    </a:p>
                    <a:p>
                      <a:pPr algn="ctr"/>
                      <a:r>
                        <a:rPr lang="fr-FR" sz="1400" dirty="0"/>
                        <a:t>35m</a:t>
                      </a:r>
                    </a:p>
                    <a:p>
                      <a:r>
                        <a:rPr lang="fr-FR" sz="1400" dirty="0"/>
                        <a:t>Exploration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4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400" dirty="0"/>
                        <a:t>19h30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39430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20F484DC-8351-1D44-FE08-99812E2A6D5D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Séjour Pratique PE40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BA0C3AE-415A-0768-6FC6-4FBC46A5E01A}"/>
              </a:ext>
            </a:extLst>
          </p:cNvPr>
          <p:cNvSpPr/>
          <p:nvPr/>
        </p:nvSpPr>
        <p:spPr>
          <a:xfrm>
            <a:off x="6095999" y="5586610"/>
            <a:ext cx="1688257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Samedi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352A361-7385-D7D7-B0EA-B2952E24A58E}"/>
              </a:ext>
            </a:extLst>
          </p:cNvPr>
          <p:cNvSpPr/>
          <p:nvPr/>
        </p:nvSpPr>
        <p:spPr>
          <a:xfrm>
            <a:off x="7825055" y="5583985"/>
            <a:ext cx="1693092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Dimanche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812B528-66A1-74B5-AA2E-E3B2EA5ACF1D}"/>
              </a:ext>
            </a:extLst>
          </p:cNvPr>
          <p:cNvSpPr/>
          <p:nvPr/>
        </p:nvSpPr>
        <p:spPr>
          <a:xfrm>
            <a:off x="4344920" y="5586610"/>
            <a:ext cx="1688258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Vendredi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504032C-5D35-33AA-2D26-2A72421C87A9}"/>
              </a:ext>
            </a:extLst>
          </p:cNvPr>
          <p:cNvSpPr/>
          <p:nvPr/>
        </p:nvSpPr>
        <p:spPr>
          <a:xfrm>
            <a:off x="11042248" y="5599788"/>
            <a:ext cx="101222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Mardi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1138161-A82D-E695-17FF-A5A69C69C0C2}"/>
              </a:ext>
            </a:extLst>
          </p:cNvPr>
          <p:cNvSpPr/>
          <p:nvPr/>
        </p:nvSpPr>
        <p:spPr>
          <a:xfrm>
            <a:off x="2356619" y="5599789"/>
            <a:ext cx="1243103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9A41654-496A-6F65-DE21-7B71EC24D02D}"/>
              </a:ext>
            </a:extLst>
          </p:cNvPr>
          <p:cNvSpPr txBox="1"/>
          <p:nvPr/>
        </p:nvSpPr>
        <p:spPr>
          <a:xfrm>
            <a:off x="10979426" y="5951512"/>
            <a:ext cx="114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Retour TGV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C46FF1-029A-D6BB-1D9C-5343FFC4524C}"/>
              </a:ext>
            </a:extLst>
          </p:cNvPr>
          <p:cNvSpPr txBox="1"/>
          <p:nvPr/>
        </p:nvSpPr>
        <p:spPr>
          <a:xfrm>
            <a:off x="2356619" y="5939033"/>
            <a:ext cx="124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Présentation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DCFF746-0CA8-14AF-D00E-AAE35B6060B3}"/>
              </a:ext>
            </a:extLst>
          </p:cNvPr>
          <p:cNvSpPr txBox="1"/>
          <p:nvPr/>
        </p:nvSpPr>
        <p:spPr>
          <a:xfrm>
            <a:off x="4242220" y="5893626"/>
            <a:ext cx="1464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Aller TGV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Matérie</a:t>
            </a:r>
            <a:r>
              <a:rPr lang="fr-FR" sz="1600" dirty="0"/>
              <a:t>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F466CDC-ED8E-A5E9-F951-24178067CC7F}"/>
              </a:ext>
            </a:extLst>
          </p:cNvPr>
          <p:cNvSpPr txBox="1"/>
          <p:nvPr/>
        </p:nvSpPr>
        <p:spPr>
          <a:xfrm>
            <a:off x="3576342" y="5040981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D41943-9BD7-C5EA-9005-02156C89F499}"/>
              </a:ext>
            </a:extLst>
          </p:cNvPr>
          <p:cNvSpPr txBox="1"/>
          <p:nvPr/>
        </p:nvSpPr>
        <p:spPr>
          <a:xfrm>
            <a:off x="1611421" y="5040981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…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C4A5AFD-BB72-6182-49C1-B4E394DB4CD1}"/>
              </a:ext>
            </a:extLst>
          </p:cNvPr>
          <p:cNvSpPr/>
          <p:nvPr/>
        </p:nvSpPr>
        <p:spPr>
          <a:xfrm>
            <a:off x="137523" y="5587961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mois plutôt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8204DA-EBD5-E5E3-3326-168233724AC3}"/>
              </a:ext>
            </a:extLst>
          </p:cNvPr>
          <p:cNvSpPr txBox="1"/>
          <p:nvPr/>
        </p:nvSpPr>
        <p:spPr>
          <a:xfrm>
            <a:off x="126422" y="5949579"/>
            <a:ext cx="150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Administratif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5450C37-EAE1-12F7-A0DB-83EA9D95E060}"/>
              </a:ext>
            </a:extLst>
          </p:cNvPr>
          <p:cNvSpPr txBox="1"/>
          <p:nvPr/>
        </p:nvSpPr>
        <p:spPr>
          <a:xfrm>
            <a:off x="126422" y="1562155"/>
            <a:ext cx="2585067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4 PE40 - 5 fosses à 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2 E3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E8ADC6C-3B5F-BEAD-4106-F5710BAD4B82}"/>
              </a:ext>
            </a:extLst>
          </p:cNvPr>
          <p:cNvSpPr txBox="1"/>
          <p:nvPr/>
        </p:nvSpPr>
        <p:spPr>
          <a:xfrm>
            <a:off x="137518" y="2393809"/>
            <a:ext cx="2585067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Logement (mentionné,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Hôtel,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5 min bateau / club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Repas: hôtel</a:t>
            </a:r>
          </a:p>
          <a:p>
            <a:r>
              <a:rPr lang="fr-FR" sz="1600" b="1" dirty="0"/>
              <a:t>Le jour de l’arrivée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Récupérer le matériel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Fonctionnement du club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FB85947-EFFE-5348-44A5-6CFA4BC28D15}"/>
              </a:ext>
            </a:extLst>
          </p:cNvPr>
          <p:cNvSpPr txBox="1"/>
          <p:nvPr/>
        </p:nvSpPr>
        <p:spPr>
          <a:xfrm>
            <a:off x="2813883" y="1578201"/>
            <a:ext cx="1966214" cy="7694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Paliers sécu (P.S.)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Vérifier stabilité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 err="1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5A128E0-1B99-57B1-5BC9-A58EB91A6AC3}"/>
              </a:ext>
            </a:extLst>
          </p:cNvPr>
          <p:cNvSpPr/>
          <p:nvPr/>
        </p:nvSpPr>
        <p:spPr>
          <a:xfrm>
            <a:off x="9580970" y="5588060"/>
            <a:ext cx="1398456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BB376ED-24C1-FEEB-4AB0-392061A3298A}"/>
              </a:ext>
            </a:extLst>
          </p:cNvPr>
          <p:cNvCxnSpPr>
            <a:cxnSpLocks/>
          </p:cNvCxnSpPr>
          <p:nvPr/>
        </p:nvCxnSpPr>
        <p:spPr>
          <a:xfrm>
            <a:off x="7337762" y="1040799"/>
            <a:ext cx="308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F1E3F9B-EB0B-34FB-3B55-3B76AAA0D0D0}"/>
              </a:ext>
            </a:extLst>
          </p:cNvPr>
          <p:cNvCxnSpPr/>
          <p:nvPr/>
        </p:nvCxnSpPr>
        <p:spPr>
          <a:xfrm>
            <a:off x="6796219" y="3147887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7302B14C-F4DA-B670-5EC7-45470F14C1A3}"/>
              </a:ext>
            </a:extLst>
          </p:cNvPr>
          <p:cNvCxnSpPr>
            <a:cxnSpLocks/>
          </p:cNvCxnSpPr>
          <p:nvPr/>
        </p:nvCxnSpPr>
        <p:spPr>
          <a:xfrm>
            <a:off x="7614605" y="4805099"/>
            <a:ext cx="2809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2E1F9088-9EA0-D28F-0872-05E2BB2190F9}"/>
              </a:ext>
            </a:extLst>
          </p:cNvPr>
          <p:cNvCxnSpPr/>
          <p:nvPr/>
        </p:nvCxnSpPr>
        <p:spPr>
          <a:xfrm>
            <a:off x="6796219" y="5128865"/>
            <a:ext cx="3483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85C4D167-A285-7640-8E17-7C15FCD406D5}"/>
              </a:ext>
            </a:extLst>
          </p:cNvPr>
          <p:cNvSpPr txBox="1"/>
          <p:nvPr/>
        </p:nvSpPr>
        <p:spPr>
          <a:xfrm>
            <a:off x="137518" y="599468"/>
            <a:ext cx="46121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</a:t>
            </a: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Stage de formation et validation</a:t>
            </a:r>
            <a:endParaRPr lang="fr-FR" sz="1400" b="1" dirty="0"/>
          </a:p>
          <a:p>
            <a:pPr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Vous êtes chargé d'organiser un stage pour la pratique du PE40</a:t>
            </a:r>
            <a:endParaRPr lang="fr-FR" sz="14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685129A-9785-0146-63F2-4CEB38E97C38}"/>
              </a:ext>
            </a:extLst>
          </p:cNvPr>
          <p:cNvSpPr txBox="1"/>
          <p:nvPr/>
        </p:nvSpPr>
        <p:spPr>
          <a:xfrm>
            <a:off x="1003741" y="6339800"/>
            <a:ext cx="31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>
                <a:solidFill>
                  <a:schemeClr val="bg1">
                    <a:lumMod val="50000"/>
                  </a:schemeClr>
                </a:solidFill>
              </a:rPr>
              <a:t>Support interne, pas dessiné</a:t>
            </a:r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C81B10EE-40FF-C788-DC2C-06DFB99AF9E8}"/>
              </a:ext>
            </a:extLst>
          </p:cNvPr>
          <p:cNvSpPr/>
          <p:nvPr/>
        </p:nvSpPr>
        <p:spPr>
          <a:xfrm>
            <a:off x="7014471" y="1877351"/>
            <a:ext cx="226577" cy="562097"/>
          </a:xfrm>
          <a:prstGeom prst="rightBrace">
            <a:avLst>
              <a:gd name="adj1" fmla="val 44697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C8B385E-FEB2-791B-948C-1D98481B8657}"/>
              </a:ext>
            </a:extLst>
          </p:cNvPr>
          <p:cNvSpPr txBox="1"/>
          <p:nvPr/>
        </p:nvSpPr>
        <p:spPr>
          <a:xfrm>
            <a:off x="7200777" y="1978310"/>
            <a:ext cx="53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B.C</a:t>
            </a:r>
          </a:p>
        </p:txBody>
      </p:sp>
    </p:spTree>
    <p:extLst>
      <p:ext uri="{BB962C8B-B14F-4D97-AF65-F5344CB8AC3E}">
        <p14:creationId xmlns:p14="http://schemas.microsoft.com/office/powerpoint/2010/main" val="2959698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ZoneTexte 51">
            <a:extLst>
              <a:ext uri="{FF2B5EF4-FFF2-40B4-BE49-F238E27FC236}">
                <a16:creationId xmlns:a16="http://schemas.microsoft.com/office/drawing/2014/main" id="{5D319035-D245-AE3E-BBE3-07A3B36737E7}"/>
              </a:ext>
            </a:extLst>
          </p:cNvPr>
          <p:cNvSpPr txBox="1"/>
          <p:nvPr/>
        </p:nvSpPr>
        <p:spPr>
          <a:xfrm>
            <a:off x="112046" y="1253545"/>
            <a:ext cx="6357875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Plongeurs club 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3ème plongée d’un séjour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Tous les plongeurs sont adultes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Club locale situé en bord de plage, assure surveillance de surface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8183247-EF90-1029-C6F4-9235A3D13085}"/>
              </a:ext>
            </a:extLst>
          </p:cNvPr>
          <p:cNvGrpSpPr/>
          <p:nvPr/>
        </p:nvGrpSpPr>
        <p:grpSpPr>
          <a:xfrm>
            <a:off x="6967242" y="234669"/>
            <a:ext cx="5081799" cy="6174224"/>
            <a:chOff x="6967242" y="234669"/>
            <a:chExt cx="5081799" cy="6174224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93D66914-65CD-743A-9BC2-A11E45CEAE8F}"/>
                </a:ext>
              </a:extLst>
            </p:cNvPr>
            <p:cNvSpPr/>
            <p:nvPr/>
          </p:nvSpPr>
          <p:spPr>
            <a:xfrm>
              <a:off x="6967242" y="833480"/>
              <a:ext cx="5081799" cy="557541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123F23-9D8E-80A6-4950-5837B87B0D10}"/>
                </a:ext>
              </a:extLst>
            </p:cNvPr>
            <p:cNvSpPr/>
            <p:nvPr/>
          </p:nvSpPr>
          <p:spPr>
            <a:xfrm>
              <a:off x="6967242" y="234669"/>
              <a:ext cx="5081799" cy="174788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" name="Rectangle : avec coins rognés en haut 23">
            <a:extLst>
              <a:ext uri="{FF2B5EF4-FFF2-40B4-BE49-F238E27FC236}">
                <a16:creationId xmlns:a16="http://schemas.microsoft.com/office/drawing/2014/main" id="{86373520-0F12-1777-6E36-FEE6E5559C8E}"/>
              </a:ext>
            </a:extLst>
          </p:cNvPr>
          <p:cNvSpPr/>
          <p:nvPr/>
        </p:nvSpPr>
        <p:spPr>
          <a:xfrm>
            <a:off x="7311154" y="1367554"/>
            <a:ext cx="4559862" cy="3468449"/>
          </a:xfrm>
          <a:prstGeom prst="snip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0F05A1-A8AA-E310-6B14-E53613DFCCB4}"/>
              </a:ext>
            </a:extLst>
          </p:cNvPr>
          <p:cNvSpPr txBox="1"/>
          <p:nvPr/>
        </p:nvSpPr>
        <p:spPr>
          <a:xfrm>
            <a:off x="0" y="58776"/>
            <a:ext cx="29542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2 – Sécurité site</a:t>
            </a:r>
          </a:p>
          <a:p>
            <a:pPr algn="just"/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Vous êtes chargé d'organiser la sécurité pour une sortie en mer au départ du bord, pour un groupe de plongeurs N1, N2 et N3. </a:t>
            </a:r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endParaRPr lang="fr-FR" sz="140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D35F9B2-2429-85F8-B08C-ABF6B7A49C5D}"/>
              </a:ext>
            </a:extLst>
          </p:cNvPr>
          <p:cNvCxnSpPr/>
          <p:nvPr/>
        </p:nvCxnSpPr>
        <p:spPr>
          <a:xfrm>
            <a:off x="7339476" y="1893536"/>
            <a:ext cx="44425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C043729F-944B-9418-BB0B-F820386E2D46}"/>
              </a:ext>
            </a:extLst>
          </p:cNvPr>
          <p:cNvSpPr/>
          <p:nvPr/>
        </p:nvSpPr>
        <p:spPr>
          <a:xfrm>
            <a:off x="7796676" y="4988740"/>
            <a:ext cx="3528128" cy="2840305"/>
          </a:xfrm>
          <a:prstGeom prst="arc">
            <a:avLst>
              <a:gd name="adj1" fmla="val 10844032"/>
              <a:gd name="adj2" fmla="val 10597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1B32F0B-E9AA-7679-0638-71DD35C3CF97}"/>
              </a:ext>
            </a:extLst>
          </p:cNvPr>
          <p:cNvSpPr/>
          <p:nvPr/>
        </p:nvSpPr>
        <p:spPr>
          <a:xfrm>
            <a:off x="7311154" y="3264126"/>
            <a:ext cx="4559862" cy="36606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D4E2E1-DDAF-9F3D-2C08-C222830725F0}"/>
              </a:ext>
            </a:extLst>
          </p:cNvPr>
          <p:cNvSpPr/>
          <p:nvPr/>
        </p:nvSpPr>
        <p:spPr>
          <a:xfrm>
            <a:off x="7622696" y="4836003"/>
            <a:ext cx="3762797" cy="157289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D8FD2B6-2CF1-1648-3AD8-B2BDDD566C28}"/>
              </a:ext>
            </a:extLst>
          </p:cNvPr>
          <p:cNvSpPr/>
          <p:nvPr/>
        </p:nvSpPr>
        <p:spPr>
          <a:xfrm>
            <a:off x="7622695" y="5178904"/>
            <a:ext cx="3762797" cy="229004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C73CF2E-FD96-DC19-BE50-E01A49774F4E}"/>
              </a:ext>
            </a:extLst>
          </p:cNvPr>
          <p:cNvSpPr/>
          <p:nvPr/>
        </p:nvSpPr>
        <p:spPr>
          <a:xfrm>
            <a:off x="8593742" y="6222777"/>
            <a:ext cx="436970" cy="3762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D223BDA-0A13-7BA8-6BA3-614D05F35D3D}"/>
              </a:ext>
            </a:extLst>
          </p:cNvPr>
          <p:cNvSpPr/>
          <p:nvPr/>
        </p:nvSpPr>
        <p:spPr>
          <a:xfrm>
            <a:off x="9959273" y="6247051"/>
            <a:ext cx="436970" cy="3762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335463-A81B-A385-998A-6216A4DBD024}"/>
              </a:ext>
            </a:extLst>
          </p:cNvPr>
          <p:cNvSpPr/>
          <p:nvPr/>
        </p:nvSpPr>
        <p:spPr>
          <a:xfrm>
            <a:off x="7311154" y="3340999"/>
            <a:ext cx="4559862" cy="24883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CA03044-4F78-EFFF-02F2-C36788BCF5D2}"/>
              </a:ext>
            </a:extLst>
          </p:cNvPr>
          <p:cNvSpPr txBox="1"/>
          <p:nvPr/>
        </p:nvSpPr>
        <p:spPr>
          <a:xfrm>
            <a:off x="9308106" y="284131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6m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502ED3-4F39-10A9-1FFB-6FB648818395}"/>
              </a:ext>
            </a:extLst>
          </p:cNvPr>
          <p:cNvSpPr txBox="1"/>
          <p:nvPr/>
        </p:nvSpPr>
        <p:spPr>
          <a:xfrm>
            <a:off x="9189744" y="433966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93D5A11-8231-52FF-3366-975BE4B298A5}"/>
              </a:ext>
            </a:extLst>
          </p:cNvPr>
          <p:cNvSpPr txBox="1"/>
          <p:nvPr/>
        </p:nvSpPr>
        <p:spPr>
          <a:xfrm>
            <a:off x="9184675" y="670816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40m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ED563A3-5E7E-E9D2-504E-7B97ABED7045}"/>
              </a:ext>
            </a:extLst>
          </p:cNvPr>
          <p:cNvSpPr txBox="1"/>
          <p:nvPr/>
        </p:nvSpPr>
        <p:spPr>
          <a:xfrm>
            <a:off x="7756361" y="4917870"/>
            <a:ext cx="105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Tombant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FF0E048-3094-EE0C-F40A-C34E6B462CFD}"/>
              </a:ext>
            </a:extLst>
          </p:cNvPr>
          <p:cNvSpPr txBox="1"/>
          <p:nvPr/>
        </p:nvSpPr>
        <p:spPr>
          <a:xfrm>
            <a:off x="7908761" y="3290030"/>
            <a:ext cx="105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Tombant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98908EE-D843-3875-7EA5-5D53C71B2BC4}"/>
              </a:ext>
            </a:extLst>
          </p:cNvPr>
          <p:cNvSpPr txBox="1"/>
          <p:nvPr/>
        </p:nvSpPr>
        <p:spPr>
          <a:xfrm>
            <a:off x="9308106" y="1447836"/>
            <a:ext cx="83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Plage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D2505E-685B-B95B-B5CB-5535B30EF1B8}"/>
              </a:ext>
            </a:extLst>
          </p:cNvPr>
          <p:cNvSpPr/>
          <p:nvPr/>
        </p:nvSpPr>
        <p:spPr>
          <a:xfrm>
            <a:off x="6009312" y="1140148"/>
            <a:ext cx="962108" cy="85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3CE0AB9-D81F-5EC9-A935-AC6FF55B1A90}"/>
              </a:ext>
            </a:extLst>
          </p:cNvPr>
          <p:cNvGrpSpPr/>
          <p:nvPr/>
        </p:nvGrpSpPr>
        <p:grpSpPr>
          <a:xfrm>
            <a:off x="6485601" y="69642"/>
            <a:ext cx="431988" cy="490419"/>
            <a:chOff x="7251700" y="4230806"/>
            <a:chExt cx="431988" cy="490419"/>
          </a:xfrm>
        </p:grpSpPr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4B24AB32-A695-3648-D64F-BFA0FF2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7251700" y="4230806"/>
              <a:ext cx="0" cy="490419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EB56399-25AB-016A-0CE7-DA169444EFC3}"/>
                </a:ext>
              </a:extLst>
            </p:cNvPr>
            <p:cNvSpPr/>
            <p:nvPr/>
          </p:nvSpPr>
          <p:spPr>
            <a:xfrm>
              <a:off x="7458074" y="4230806"/>
              <a:ext cx="98235" cy="20926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Triangle rectangle 37">
              <a:extLst>
                <a:ext uri="{FF2B5EF4-FFF2-40B4-BE49-F238E27FC236}">
                  <a16:creationId xmlns:a16="http://schemas.microsoft.com/office/drawing/2014/main" id="{F60F195F-4062-831D-F84D-1105884F8785}"/>
                </a:ext>
              </a:extLst>
            </p:cNvPr>
            <p:cNvSpPr/>
            <p:nvPr/>
          </p:nvSpPr>
          <p:spPr>
            <a:xfrm rot="5400000">
              <a:off x="7565288" y="4221828"/>
              <a:ext cx="10942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C81066-AFC4-77FD-FB05-E01D2DD2B54A}"/>
                </a:ext>
              </a:extLst>
            </p:cNvPr>
            <p:cNvSpPr/>
            <p:nvPr/>
          </p:nvSpPr>
          <p:spPr>
            <a:xfrm>
              <a:off x="7251700" y="4230806"/>
              <a:ext cx="206374" cy="209266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Triangle rectangle 39">
              <a:extLst>
                <a:ext uri="{FF2B5EF4-FFF2-40B4-BE49-F238E27FC236}">
                  <a16:creationId xmlns:a16="http://schemas.microsoft.com/office/drawing/2014/main" id="{FE96F640-DB69-2419-7276-39BAC909D3C4}"/>
                </a:ext>
              </a:extLst>
            </p:cNvPr>
            <p:cNvSpPr/>
            <p:nvPr/>
          </p:nvSpPr>
          <p:spPr>
            <a:xfrm rot="5400000" flipH="1">
              <a:off x="7573963" y="4330347"/>
              <a:ext cx="9207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3CB53F9-29D9-7832-10F1-22EDB4AEFEBB}"/>
              </a:ext>
            </a:extLst>
          </p:cNvPr>
          <p:cNvSpPr/>
          <p:nvPr/>
        </p:nvSpPr>
        <p:spPr>
          <a:xfrm>
            <a:off x="6088085" y="1245813"/>
            <a:ext cx="202557" cy="6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13C21EE0-9C08-204D-3CDF-62B21B83E4AC}"/>
              </a:ext>
            </a:extLst>
          </p:cNvPr>
          <p:cNvSpPr/>
          <p:nvPr/>
        </p:nvSpPr>
        <p:spPr>
          <a:xfrm>
            <a:off x="6005136" y="534206"/>
            <a:ext cx="962106" cy="605942"/>
          </a:xfrm>
          <a:prstGeom prst="triangle">
            <a:avLst>
              <a:gd name="adj" fmla="val 4917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Plus 42">
            <a:extLst>
              <a:ext uri="{FF2B5EF4-FFF2-40B4-BE49-F238E27FC236}">
                <a16:creationId xmlns:a16="http://schemas.microsoft.com/office/drawing/2014/main" id="{CD728497-1C50-3A1E-A821-E00A3EAEC653}"/>
              </a:ext>
            </a:extLst>
          </p:cNvPr>
          <p:cNvSpPr/>
          <p:nvPr/>
        </p:nvSpPr>
        <p:spPr>
          <a:xfrm flipV="1">
            <a:off x="6522585" y="1597193"/>
            <a:ext cx="418193" cy="388356"/>
          </a:xfrm>
          <a:prstGeom prst="mathPlu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36C023-0E60-C73B-B65C-DE43151DA275}"/>
              </a:ext>
            </a:extLst>
          </p:cNvPr>
          <p:cNvSpPr/>
          <p:nvPr/>
        </p:nvSpPr>
        <p:spPr>
          <a:xfrm>
            <a:off x="7796676" y="1208757"/>
            <a:ext cx="288881" cy="4056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B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S</a:t>
            </a:r>
          </a:p>
        </p:txBody>
      </p:sp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B8BF7FEE-40D6-6B13-6EED-F6DF37BCC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50247"/>
              </p:ext>
            </p:extLst>
          </p:nvPr>
        </p:nvGraphicFramePr>
        <p:xfrm>
          <a:off x="645824" y="4751547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sp>
        <p:nvSpPr>
          <p:cNvPr id="46" name="ZoneTexte 45">
            <a:extLst>
              <a:ext uri="{FF2B5EF4-FFF2-40B4-BE49-F238E27FC236}">
                <a16:creationId xmlns:a16="http://schemas.microsoft.com/office/drawing/2014/main" id="{9E475E07-8BB0-9B1B-27D5-A69213C7C545}"/>
              </a:ext>
            </a:extLst>
          </p:cNvPr>
          <p:cNvSpPr txBox="1"/>
          <p:nvPr/>
        </p:nvSpPr>
        <p:spPr>
          <a:xfrm>
            <a:off x="-26227" y="4751547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7" name="Étoile à 12 branches 46">
            <a:extLst>
              <a:ext uri="{FF2B5EF4-FFF2-40B4-BE49-F238E27FC236}">
                <a16:creationId xmlns:a16="http://schemas.microsoft.com/office/drawing/2014/main" id="{3C407A0E-5437-77FE-F9D4-04B8F810A626}"/>
              </a:ext>
            </a:extLst>
          </p:cNvPr>
          <p:cNvSpPr/>
          <p:nvPr/>
        </p:nvSpPr>
        <p:spPr>
          <a:xfrm>
            <a:off x="5100361" y="105942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5886410E-C9ED-81DA-D706-C47FD7E85921}"/>
              </a:ext>
            </a:extLst>
          </p:cNvPr>
          <p:cNvGrpSpPr/>
          <p:nvPr/>
        </p:nvGrpSpPr>
        <p:grpSpPr>
          <a:xfrm>
            <a:off x="7785024" y="2233424"/>
            <a:ext cx="951832" cy="856700"/>
            <a:chOff x="8080408" y="3429000"/>
            <a:chExt cx="951832" cy="856700"/>
          </a:xfrm>
        </p:grpSpPr>
        <p:sp>
          <p:nvSpPr>
            <p:cNvPr id="49" name="Forme libre 48">
              <a:extLst>
                <a:ext uri="{FF2B5EF4-FFF2-40B4-BE49-F238E27FC236}">
                  <a16:creationId xmlns:a16="http://schemas.microsoft.com/office/drawing/2014/main" id="{CBD64CF7-4DE6-20C7-258F-59E2CFD6DFB6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682688FC-24D7-80EF-E9E1-949A90DFF993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28B6518D-392B-3F5C-5A4C-715746CB2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6BA1BCE6-37FA-FD6D-8B69-E91F732E9BA4}"/>
              </a:ext>
            </a:extLst>
          </p:cNvPr>
          <p:cNvGrpSpPr/>
          <p:nvPr/>
        </p:nvGrpSpPr>
        <p:grpSpPr>
          <a:xfrm>
            <a:off x="8177253" y="130046"/>
            <a:ext cx="326995" cy="624035"/>
            <a:chOff x="7848612" y="3775094"/>
            <a:chExt cx="326995" cy="624035"/>
          </a:xfrm>
        </p:grpSpPr>
        <p:sp>
          <p:nvSpPr>
            <p:cNvPr id="54" name="Émoticône 53">
              <a:extLst>
                <a:ext uri="{FF2B5EF4-FFF2-40B4-BE49-F238E27FC236}">
                  <a16:creationId xmlns:a16="http://schemas.microsoft.com/office/drawing/2014/main" id="{D9B68CAD-6EB3-1CD9-6FA2-DD45E07B7236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C34CABFE-0F71-F3D6-B082-FE545C37D551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E6231D8E-E8D4-D487-7FD1-FACA279A6CD8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EB5103C1-094A-D14C-DB96-B1D0BF656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12A593D9-738B-91F8-DADB-9581C2CB8896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E38DC4A7-8D5A-DCD8-BCD4-45E820607533}"/>
              </a:ext>
            </a:extLst>
          </p:cNvPr>
          <p:cNvSpPr txBox="1"/>
          <p:nvPr/>
        </p:nvSpPr>
        <p:spPr>
          <a:xfrm>
            <a:off x="112046" y="3512591"/>
            <a:ext cx="5146534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Rappels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Autonome: 1 parachute / plongeur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Procédure 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Critère de remontée selon groupe</a:t>
            </a:r>
          </a:p>
        </p:txBody>
      </p:sp>
      <p:sp>
        <p:nvSpPr>
          <p:cNvPr id="61" name="Explosion 1 60">
            <a:extLst>
              <a:ext uri="{FF2B5EF4-FFF2-40B4-BE49-F238E27FC236}">
                <a16:creationId xmlns:a16="http://schemas.microsoft.com/office/drawing/2014/main" id="{96EE7A86-88BB-326E-C48E-B0C37C613ED5}"/>
              </a:ext>
            </a:extLst>
          </p:cNvPr>
          <p:cNvSpPr/>
          <p:nvPr/>
        </p:nvSpPr>
        <p:spPr>
          <a:xfrm>
            <a:off x="8851494" y="-43590"/>
            <a:ext cx="3396455" cy="1186143"/>
          </a:xfrm>
          <a:prstGeom prst="irregularSeal1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Crypte des marches</a:t>
            </a:r>
          </a:p>
        </p:txBody>
      </p:sp>
    </p:spTree>
    <p:extLst>
      <p:ext uri="{BB962C8B-B14F-4D97-AF65-F5344CB8AC3E}">
        <p14:creationId xmlns:p14="http://schemas.microsoft.com/office/powerpoint/2010/main" val="308334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D390-6D5D-C825-AEA3-D6E347EF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F350A58-CE5C-BD6E-3BF1-B44EC4910E3B}"/>
              </a:ext>
            </a:extLst>
          </p:cNvPr>
          <p:cNvSpPr txBox="1"/>
          <p:nvPr/>
        </p:nvSpPr>
        <p:spPr>
          <a:xfrm>
            <a:off x="-1" y="58776"/>
            <a:ext cx="4644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6 – </a:t>
            </a:r>
            <a:r>
              <a:rPr lang="fr-FR" sz="1400" b="1" dirty="0">
                <a:solidFill>
                  <a:srgbClr val="3C4043"/>
                </a:solidFill>
                <a:latin typeface="Roboto" panose="020F0502020204030204" pitchFamily="34" charset="0"/>
              </a:rPr>
              <a:t>Organisation / sécurisation Atelier</a:t>
            </a:r>
            <a:b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</a:b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Vous êtes chargé d'organiser un atelier d'apnée en mer pour 5 prépas GP-N4 lors d'un stage de formation. </a:t>
            </a:r>
            <a:endParaRPr lang="fr-FR" sz="14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71CCB83-974A-A52C-268D-AC23D9D2CA10}"/>
              </a:ext>
            </a:extLst>
          </p:cNvPr>
          <p:cNvGrpSpPr/>
          <p:nvPr/>
        </p:nvGrpSpPr>
        <p:grpSpPr>
          <a:xfrm>
            <a:off x="3627670" y="2404505"/>
            <a:ext cx="3862000" cy="1036531"/>
            <a:chOff x="4600876" y="2392471"/>
            <a:chExt cx="3862000" cy="1036531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E809B037-EE73-43A9-5C1A-D90A7E5F8ABC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26A5FFE-50DC-99D1-06E6-D1A25B1DAC42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Triangle 28">
                <a:extLst>
                  <a:ext uri="{FF2B5EF4-FFF2-40B4-BE49-F238E27FC236}">
                    <a16:creationId xmlns:a16="http://schemas.microsoft.com/office/drawing/2014/main" id="{18E449C9-16A7-0DCA-C796-53EC943959BD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44DFB5C6-0E3D-8953-1DC6-C335088E29C2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181AF9-544D-D596-BBA8-E24E1BB5696F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A7351D9-0717-CB72-E849-1B3511ACAFFC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24C95DD-DF86-8D8E-0834-3A74F38453B6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5A0FE4F-8B7E-2994-CFD3-8DF54CCFD44E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E5537F-BEDC-1466-A1F7-59737302DCB2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64B962-C04C-CB90-00D8-8AD2B395942F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3357B343-D441-70AC-A4B7-28871CB7AAD6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0445F255-F0CB-73B2-2513-C66005F916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9629EE7-0B50-DCD7-F26D-41CD3E4E3AA9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Triangle rectangle 19">
                <a:extLst>
                  <a:ext uri="{FF2B5EF4-FFF2-40B4-BE49-F238E27FC236}">
                    <a16:creationId xmlns:a16="http://schemas.microsoft.com/office/drawing/2014/main" id="{8DB6432E-5BB8-3344-F9FC-CF44EBCB2B69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ED3E11-CB43-9E2D-4A59-2D7177121DD1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Triangle rectangle 21">
                <a:extLst>
                  <a:ext uri="{FF2B5EF4-FFF2-40B4-BE49-F238E27FC236}">
                    <a16:creationId xmlns:a16="http://schemas.microsoft.com/office/drawing/2014/main" id="{71766970-4C94-A1C1-23AE-6BA91225ADE5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3479DB-7A06-7471-2ADC-160A02B66463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CCD79D5-3CF4-DAEB-0C96-C483EB893386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921DFFF3-2129-80AB-4795-4A60A52B166D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Plus 10">
              <a:extLst>
                <a:ext uri="{FF2B5EF4-FFF2-40B4-BE49-F238E27FC236}">
                  <a16:creationId xmlns:a16="http://schemas.microsoft.com/office/drawing/2014/main" id="{8666154C-F2DE-EC63-A28E-EBE6D22A1EF5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3530EEC-A2E7-65E7-D4C9-D6526400D1C2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13" name="Émoticône 12">
                <a:extLst>
                  <a:ext uri="{FF2B5EF4-FFF2-40B4-BE49-F238E27FC236}">
                    <a16:creationId xmlns:a16="http://schemas.microsoft.com/office/drawing/2014/main" id="{8C5CE663-6044-6D8B-B614-0A96316857DB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A14E0218-E375-D3C5-594B-81966F660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CE7A1C71-5497-EE73-EB23-A72791C13104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82014195-FBBE-67C3-682F-A535FC520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6BC148C0-D3F9-5187-7466-9B61D5E17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Document 29">
            <a:extLst>
              <a:ext uri="{FF2B5EF4-FFF2-40B4-BE49-F238E27FC236}">
                <a16:creationId xmlns:a16="http://schemas.microsoft.com/office/drawing/2014/main" id="{4C9A4CE3-C2BD-113C-79AE-392EED819A54}"/>
              </a:ext>
            </a:extLst>
          </p:cNvPr>
          <p:cNvSpPr/>
          <p:nvPr/>
        </p:nvSpPr>
        <p:spPr>
          <a:xfrm rot="10800000">
            <a:off x="111760" y="6378197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951D0ED-6740-CFF1-BFA9-5B30C197E3C7}"/>
              </a:ext>
            </a:extLst>
          </p:cNvPr>
          <p:cNvCxnSpPr>
            <a:cxnSpLocks/>
          </p:cNvCxnSpPr>
          <p:nvPr/>
        </p:nvCxnSpPr>
        <p:spPr>
          <a:xfrm>
            <a:off x="430288" y="3432237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5E17548F-5F62-0FD3-0838-C4DBC67AB0C8}"/>
              </a:ext>
            </a:extLst>
          </p:cNvPr>
          <p:cNvSpPr/>
          <p:nvPr/>
        </p:nvSpPr>
        <p:spPr>
          <a:xfrm>
            <a:off x="2780353" y="3170954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C6ECA55-55DF-8EE0-502E-D41BD465B28E}"/>
              </a:ext>
            </a:extLst>
          </p:cNvPr>
          <p:cNvSpPr/>
          <p:nvPr/>
        </p:nvSpPr>
        <p:spPr>
          <a:xfrm>
            <a:off x="484507" y="3215284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5DCA272-094A-17EA-59CF-536AE31E4BDB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3024193" y="3640055"/>
            <a:ext cx="0" cy="2773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D7009BE-2D10-9A27-A3DC-E73A164F2EAF}"/>
              </a:ext>
            </a:extLst>
          </p:cNvPr>
          <p:cNvCxnSpPr>
            <a:cxnSpLocks/>
            <a:stCxn id="33" idx="4"/>
          </p:cNvCxnSpPr>
          <p:nvPr/>
        </p:nvCxnSpPr>
        <p:spPr>
          <a:xfrm flipH="1">
            <a:off x="714534" y="3684385"/>
            <a:ext cx="13813" cy="2693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226A2845-A436-008E-5A8B-C996E671BA67}"/>
              </a:ext>
            </a:extLst>
          </p:cNvPr>
          <p:cNvSpPr txBox="1"/>
          <p:nvPr/>
        </p:nvSpPr>
        <p:spPr>
          <a:xfrm>
            <a:off x="1296577" y="619269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10m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F7FD6E5-2892-649D-F349-E55D9E00A174}"/>
              </a:ext>
            </a:extLst>
          </p:cNvPr>
          <p:cNvGrpSpPr/>
          <p:nvPr/>
        </p:nvGrpSpPr>
        <p:grpSpPr>
          <a:xfrm>
            <a:off x="6537838" y="4073947"/>
            <a:ext cx="951832" cy="856700"/>
            <a:chOff x="8080408" y="3429000"/>
            <a:chExt cx="951832" cy="856700"/>
          </a:xfrm>
        </p:grpSpPr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26A30433-41F6-4C03-D0B7-F04BC2C70F8E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EDB4F056-F856-1DEE-A94A-BE4886F110C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FBC58004-B670-BD19-5A97-0C8BFA2C1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4D3B4E24-4414-02AF-CDA6-5133FB351953}"/>
              </a:ext>
            </a:extLst>
          </p:cNvPr>
          <p:cNvSpPr txBox="1"/>
          <p:nvPr/>
        </p:nvSpPr>
        <p:spPr>
          <a:xfrm>
            <a:off x="250431" y="862328"/>
            <a:ext cx="2400401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600" b="1" dirty="0"/>
              <a:t>Présents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5 Prépas GP-N4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E3,1 E2 </a:t>
            </a:r>
          </a:p>
          <a:p>
            <a:pPr algn="ctr"/>
            <a:r>
              <a:rPr lang="fr-FR" sz="1600" b="1" dirty="0"/>
              <a:t>Bouées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Jaune: Echauffement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Grise: Exercice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Marque à 3m sur bout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5E17A82D-3AEF-EFDF-3A75-B77B903552F2}"/>
              </a:ext>
            </a:extLst>
          </p:cNvPr>
          <p:cNvGrpSpPr/>
          <p:nvPr/>
        </p:nvGrpSpPr>
        <p:grpSpPr>
          <a:xfrm>
            <a:off x="1296577" y="3063619"/>
            <a:ext cx="326995" cy="624035"/>
            <a:chOff x="7848612" y="3775094"/>
            <a:chExt cx="326995" cy="624035"/>
          </a:xfrm>
        </p:grpSpPr>
        <p:sp>
          <p:nvSpPr>
            <p:cNvPr id="44" name="Émoticône 43">
              <a:extLst>
                <a:ext uri="{FF2B5EF4-FFF2-40B4-BE49-F238E27FC236}">
                  <a16:creationId xmlns:a16="http://schemas.microsoft.com/office/drawing/2014/main" id="{21FBBD5B-E2B4-9570-7A38-E6E44D608C2D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C9BFD34F-7BCC-599B-C9F9-2AC5A0FB570E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460F2624-4BEB-8650-A146-A855317E09E0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46">
              <a:extLst>
                <a:ext uri="{FF2B5EF4-FFF2-40B4-BE49-F238E27FC236}">
                  <a16:creationId xmlns:a16="http://schemas.microsoft.com/office/drawing/2014/main" id="{5A889553-4DE7-0DE9-4938-F7FFAA76A8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AC41EDBF-4F55-501E-8A79-1F87851F3DDE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0BE674EE-011F-82D3-77F6-FA89FCF89E15}"/>
              </a:ext>
            </a:extLst>
          </p:cNvPr>
          <p:cNvGrpSpPr/>
          <p:nvPr/>
        </p:nvGrpSpPr>
        <p:grpSpPr>
          <a:xfrm>
            <a:off x="359774" y="5985180"/>
            <a:ext cx="326995" cy="624035"/>
            <a:chOff x="7848612" y="3775094"/>
            <a:chExt cx="326995" cy="624035"/>
          </a:xfrm>
        </p:grpSpPr>
        <p:sp>
          <p:nvSpPr>
            <p:cNvPr id="50" name="Émoticône 49">
              <a:extLst>
                <a:ext uri="{FF2B5EF4-FFF2-40B4-BE49-F238E27FC236}">
                  <a16:creationId xmlns:a16="http://schemas.microsoft.com/office/drawing/2014/main" id="{030318E9-029B-D980-83EC-C8BA51B2F72A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907A77CC-6C33-8A02-0AA2-2553FAE3BA81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64FF925E-964F-7746-9699-75DFC113C3E1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eur droit 52">
              <a:extLst>
                <a:ext uri="{FF2B5EF4-FFF2-40B4-BE49-F238E27FC236}">
                  <a16:creationId xmlns:a16="http://schemas.microsoft.com/office/drawing/2014/main" id="{25D98CD9-0B8D-5BC4-E649-78AAB20E3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6DAC7835-855A-F229-3908-0F5A7B40C899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ZoneTexte 54">
            <a:extLst>
              <a:ext uri="{FF2B5EF4-FFF2-40B4-BE49-F238E27FC236}">
                <a16:creationId xmlns:a16="http://schemas.microsoft.com/office/drawing/2014/main" id="{8FAB199A-052C-C3FD-3D7D-29E4DA17990E}"/>
              </a:ext>
            </a:extLst>
          </p:cNvPr>
          <p:cNvSpPr txBox="1"/>
          <p:nvPr/>
        </p:nvSpPr>
        <p:spPr>
          <a:xfrm>
            <a:off x="1296576" y="2738847"/>
            <a:ext cx="523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A3A4F1B-9048-EC66-3F6A-AB484DA7534D}"/>
              </a:ext>
            </a:extLst>
          </p:cNvPr>
          <p:cNvSpPr txBox="1"/>
          <p:nvPr/>
        </p:nvSpPr>
        <p:spPr>
          <a:xfrm>
            <a:off x="250431" y="5671726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E2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3C8461B-44DB-228C-032C-F14D566D18A1}"/>
              </a:ext>
            </a:extLst>
          </p:cNvPr>
          <p:cNvCxnSpPr/>
          <p:nvPr/>
        </p:nvCxnSpPr>
        <p:spPr>
          <a:xfrm>
            <a:off x="531005" y="4007644"/>
            <a:ext cx="36196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2F71998D-F5F4-8B3A-F0CE-5931C7526900}"/>
              </a:ext>
            </a:extLst>
          </p:cNvPr>
          <p:cNvCxnSpPr>
            <a:cxnSpLocks/>
          </p:cNvCxnSpPr>
          <p:nvPr/>
        </p:nvCxnSpPr>
        <p:spPr>
          <a:xfrm>
            <a:off x="2843211" y="4024313"/>
            <a:ext cx="36196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A5F96B09-EA50-4D3C-BCDB-483A46EC7F8B}"/>
              </a:ext>
            </a:extLst>
          </p:cNvPr>
          <p:cNvSpPr txBox="1"/>
          <p:nvPr/>
        </p:nvSpPr>
        <p:spPr>
          <a:xfrm>
            <a:off x="831376" y="379686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43CCF7D-BE8A-0FEC-FB27-5AFE94987B61}"/>
              </a:ext>
            </a:extLst>
          </p:cNvPr>
          <p:cNvSpPr txBox="1"/>
          <p:nvPr/>
        </p:nvSpPr>
        <p:spPr>
          <a:xfrm>
            <a:off x="3190575" y="385469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09899C8F-8297-3CFF-D526-340B706FC86B}"/>
              </a:ext>
            </a:extLst>
          </p:cNvPr>
          <p:cNvSpPr txBox="1"/>
          <p:nvPr/>
        </p:nvSpPr>
        <p:spPr>
          <a:xfrm>
            <a:off x="4335161" y="980230"/>
            <a:ext cx="1804276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600" b="1" dirty="0"/>
              <a:t>Rappels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Règles lestage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Sécurité apnée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619B7554-F4E0-00BC-2AF6-8F7777A4863E}"/>
              </a:ext>
            </a:extLst>
          </p:cNvPr>
          <p:cNvSpPr txBox="1"/>
          <p:nvPr/>
        </p:nvSpPr>
        <p:spPr>
          <a:xfrm>
            <a:off x="8042158" y="930992"/>
            <a:ext cx="3743204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600" b="1" dirty="0"/>
              <a:t>Déroulement</a:t>
            </a:r>
          </a:p>
          <a:p>
            <a:r>
              <a:rPr lang="fr-FR" sz="1600" dirty="0"/>
              <a:t>Bouée jaune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Un seul GP-N4 en apnée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autres en surveillance de surface</a:t>
            </a:r>
          </a:p>
          <a:p>
            <a:r>
              <a:rPr lang="fr-FR" sz="1600" dirty="0"/>
              <a:t>Bouée grise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Un seul GP-N4 sur la bouée grise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Exercice apnée comme à l’examen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4BB11A87-BF54-7C58-5443-763205A2E371}"/>
              </a:ext>
            </a:extLst>
          </p:cNvPr>
          <p:cNvSpPr txBox="1"/>
          <p:nvPr/>
        </p:nvSpPr>
        <p:spPr>
          <a:xfrm>
            <a:off x="8701478" y="5654088"/>
            <a:ext cx="2966974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Site (mentionné,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Abrité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Visibilité excellente (on voit le fond de la surface)</a:t>
            </a:r>
          </a:p>
        </p:txBody>
      </p:sp>
    </p:spTree>
    <p:extLst>
      <p:ext uri="{BB962C8B-B14F-4D97-AF65-F5344CB8AC3E}">
        <p14:creationId xmlns:p14="http://schemas.microsoft.com/office/powerpoint/2010/main" val="82895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1F08-E2B7-1501-C417-10C0444F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99B0C3A-EC58-002D-5234-11168FD036FB}"/>
              </a:ext>
            </a:extLst>
          </p:cNvPr>
          <p:cNvSpPr txBox="1"/>
          <p:nvPr/>
        </p:nvSpPr>
        <p:spPr>
          <a:xfrm>
            <a:off x="-1" y="58776"/>
            <a:ext cx="4013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14 – </a:t>
            </a:r>
            <a:r>
              <a:rPr lang="fr-FR" sz="1400" b="1" dirty="0">
                <a:solidFill>
                  <a:srgbClr val="3C4043"/>
                </a:solidFill>
                <a:latin typeface="Roboto" panose="020F0502020204030204" pitchFamily="34" charset="0"/>
              </a:rPr>
              <a:t>Organisation / sécurisation Atelier</a:t>
            </a:r>
            <a:b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</a:b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Vous êtes chargé d'organiser un atelier en mer d'assistance au gilet pour 7 prépas PA20 encadrés par 3 moniteurs (vous compris). </a:t>
            </a:r>
            <a:endParaRPr lang="fr-FR" sz="14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866B8B5-B2D4-DD71-7023-6B26A92D6B56}"/>
              </a:ext>
            </a:extLst>
          </p:cNvPr>
          <p:cNvGrpSpPr/>
          <p:nvPr/>
        </p:nvGrpSpPr>
        <p:grpSpPr>
          <a:xfrm>
            <a:off x="2783240" y="2392469"/>
            <a:ext cx="3862000" cy="1036531"/>
            <a:chOff x="4600876" y="2392471"/>
            <a:chExt cx="3862000" cy="1036531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E5E6F86A-8A2F-32C2-541D-41777EF5843B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A4543F9-400C-723F-DED4-54B56495A722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Triangle 28">
                <a:extLst>
                  <a:ext uri="{FF2B5EF4-FFF2-40B4-BE49-F238E27FC236}">
                    <a16:creationId xmlns:a16="http://schemas.microsoft.com/office/drawing/2014/main" id="{738E72A7-1F28-96A8-E72C-0D736C267176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E6976CF7-B3D9-6A84-9446-E33C5D4FD7DD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151C21-4998-09E5-6C5C-D13513565973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50CB33E-F326-9916-920D-4275B5F5246E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95BB8B7-E5FF-1B4F-6366-28E391A65E8A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B44441-5559-B028-8DDC-30C292F16471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8EC834D-27D1-4FC0-2CB6-8520CB498CE2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5A38CA-EB36-0CA0-9558-ED28ACAC59B5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D409F282-A45D-EEBE-E64B-D6ACD6C064C1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1D8E1745-8A00-D96A-F6E8-A8B1D9516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A80A74C-2ED3-7483-A2F9-33B0CB334485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Triangle rectangle 19">
                <a:extLst>
                  <a:ext uri="{FF2B5EF4-FFF2-40B4-BE49-F238E27FC236}">
                    <a16:creationId xmlns:a16="http://schemas.microsoft.com/office/drawing/2014/main" id="{28E2B133-E0C0-C266-4F26-098777159B77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4F4D65B-546D-6834-9DFE-61F9A724562A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Triangle rectangle 21">
                <a:extLst>
                  <a:ext uri="{FF2B5EF4-FFF2-40B4-BE49-F238E27FC236}">
                    <a16:creationId xmlns:a16="http://schemas.microsoft.com/office/drawing/2014/main" id="{F3E05A97-D027-A3BB-C704-C7E710EB027A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8A1428-CFF2-11D2-C32C-3DCF14C65862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4263EEAA-0078-DF4C-E94A-D64CA9F478D0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D9689B9-04A1-441A-1B04-A2367630627C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Plus 10">
              <a:extLst>
                <a:ext uri="{FF2B5EF4-FFF2-40B4-BE49-F238E27FC236}">
                  <a16:creationId xmlns:a16="http://schemas.microsoft.com/office/drawing/2014/main" id="{E750A489-63F9-10B1-6DBA-8F7586BE882F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CCBA3044-FDEF-8575-58D1-CCCB722373F3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13" name="Émoticône 12">
                <a:extLst>
                  <a:ext uri="{FF2B5EF4-FFF2-40B4-BE49-F238E27FC236}">
                    <a16:creationId xmlns:a16="http://schemas.microsoft.com/office/drawing/2014/main" id="{CF418986-AFDA-BCA1-58A7-551C91AB44AD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C429E5B7-B4CA-116C-7CDA-CC3843992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EB172082-AF41-8E02-8C32-09F0E0FA249F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17533361-40A0-FA54-5722-928DDD3876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9FAB216D-948D-C687-3C4E-596F7FE04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Document 32">
            <a:extLst>
              <a:ext uri="{FF2B5EF4-FFF2-40B4-BE49-F238E27FC236}">
                <a16:creationId xmlns:a16="http://schemas.microsoft.com/office/drawing/2014/main" id="{67D9FAC5-B612-C94A-51B9-D084467B2235}"/>
              </a:ext>
            </a:extLst>
          </p:cNvPr>
          <p:cNvSpPr/>
          <p:nvPr/>
        </p:nvSpPr>
        <p:spPr>
          <a:xfrm rot="10800000">
            <a:off x="111760" y="6378197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6BC99A5-DBDA-A63C-F7A1-D3667FD86544}"/>
              </a:ext>
            </a:extLst>
          </p:cNvPr>
          <p:cNvCxnSpPr>
            <a:cxnSpLocks/>
          </p:cNvCxnSpPr>
          <p:nvPr/>
        </p:nvCxnSpPr>
        <p:spPr>
          <a:xfrm>
            <a:off x="430288" y="3432237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D0F51743-8A9E-EB92-C19C-1AC8E46BFA6E}"/>
              </a:ext>
            </a:extLst>
          </p:cNvPr>
          <p:cNvSpPr/>
          <p:nvPr/>
        </p:nvSpPr>
        <p:spPr>
          <a:xfrm>
            <a:off x="7738221" y="3269378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AB294AB-8E98-6842-DA26-5BA8035E8F03}"/>
              </a:ext>
            </a:extLst>
          </p:cNvPr>
          <p:cNvSpPr/>
          <p:nvPr/>
        </p:nvSpPr>
        <p:spPr>
          <a:xfrm>
            <a:off x="484507" y="3215284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0522BF0C-FF65-FA83-E899-F1B15D612876}"/>
              </a:ext>
            </a:extLst>
          </p:cNvPr>
          <p:cNvCxnSpPr>
            <a:cxnSpLocks/>
            <a:stCxn id="35" idx="4"/>
          </p:cNvCxnSpPr>
          <p:nvPr/>
        </p:nvCxnSpPr>
        <p:spPr>
          <a:xfrm>
            <a:off x="7982061" y="3738479"/>
            <a:ext cx="0" cy="26397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CA984288-D822-C82B-8359-E6482D9433E3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714534" y="3684385"/>
            <a:ext cx="13813" cy="2693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351B9EA5-7732-CF38-B073-AA9EC518966F}"/>
              </a:ext>
            </a:extLst>
          </p:cNvPr>
          <p:cNvSpPr txBox="1"/>
          <p:nvPr/>
        </p:nvSpPr>
        <p:spPr>
          <a:xfrm>
            <a:off x="4782755" y="613041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</a:t>
            </a:r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AA8AE7F3-32C3-5BF4-E58F-AC754427F4D1}"/>
              </a:ext>
            </a:extLst>
          </p:cNvPr>
          <p:cNvGrpSpPr/>
          <p:nvPr/>
        </p:nvGrpSpPr>
        <p:grpSpPr>
          <a:xfrm>
            <a:off x="6537838" y="4073947"/>
            <a:ext cx="951832" cy="856700"/>
            <a:chOff x="8080408" y="3429000"/>
            <a:chExt cx="951832" cy="856700"/>
          </a:xfrm>
        </p:grpSpPr>
        <p:sp>
          <p:nvSpPr>
            <p:cNvPr id="52" name="Forme libre 51">
              <a:extLst>
                <a:ext uri="{FF2B5EF4-FFF2-40B4-BE49-F238E27FC236}">
                  <a16:creationId xmlns:a16="http://schemas.microsoft.com/office/drawing/2014/main" id="{853653B6-87CC-F972-652A-6E2A643292CF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52">
              <a:extLst>
                <a:ext uri="{FF2B5EF4-FFF2-40B4-BE49-F238E27FC236}">
                  <a16:creationId xmlns:a16="http://schemas.microsoft.com/office/drawing/2014/main" id="{011105FD-BF3E-17BD-C381-1F781C23743A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9A810D78-51C7-879A-A85F-3218D9004E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Étoile à 12 branches 57">
            <a:extLst>
              <a:ext uri="{FF2B5EF4-FFF2-40B4-BE49-F238E27FC236}">
                <a16:creationId xmlns:a16="http://schemas.microsoft.com/office/drawing/2014/main" id="{F010DA1C-2D9F-5D63-3AE6-1BB15F925B5A}"/>
              </a:ext>
            </a:extLst>
          </p:cNvPr>
          <p:cNvSpPr/>
          <p:nvPr/>
        </p:nvSpPr>
        <p:spPr>
          <a:xfrm>
            <a:off x="4551562" y="251408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9" name="Tableau 58">
            <a:extLst>
              <a:ext uri="{FF2B5EF4-FFF2-40B4-BE49-F238E27FC236}">
                <a16:creationId xmlns:a16="http://schemas.microsoft.com/office/drawing/2014/main" id="{15BC16E2-928C-F21E-9D49-61C2A8A29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7052"/>
              </p:ext>
            </p:extLst>
          </p:nvPr>
        </p:nvGraphicFramePr>
        <p:xfrm>
          <a:off x="7623668" y="131944"/>
          <a:ext cx="4501546" cy="156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No-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No-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No-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</a:tbl>
          </a:graphicData>
        </a:graphic>
      </p:graphicFrame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0E467F14-C3A2-B3B7-37DA-977F1023153F}"/>
              </a:ext>
            </a:extLst>
          </p:cNvPr>
          <p:cNvCxnSpPr/>
          <p:nvPr/>
        </p:nvCxnSpPr>
        <p:spPr>
          <a:xfrm>
            <a:off x="9314121" y="784665"/>
            <a:ext cx="0" cy="868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5FEFE55-845B-2663-4840-0538B5A7688A}"/>
              </a:ext>
            </a:extLst>
          </p:cNvPr>
          <p:cNvCxnSpPr/>
          <p:nvPr/>
        </p:nvCxnSpPr>
        <p:spPr>
          <a:xfrm>
            <a:off x="10157638" y="818210"/>
            <a:ext cx="0" cy="868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C3CD834B-9B61-C7CD-B978-FB52EF7722BC}"/>
              </a:ext>
            </a:extLst>
          </p:cNvPr>
          <p:cNvCxnSpPr/>
          <p:nvPr/>
        </p:nvCxnSpPr>
        <p:spPr>
          <a:xfrm>
            <a:off x="11795051" y="784665"/>
            <a:ext cx="0" cy="868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34F8345C-3367-D889-954A-D6D4631DD5A3}"/>
              </a:ext>
            </a:extLst>
          </p:cNvPr>
          <p:cNvSpPr txBox="1"/>
          <p:nvPr/>
        </p:nvSpPr>
        <p:spPr>
          <a:xfrm>
            <a:off x="8043591" y="5412471"/>
            <a:ext cx="4077716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Fin de plongée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Application protocoles 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 si pas à la bouée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D42A56B2-024D-5CD8-C07B-8D5B6C8CC0B0}"/>
              </a:ext>
            </a:extLst>
          </p:cNvPr>
          <p:cNvSpPr txBox="1"/>
          <p:nvPr/>
        </p:nvSpPr>
        <p:spPr>
          <a:xfrm>
            <a:off x="8043591" y="3853429"/>
            <a:ext cx="4077716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/>
              <a:t>Organisation /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à la bouée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IPD / Plongeur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palanquée / bouée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2 palanquées dans l’eau à l’instant </a:t>
            </a:r>
            <a:r>
              <a:rPr lang="fr-FR" sz="1600" dirty="0" err="1"/>
              <a:t>t</a:t>
            </a:r>
            <a:r>
              <a:rPr lang="fr-FR" sz="1600" dirty="0"/>
              <a:t> 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6CA0E4D3-BDF2-0F5C-A4B8-FA3B78C5DCEE}"/>
              </a:ext>
            </a:extLst>
          </p:cNvPr>
          <p:cNvSpPr txBox="1"/>
          <p:nvPr/>
        </p:nvSpPr>
        <p:spPr>
          <a:xfrm>
            <a:off x="8599442" y="1821131"/>
            <a:ext cx="3482748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b="1" dirty="0"/>
              <a:t>Contexte (mentionné,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Dans le cadre du stage N2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Club 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Etraînnement</a:t>
            </a:r>
            <a:r>
              <a:rPr lang="fr-FR" dirty="0"/>
              <a:t>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8 fosses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3</a:t>
            </a:r>
            <a:r>
              <a:rPr lang="fr-FR" baseline="30000" dirty="0"/>
              <a:t>ème</a:t>
            </a:r>
            <a:r>
              <a:rPr lang="fr-FR" dirty="0"/>
              <a:t> plongée du séjour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1EDCF6C-CB83-EDE2-61C8-05B57F9AF9DD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</p:spTree>
    <p:extLst>
      <p:ext uri="{BB962C8B-B14F-4D97-AF65-F5344CB8AC3E}">
        <p14:creationId xmlns:p14="http://schemas.microsoft.com/office/powerpoint/2010/main" val="416143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7266-D7CB-98F8-4440-7D1D697E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ZoneTexte 51">
            <a:extLst>
              <a:ext uri="{FF2B5EF4-FFF2-40B4-BE49-F238E27FC236}">
                <a16:creationId xmlns:a16="http://schemas.microsoft.com/office/drawing/2014/main" id="{A62187B3-37C9-CD1F-D32B-559F6FF9092E}"/>
              </a:ext>
            </a:extLst>
          </p:cNvPr>
          <p:cNvSpPr txBox="1"/>
          <p:nvPr/>
        </p:nvSpPr>
        <p:spPr>
          <a:xfrm>
            <a:off x="6902261" y="4866930"/>
            <a:ext cx="5146534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Contexte (mentionné pas écrit)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Club de plonger situé à 1h de la 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Tous les plongeurs sont adultes sauf un N2 (parent présent)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4525F9-3587-48C8-C264-8E4AFC00A5B9}"/>
              </a:ext>
            </a:extLst>
          </p:cNvPr>
          <p:cNvSpPr txBox="1"/>
          <p:nvPr/>
        </p:nvSpPr>
        <p:spPr>
          <a:xfrm>
            <a:off x="0" y="58776"/>
            <a:ext cx="49329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Orga: 30 – </a:t>
            </a: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Stage de formation et validation</a:t>
            </a:r>
          </a:p>
          <a:p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Vous êtes chargé d'organiser une sortie en mer sur un week-end (2 jours) pour un groupe constitué 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2 baptêmes,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4 N2 (dont un mineur) en exploration,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4 prépas N2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4 prépas N3 en fin de formation,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3C4043"/>
                </a:solidFill>
                <a:latin typeface="Roboto" panose="020F0502020204030204" pitchFamily="34" charset="0"/>
              </a:rPr>
              <a:t>encadrés par 2 E3 (vous compris) et 3 GP-N4.</a:t>
            </a:r>
            <a:endParaRPr lang="fr-FR" sz="1400" dirty="0"/>
          </a:p>
        </p:txBody>
      </p:sp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956D925A-B450-5418-FE54-C3A3180CA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356260"/>
              </p:ext>
            </p:extLst>
          </p:nvPr>
        </p:nvGraphicFramePr>
        <p:xfrm>
          <a:off x="59514" y="4341094"/>
          <a:ext cx="6543589" cy="2375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058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1011865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1276936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2037622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1416108">
                  <a:extLst>
                    <a:ext uri="{9D8B030D-6E8A-4147-A177-3AD203B41FA5}">
                      <a16:colId xmlns:a16="http://schemas.microsoft.com/office/drawing/2014/main" val="214698008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 max séjour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4-prepaN3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4-prepaN2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418493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 baptêmes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Baptême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760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 (mineur)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sp>
        <p:nvSpPr>
          <p:cNvPr id="46" name="ZoneTexte 45">
            <a:extLst>
              <a:ext uri="{FF2B5EF4-FFF2-40B4-BE49-F238E27FC236}">
                <a16:creationId xmlns:a16="http://schemas.microsoft.com/office/drawing/2014/main" id="{62867A54-18E2-745E-4D4D-7305CAB97579}"/>
              </a:ext>
            </a:extLst>
          </p:cNvPr>
          <p:cNvSpPr txBox="1"/>
          <p:nvPr/>
        </p:nvSpPr>
        <p:spPr>
          <a:xfrm>
            <a:off x="59514" y="3971762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6F8F0121-14FC-F209-ADDA-B97D95230058}"/>
              </a:ext>
            </a:extLst>
          </p:cNvPr>
          <p:cNvSpPr txBox="1"/>
          <p:nvPr/>
        </p:nvSpPr>
        <p:spPr>
          <a:xfrm>
            <a:off x="2664775" y="1955812"/>
            <a:ext cx="3938328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Prépa N2 – N3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parachute / plongeur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Pas d‘IPD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 / Orientation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Signes</a:t>
            </a:r>
          </a:p>
          <a:p>
            <a:pPr algn="ctr"/>
            <a:r>
              <a:rPr lang="fr-FR" sz="1600" b="1" dirty="0"/>
              <a:t>Rappels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Rappel: Procédure remontée rapide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8DD22F5-13ED-4322-7E7F-C74E3238B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8669"/>
              </p:ext>
            </p:extLst>
          </p:nvPr>
        </p:nvGraphicFramePr>
        <p:xfrm>
          <a:off x="6880757" y="58776"/>
          <a:ext cx="5189542" cy="465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68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210437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45734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Dimanche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205592">
                <a:tc>
                  <a:txBody>
                    <a:bodyPr/>
                    <a:lstStyle/>
                    <a:p>
                      <a:r>
                        <a:rPr lang="fr-FR" sz="14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Petit déjeuner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1442893">
                <a:tc>
                  <a:txBody>
                    <a:bodyPr/>
                    <a:lstStyle/>
                    <a:p>
                      <a:r>
                        <a:rPr lang="fr-FR" sz="16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1</a:t>
                      </a:r>
                    </a:p>
                    <a:p>
                      <a:pPr algn="ctr"/>
                      <a:r>
                        <a:rPr lang="fr-FR" sz="1400" dirty="0"/>
                        <a:t>6 – 15 – 30 m</a:t>
                      </a:r>
                    </a:p>
                    <a:p>
                      <a:r>
                        <a:rPr lang="fr-FR" sz="1400" dirty="0"/>
                        <a:t>Lestage</a:t>
                      </a:r>
                    </a:p>
                    <a:p>
                      <a:r>
                        <a:rPr lang="fr-FR" sz="1400" dirty="0"/>
                        <a:t>TDP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3</a:t>
                      </a:r>
                    </a:p>
                    <a:p>
                      <a:pPr algn="ctr"/>
                      <a:r>
                        <a:rPr lang="fr-FR" sz="1400" dirty="0"/>
                        <a:t>6 – 20 - 40m</a:t>
                      </a:r>
                    </a:p>
                    <a:p>
                      <a:pPr algn="l"/>
                      <a:r>
                        <a:rPr lang="fr-FR" sz="1400" dirty="0"/>
                        <a:t>TDP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246239">
                <a:tc>
                  <a:txBody>
                    <a:bodyPr/>
                    <a:lstStyle/>
                    <a:p>
                      <a:r>
                        <a:rPr lang="fr-FR" sz="14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1810699">
                <a:tc>
                  <a:txBody>
                    <a:bodyPr/>
                    <a:lstStyle/>
                    <a:p>
                      <a:r>
                        <a:rPr lang="fr-FR" sz="16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2</a:t>
                      </a:r>
                    </a:p>
                    <a:p>
                      <a:pPr algn="ctr"/>
                      <a:r>
                        <a:rPr lang="fr-FR" sz="1400" dirty="0"/>
                        <a:t>6 – 15 – 25 m</a:t>
                      </a:r>
                    </a:p>
                    <a:p>
                      <a:r>
                        <a:rPr lang="fr-FR" sz="1400" dirty="0"/>
                        <a:t>Lestage (ajustement)</a:t>
                      </a:r>
                    </a:p>
                    <a:p>
                      <a:r>
                        <a:rPr lang="fr-FR" sz="1400" dirty="0"/>
                        <a:t>TDP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Plongée 4</a:t>
                      </a:r>
                    </a:p>
                    <a:p>
                      <a:pPr algn="ctr"/>
                      <a:r>
                        <a:rPr lang="fr-FR" sz="1400" dirty="0"/>
                        <a:t>6 – 18 – 30 m</a:t>
                      </a:r>
                    </a:p>
                    <a:p>
                      <a:pPr algn="l"/>
                      <a:r>
                        <a:rPr lang="fr-FR" sz="1400" dirty="0"/>
                        <a:t>TDP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24616">
                <a:tc>
                  <a:txBody>
                    <a:bodyPr/>
                    <a:lstStyle/>
                    <a:p>
                      <a:r>
                        <a:rPr lang="fr-FR" sz="16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Debrief moniteurs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7DFDE85-2B83-034D-860A-8E4A0C695D3E}"/>
              </a:ext>
            </a:extLst>
          </p:cNvPr>
          <p:cNvSpPr txBox="1"/>
          <p:nvPr/>
        </p:nvSpPr>
        <p:spPr>
          <a:xfrm>
            <a:off x="87574" y="1955812"/>
            <a:ext cx="2486515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1600" b="1" dirty="0"/>
              <a:t>Déroulement baptême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1 par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Durée 15 minutes</a:t>
            </a:r>
          </a:p>
        </p:txBody>
      </p:sp>
    </p:spTree>
    <p:extLst>
      <p:ext uri="{BB962C8B-B14F-4D97-AF65-F5344CB8AC3E}">
        <p14:creationId xmlns:p14="http://schemas.microsoft.com/office/powerpoint/2010/main" val="36672116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15867</TotalTime>
  <Words>1885</Words>
  <Application>Microsoft Macintosh PowerPoint</Application>
  <PresentationFormat>Grand écran</PresentationFormat>
  <Paragraphs>772</Paragraphs>
  <Slides>13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Roboto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39</cp:revision>
  <dcterms:created xsi:type="dcterms:W3CDTF">2025-09-29T11:28:50Z</dcterms:created>
  <dcterms:modified xsi:type="dcterms:W3CDTF">2025-10-31T15:46:46Z</dcterms:modified>
</cp:coreProperties>
</file>
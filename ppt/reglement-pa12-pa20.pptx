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85"/>
    <p:restoredTop sz="94660"/>
  </p:normalViewPr>
  <p:slideViewPr>
    <p:cSldViewPr snapToGrid="0">
      <p:cViewPr varScale="1">
        <p:scale>
          <a:sx n="123" d="100"/>
          <a:sy n="123" d="100"/>
        </p:scale>
        <p:origin x="1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BD1E2-0DF6-D7D2-E928-B83CAF9B1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1DC6CF-6A95-C630-B153-6E3A6F287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7E7FC6-98F3-23D2-1FDB-C1B5C77E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05F4B4-F80C-D5A6-DEE5-DB4BE9B81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9273B-C749-8967-DEDC-FA27ADE3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26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4DA2B-DEDF-696D-C974-99210CA8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9C030E-46DA-D6A3-95AF-B03862897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D3A2D3-63D1-E29C-28F4-9E2E9E3D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873A61-D3FC-2D08-7D3C-1D335A52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67205-D965-88C5-9E7B-177B7F73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90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02AB6-702A-98B5-CDFD-05FB4503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BBDA96-958D-5F26-39C7-7650A7805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2B52D-1D63-3D11-9EBD-BEE25465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0DAC7B-2C31-31C5-285C-FABF035C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DC41B6-8463-7A4A-57E5-F768B6AE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07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E710D-1EEC-CC5F-F352-CF002617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5E2251-8FC3-07BA-4DAF-AA4794677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3BC843-39CD-D6EC-4B07-C359C4B8B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369B48-D349-FDFD-6838-B4463487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BE736F-CE53-948F-538A-E1373CEA4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F24322-D185-F543-F1D7-6969D90B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25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F51375-9486-0FD5-7A1B-2E569D39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D013F7-B1A0-7345-B084-27F47CC90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51D70B-4A58-273A-BB89-CDC30F000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D1CC913-ED47-55C0-3785-05CA3E3BD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434955-14D5-CF7E-3728-7F081503B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42FA32-9427-8601-FD41-AA3D75C04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E22980-4E3B-55A5-9C4F-32428D58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4F9BD8-150D-A39C-3B48-C876A4B5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3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6BDE7-5283-CEF5-613A-756D603A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3803AB9-0F2E-5E5B-4A6C-83D6F8FE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1CFDA9-AD98-B4A7-674F-8EC16A4A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9B6553-46A6-E6BB-78D0-6F31B6E0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88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618D13-B4D9-A6AF-AF13-AD6C3B09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34FA7A-2F4B-20F7-5F78-156E072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36C1D7-A0E8-69ED-5B12-A9C6627F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0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512922-0C37-AF46-77D9-14BCE82F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FC756A-5CFA-15A5-1BCE-687FA7A58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E1581D-A14D-8695-C1FA-B8A6D761A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C332CE-EFF2-86D6-E5D0-AF0DAEC3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E3888E-7656-4AC8-B04E-39EECF6A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7E0450-4436-45F5-B2BF-4C387052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35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38F221-8469-F061-FFB9-08B6FEAB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9BD3D0-283A-EC9C-283D-D77CB129E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7F22CF3-E7EE-4E43-251E-632970769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C85696-3F52-8254-939A-39C93E5C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568924-C53D-A058-3A73-986FD3CD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E23D94-E153-19B6-1272-E37A999E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61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6D2C1C-5B1B-2B13-EF54-E363E286C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3FA8D43-6A65-0081-EA36-C2A75737A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6374CC-9339-E2DC-132F-0C8C0F31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34173F-7397-EA2E-A0F3-8385ECEE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F51543-45D0-55AD-2C2A-AD1C31E47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46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3CBDB34-E110-A00B-BAF8-E4662A2F26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C064F6-C4D2-A15B-2692-C47AED9A3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B1BDD6-C75E-ED82-3570-A57830881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4488A1-4F8A-6E5E-FEDD-A45532236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CDC91B-4D82-5E8A-2A65-7413EF0E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485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D74591-062F-E1CC-A6E5-D5025C954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75C805-6C5B-C7FD-0977-63C2BAD93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808E8-F784-D064-475D-8175AFFE4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3F2AA-395A-6947-811D-D09F3687E38F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C8F219-B651-F6D5-246B-29B11D9EF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C3C298-4608-2A4B-2350-AD30E9D2A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7ED59-F06C-964B-8E1D-610C6561F7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50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35C2F0A-E77A-DD55-4A9B-CBBEE49603D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Règlementation pour un élève en formation PA12 ou PA20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89AB7A3-26A5-4F15-4FD6-5EFF9E305930}"/>
              </a:ext>
            </a:extLst>
          </p:cNvPr>
          <p:cNvSpPr txBox="1"/>
          <p:nvPr/>
        </p:nvSpPr>
        <p:spPr>
          <a:xfrm>
            <a:off x="7985225" y="6009602"/>
            <a:ext cx="41736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/>
              <a:t>Contexte: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Cours en salle pour des plongeurs adultes et N1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Cours d’accueil de début de formation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DBFE560-5A77-9303-AEEC-11BC25838601}"/>
              </a:ext>
            </a:extLst>
          </p:cNvPr>
          <p:cNvSpPr txBox="1"/>
          <p:nvPr/>
        </p:nvSpPr>
        <p:spPr>
          <a:xfrm>
            <a:off x="172847" y="461665"/>
            <a:ext cx="1896738" cy="41549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Les acteurs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FFESSM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Avant la plongée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FFESSM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Sur le bateau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FFESSM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Descente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FFESSM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Pendant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FFESSM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Remontée / Paliers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FFESSM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Assurances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Civil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200" dirty="0"/>
              <a:t>Lafond (perso)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Quizz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472952B-3FE6-0DB6-1950-60AC64D5B5FA}"/>
              </a:ext>
            </a:extLst>
          </p:cNvPr>
          <p:cNvSpPr txBox="1"/>
          <p:nvPr/>
        </p:nvSpPr>
        <p:spPr>
          <a:xfrm>
            <a:off x="181388" y="4708982"/>
            <a:ext cx="4210158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Fil Conducteur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Autonomie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Lien avec programme de la formation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EF952E9-C154-F966-1D77-C5F7D33BB34B}"/>
              </a:ext>
            </a:extLst>
          </p:cNvPr>
          <p:cNvCxnSpPr/>
          <p:nvPr/>
        </p:nvCxnSpPr>
        <p:spPr>
          <a:xfrm>
            <a:off x="2130136" y="2057400"/>
            <a:ext cx="2462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784B570-71A9-D84C-7CCC-E37C05E88A27}"/>
              </a:ext>
            </a:extLst>
          </p:cNvPr>
          <p:cNvCxnSpPr/>
          <p:nvPr/>
        </p:nvCxnSpPr>
        <p:spPr>
          <a:xfrm>
            <a:off x="9441873" y="2057400"/>
            <a:ext cx="2462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1C194FB-E856-70F9-8374-0ED37CE7345E}"/>
              </a:ext>
            </a:extLst>
          </p:cNvPr>
          <p:cNvCxnSpPr>
            <a:cxnSpLocks/>
          </p:cNvCxnSpPr>
          <p:nvPr/>
        </p:nvCxnSpPr>
        <p:spPr>
          <a:xfrm>
            <a:off x="4966855" y="5036127"/>
            <a:ext cx="41979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DE50F3C0-CBA6-2D0B-044C-14232C7F2794}"/>
              </a:ext>
            </a:extLst>
          </p:cNvPr>
          <p:cNvCxnSpPr>
            <a:cxnSpLocks/>
          </p:cNvCxnSpPr>
          <p:nvPr/>
        </p:nvCxnSpPr>
        <p:spPr>
          <a:xfrm>
            <a:off x="4592782" y="2057400"/>
            <a:ext cx="374073" cy="29787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43A6EC21-9609-67E6-CE24-EBD0BF6CA64A}"/>
              </a:ext>
            </a:extLst>
          </p:cNvPr>
          <p:cNvCxnSpPr>
            <a:cxnSpLocks/>
          </p:cNvCxnSpPr>
          <p:nvPr/>
        </p:nvCxnSpPr>
        <p:spPr>
          <a:xfrm flipH="1">
            <a:off x="9164782" y="2057399"/>
            <a:ext cx="277091" cy="2978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E17E4E20-6528-ED81-B90A-86A2A5AA5E14}"/>
              </a:ext>
            </a:extLst>
          </p:cNvPr>
          <p:cNvSpPr txBox="1"/>
          <p:nvPr/>
        </p:nvSpPr>
        <p:spPr>
          <a:xfrm>
            <a:off x="9224506" y="483870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20m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33D1258-05DE-DF6A-6552-C21779B1B06F}"/>
              </a:ext>
            </a:extLst>
          </p:cNvPr>
          <p:cNvSpPr txBox="1"/>
          <p:nvPr/>
        </p:nvSpPr>
        <p:spPr>
          <a:xfrm>
            <a:off x="9333190" y="385616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12m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E04142C-624A-4392-C8BB-B685889BF2E4}"/>
              </a:ext>
            </a:extLst>
          </p:cNvPr>
          <p:cNvSpPr txBox="1"/>
          <p:nvPr/>
        </p:nvSpPr>
        <p:spPr>
          <a:xfrm>
            <a:off x="9333190" y="2563137"/>
            <a:ext cx="86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paliers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175117DC-4DFA-BB15-2100-EB481FD2B789}"/>
              </a:ext>
            </a:extLst>
          </p:cNvPr>
          <p:cNvCxnSpPr>
            <a:cxnSpLocks/>
          </p:cNvCxnSpPr>
          <p:nvPr/>
        </p:nvCxnSpPr>
        <p:spPr>
          <a:xfrm>
            <a:off x="4852555" y="4062651"/>
            <a:ext cx="4371951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A3FC73A-42C0-742A-1433-F6CC8F5B0B3E}"/>
              </a:ext>
            </a:extLst>
          </p:cNvPr>
          <p:cNvCxnSpPr>
            <a:cxnSpLocks/>
          </p:cNvCxnSpPr>
          <p:nvPr/>
        </p:nvCxnSpPr>
        <p:spPr>
          <a:xfrm>
            <a:off x="4779818" y="2747803"/>
            <a:ext cx="455898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572D7433-376D-969B-1A79-6B947D68E9E1}"/>
              </a:ext>
            </a:extLst>
          </p:cNvPr>
          <p:cNvCxnSpPr>
            <a:cxnSpLocks/>
          </p:cNvCxnSpPr>
          <p:nvPr/>
        </p:nvCxnSpPr>
        <p:spPr>
          <a:xfrm>
            <a:off x="4353791" y="2058538"/>
            <a:ext cx="5185064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3">
            <a:extLst>
              <a:ext uri="{FF2B5EF4-FFF2-40B4-BE49-F238E27FC236}">
                <a16:creationId xmlns:a16="http://schemas.microsoft.com/office/drawing/2014/main" id="{3E3DE593-3641-1F84-CCCE-8EF94887061F}"/>
              </a:ext>
            </a:extLst>
          </p:cNvPr>
          <p:cNvSpPr txBox="1"/>
          <p:nvPr/>
        </p:nvSpPr>
        <p:spPr>
          <a:xfrm>
            <a:off x="2073026" y="1569660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FFESSM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Inscription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91F6B5F3-7ED7-E533-07FD-7746B46F24C1}"/>
              </a:ext>
            </a:extLst>
          </p:cNvPr>
          <p:cNvCxnSpPr>
            <a:cxnSpLocks/>
          </p:cNvCxnSpPr>
          <p:nvPr/>
        </p:nvCxnSpPr>
        <p:spPr>
          <a:xfrm flipV="1">
            <a:off x="5112327" y="2057399"/>
            <a:ext cx="0" cy="2005252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75FDEFEF-EB56-EF13-B399-3CD32E87040F}"/>
              </a:ext>
            </a:extLst>
          </p:cNvPr>
          <p:cNvCxnSpPr>
            <a:cxnSpLocks/>
          </p:cNvCxnSpPr>
          <p:nvPr/>
        </p:nvCxnSpPr>
        <p:spPr>
          <a:xfrm flipV="1">
            <a:off x="5742709" y="2057399"/>
            <a:ext cx="0" cy="2965967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F46A8EFB-33E6-54BC-F6AF-9BB775FA0BB8}"/>
              </a:ext>
            </a:extLst>
          </p:cNvPr>
          <p:cNvSpPr txBox="1"/>
          <p:nvPr/>
        </p:nvSpPr>
        <p:spPr>
          <a:xfrm>
            <a:off x="4592782" y="2253159"/>
            <a:ext cx="578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PA12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EEA792E-21C7-3229-41B1-32EE8D79FFE9}"/>
              </a:ext>
            </a:extLst>
          </p:cNvPr>
          <p:cNvSpPr txBox="1"/>
          <p:nvPr/>
        </p:nvSpPr>
        <p:spPr>
          <a:xfrm>
            <a:off x="4923374" y="1133704"/>
            <a:ext cx="12218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FFESSM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Risques</a:t>
            </a:r>
          </a:p>
          <a:p>
            <a:r>
              <a:rPr lang="fr-FR" sz="1400" dirty="0"/>
              <a:t>CDS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Aptitudes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DDE9C94B-20CB-7AD7-B825-C296657DA098}"/>
              </a:ext>
            </a:extLst>
          </p:cNvPr>
          <p:cNvSpPr txBox="1"/>
          <p:nvPr/>
        </p:nvSpPr>
        <p:spPr>
          <a:xfrm>
            <a:off x="5847022" y="2381570"/>
            <a:ext cx="578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PA20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88C06C9E-3DF9-1D4F-DFE0-A97669ADA176}"/>
              </a:ext>
            </a:extLst>
          </p:cNvPr>
          <p:cNvSpPr txBox="1"/>
          <p:nvPr/>
        </p:nvSpPr>
        <p:spPr>
          <a:xfrm>
            <a:off x="4805385" y="3335765"/>
            <a:ext cx="127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Autonomie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C29C4241-04F1-6EC7-895D-A2F4771350F8}"/>
              </a:ext>
            </a:extLst>
          </p:cNvPr>
          <p:cNvSpPr txBox="1"/>
          <p:nvPr/>
        </p:nvSpPr>
        <p:spPr>
          <a:xfrm>
            <a:off x="2130136" y="3131344"/>
            <a:ext cx="223978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16 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accent5">
                    <a:lumMod val="75000"/>
                  </a:schemeClr>
                </a:solidFill>
              </a:rPr>
              <a:t>Sous direction DP</a:t>
            </a: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8D305E0E-7DFB-2A21-143B-ED17E4BCF4E7}"/>
              </a:ext>
            </a:extLst>
          </p:cNvPr>
          <p:cNvCxnSpPr>
            <a:cxnSpLocks/>
            <a:stCxn id="68" idx="3"/>
            <a:endCxn id="67" idx="1"/>
          </p:cNvCxnSpPr>
          <p:nvPr/>
        </p:nvCxnSpPr>
        <p:spPr>
          <a:xfrm>
            <a:off x="4369916" y="3454510"/>
            <a:ext cx="435469" cy="6592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1DCF621A-EC8D-A48E-117E-7295CEF9531D}"/>
              </a:ext>
            </a:extLst>
          </p:cNvPr>
          <p:cNvCxnSpPr>
            <a:cxnSpLocks/>
          </p:cNvCxnSpPr>
          <p:nvPr/>
        </p:nvCxnSpPr>
        <p:spPr>
          <a:xfrm flipV="1">
            <a:off x="7723909" y="2747803"/>
            <a:ext cx="0" cy="2275562"/>
          </a:xfrm>
          <a:prstGeom prst="line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FEE890BD-8894-D04D-4D49-5869568E8D9E}"/>
              </a:ext>
            </a:extLst>
          </p:cNvPr>
          <p:cNvSpPr txBox="1"/>
          <p:nvPr/>
        </p:nvSpPr>
        <p:spPr>
          <a:xfrm>
            <a:off x="7659458" y="3608586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IPD (PA20)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205D415A-4BCE-8EBF-B605-3202391BE4E5}"/>
              </a:ext>
            </a:extLst>
          </p:cNvPr>
          <p:cNvSpPr txBox="1"/>
          <p:nvPr/>
        </p:nvSpPr>
        <p:spPr>
          <a:xfrm>
            <a:off x="7298783" y="5105229"/>
            <a:ext cx="724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FFESSM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IPD</a:t>
            </a: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D440B29C-A285-CA31-DAB2-2DAA9079F76C}"/>
              </a:ext>
            </a:extLst>
          </p:cNvPr>
          <p:cNvGrpSpPr/>
          <p:nvPr/>
        </p:nvGrpSpPr>
        <p:grpSpPr>
          <a:xfrm>
            <a:off x="4951620" y="2737513"/>
            <a:ext cx="251113" cy="461666"/>
            <a:chOff x="7848612" y="3775094"/>
            <a:chExt cx="326995" cy="624035"/>
          </a:xfrm>
        </p:grpSpPr>
        <p:sp>
          <p:nvSpPr>
            <p:cNvPr id="82" name="Émoticône 81">
              <a:extLst>
                <a:ext uri="{FF2B5EF4-FFF2-40B4-BE49-F238E27FC236}">
                  <a16:creationId xmlns:a16="http://schemas.microsoft.com/office/drawing/2014/main" id="{A14D4F47-81B6-0EE4-2635-F1ACD8C5F5EE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434FF4C6-7A9C-C43D-256A-D441A09BE0F2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eur droit 83">
              <a:extLst>
                <a:ext uri="{FF2B5EF4-FFF2-40B4-BE49-F238E27FC236}">
                  <a16:creationId xmlns:a16="http://schemas.microsoft.com/office/drawing/2014/main" id="{17986C89-F7CC-B374-BE16-4FEB70E9269A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6F86BEC3-9D8B-CBF2-B171-9364073D2D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eur droit 85">
              <a:extLst>
                <a:ext uri="{FF2B5EF4-FFF2-40B4-BE49-F238E27FC236}">
                  <a16:creationId xmlns:a16="http://schemas.microsoft.com/office/drawing/2014/main" id="{6475792E-06D1-5DE6-7FDF-0CBD6A10EC75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8856CFF9-0D38-5E0D-61F3-2F6F91367687}"/>
              </a:ext>
            </a:extLst>
          </p:cNvPr>
          <p:cNvGrpSpPr/>
          <p:nvPr/>
        </p:nvGrpSpPr>
        <p:grpSpPr>
          <a:xfrm>
            <a:off x="5262899" y="2856316"/>
            <a:ext cx="251113" cy="461666"/>
            <a:chOff x="7848612" y="3775094"/>
            <a:chExt cx="326995" cy="624035"/>
          </a:xfrm>
        </p:grpSpPr>
        <p:sp>
          <p:nvSpPr>
            <p:cNvPr id="88" name="Émoticône 87">
              <a:extLst>
                <a:ext uri="{FF2B5EF4-FFF2-40B4-BE49-F238E27FC236}">
                  <a16:creationId xmlns:a16="http://schemas.microsoft.com/office/drawing/2014/main" id="{13873D2C-DE63-84AA-6F26-4940C734E779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6E6EF64F-47D0-A3CA-AC57-6DBCD559A0CD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eur droit 89">
              <a:extLst>
                <a:ext uri="{FF2B5EF4-FFF2-40B4-BE49-F238E27FC236}">
                  <a16:creationId xmlns:a16="http://schemas.microsoft.com/office/drawing/2014/main" id="{6AB31604-9B79-D823-FF99-3385CF462D8C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F4C5ED92-9803-712D-2C69-A0797C052B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8FA8AF0B-3F5A-2E3D-C28A-5D3FAA01CB18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9D364BC9-B877-3EF9-65AA-748CFEDE4917}"/>
              </a:ext>
            </a:extLst>
          </p:cNvPr>
          <p:cNvGrpSpPr/>
          <p:nvPr/>
        </p:nvGrpSpPr>
        <p:grpSpPr>
          <a:xfrm rot="5400000">
            <a:off x="6431837" y="3684444"/>
            <a:ext cx="251113" cy="461666"/>
            <a:chOff x="7848612" y="3775094"/>
            <a:chExt cx="326995" cy="624035"/>
          </a:xfrm>
        </p:grpSpPr>
        <p:sp>
          <p:nvSpPr>
            <p:cNvPr id="94" name="Émoticône 93">
              <a:extLst>
                <a:ext uri="{FF2B5EF4-FFF2-40B4-BE49-F238E27FC236}">
                  <a16:creationId xmlns:a16="http://schemas.microsoft.com/office/drawing/2014/main" id="{1DABEC18-9B65-4FBD-C868-E7B47A8B4EFA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5" name="Connecteur droit 94">
              <a:extLst>
                <a:ext uri="{FF2B5EF4-FFF2-40B4-BE49-F238E27FC236}">
                  <a16:creationId xmlns:a16="http://schemas.microsoft.com/office/drawing/2014/main" id="{165CAD87-87C2-22FC-BD3B-04439C4582FD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A7EFCCA9-D118-E8A1-AED8-8DE7CA492D37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69349699-6165-C38F-9936-DB8B040983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eur droit 97">
              <a:extLst>
                <a:ext uri="{FF2B5EF4-FFF2-40B4-BE49-F238E27FC236}">
                  <a16:creationId xmlns:a16="http://schemas.microsoft.com/office/drawing/2014/main" id="{D1A9B4DA-FE5F-DDE6-FCCD-B772EE04542E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e 112">
            <a:extLst>
              <a:ext uri="{FF2B5EF4-FFF2-40B4-BE49-F238E27FC236}">
                <a16:creationId xmlns:a16="http://schemas.microsoft.com/office/drawing/2014/main" id="{0234B351-94EE-A718-1AB0-31133AA04C29}"/>
              </a:ext>
            </a:extLst>
          </p:cNvPr>
          <p:cNvGrpSpPr/>
          <p:nvPr/>
        </p:nvGrpSpPr>
        <p:grpSpPr>
          <a:xfrm>
            <a:off x="3259867" y="1669009"/>
            <a:ext cx="1536284" cy="377253"/>
            <a:chOff x="3051366" y="1535024"/>
            <a:chExt cx="1536284" cy="377253"/>
          </a:xfrm>
        </p:grpSpPr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830330AD-0252-D895-F2E8-B6F948287E83}"/>
                </a:ext>
              </a:extLst>
            </p:cNvPr>
            <p:cNvCxnSpPr>
              <a:cxnSpLocks/>
            </p:cNvCxnSpPr>
            <p:nvPr/>
          </p:nvCxnSpPr>
          <p:spPr>
            <a:xfrm>
              <a:off x="3051366" y="1535024"/>
              <a:ext cx="1536284" cy="0"/>
            </a:xfrm>
            <a:prstGeom prst="line">
              <a:avLst/>
            </a:prstGeom>
            <a:ln w="317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 droit 100">
              <a:extLst>
                <a:ext uri="{FF2B5EF4-FFF2-40B4-BE49-F238E27FC236}">
                  <a16:creationId xmlns:a16="http://schemas.microsoft.com/office/drawing/2014/main" id="{8A7E18AE-F178-1CE0-1171-1F7874F0459A}"/>
                </a:ext>
              </a:extLst>
            </p:cNvPr>
            <p:cNvCxnSpPr>
              <a:cxnSpLocks/>
            </p:cNvCxnSpPr>
            <p:nvPr/>
          </p:nvCxnSpPr>
          <p:spPr>
            <a:xfrm>
              <a:off x="3250026" y="1912277"/>
              <a:ext cx="1103765" cy="0"/>
            </a:xfrm>
            <a:prstGeom prst="line">
              <a:avLst/>
            </a:prstGeom>
            <a:ln w="317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eur droit 103">
              <a:extLst>
                <a:ext uri="{FF2B5EF4-FFF2-40B4-BE49-F238E27FC236}">
                  <a16:creationId xmlns:a16="http://schemas.microsoft.com/office/drawing/2014/main" id="{62F9D59B-E8BE-F68C-53FA-B39D5A0AF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3791" y="1569660"/>
              <a:ext cx="215580" cy="342617"/>
            </a:xfrm>
            <a:prstGeom prst="line">
              <a:avLst/>
            </a:prstGeom>
            <a:ln w="317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9F4694CA-5565-DA68-1D5D-AEA1EC37E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1366" y="1535024"/>
              <a:ext cx="220364" cy="377253"/>
            </a:xfrm>
            <a:prstGeom prst="line">
              <a:avLst/>
            </a:prstGeom>
            <a:ln w="317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ZoneTexte 113">
            <a:extLst>
              <a:ext uri="{FF2B5EF4-FFF2-40B4-BE49-F238E27FC236}">
                <a16:creationId xmlns:a16="http://schemas.microsoft.com/office/drawing/2014/main" id="{9B0A71FF-417D-19C4-F822-EAC09358C4AD}"/>
              </a:ext>
            </a:extLst>
          </p:cNvPr>
          <p:cNvSpPr txBox="1"/>
          <p:nvPr/>
        </p:nvSpPr>
        <p:spPr>
          <a:xfrm>
            <a:off x="3260555" y="646331"/>
            <a:ext cx="11891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FFESSM (MFT)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Planification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Palanquée</a:t>
            </a:r>
          </a:p>
          <a:p>
            <a:r>
              <a:rPr lang="fr-FR" sz="1200" dirty="0"/>
              <a:t>CDS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Matériel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A3DE4097-CD14-BBD5-90DE-2913E3DDD01F}"/>
              </a:ext>
            </a:extLst>
          </p:cNvPr>
          <p:cNvSpPr txBox="1"/>
          <p:nvPr/>
        </p:nvSpPr>
        <p:spPr>
          <a:xfrm>
            <a:off x="6145183" y="4111614"/>
            <a:ext cx="1435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FFESSM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Orientation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Comportement</a:t>
            </a:r>
          </a:p>
        </p:txBody>
      </p: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5E42129F-1AF5-D0A2-B2B8-8C419504FA7E}"/>
              </a:ext>
            </a:extLst>
          </p:cNvPr>
          <p:cNvGrpSpPr/>
          <p:nvPr/>
        </p:nvGrpSpPr>
        <p:grpSpPr>
          <a:xfrm>
            <a:off x="8577237" y="2528372"/>
            <a:ext cx="251113" cy="461666"/>
            <a:chOff x="7848612" y="3775094"/>
            <a:chExt cx="326995" cy="624035"/>
          </a:xfrm>
        </p:grpSpPr>
        <p:sp>
          <p:nvSpPr>
            <p:cNvPr id="117" name="Émoticône 116">
              <a:extLst>
                <a:ext uri="{FF2B5EF4-FFF2-40B4-BE49-F238E27FC236}">
                  <a16:creationId xmlns:a16="http://schemas.microsoft.com/office/drawing/2014/main" id="{7566E083-B744-2848-F0AA-8B7C3FC65467}"/>
                </a:ext>
              </a:extLst>
            </p:cNvPr>
            <p:cNvSpPr/>
            <p:nvPr/>
          </p:nvSpPr>
          <p:spPr>
            <a:xfrm>
              <a:off x="7911108" y="3775094"/>
              <a:ext cx="202557" cy="191167"/>
            </a:xfrm>
            <a:prstGeom prst="smileyFac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8" name="Connecteur droit 117">
              <a:extLst>
                <a:ext uri="{FF2B5EF4-FFF2-40B4-BE49-F238E27FC236}">
                  <a16:creationId xmlns:a16="http://schemas.microsoft.com/office/drawing/2014/main" id="{C028612E-4420-7793-5B08-4C1A1C8A4701}"/>
                </a:ext>
              </a:extLst>
            </p:cNvPr>
            <p:cNvCxnSpPr>
              <a:cxnSpLocks/>
            </p:cNvCxnSpPr>
            <p:nvPr/>
          </p:nvCxnSpPr>
          <p:spPr>
            <a:xfrm>
              <a:off x="8021083" y="3963815"/>
              <a:ext cx="0" cy="202628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E8E6DD-254E-5688-3CF6-5E793F8A2173}"/>
                </a:ext>
              </a:extLst>
            </p:cNvPr>
            <p:cNvCxnSpPr/>
            <p:nvPr/>
          </p:nvCxnSpPr>
          <p:spPr>
            <a:xfrm>
              <a:off x="8012386" y="4154388"/>
              <a:ext cx="163221" cy="23003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C84AFEDB-490A-8F9B-0B55-61C89D8B9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472" y="4166443"/>
              <a:ext cx="137371" cy="23268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eur droit 120">
              <a:extLst>
                <a:ext uri="{FF2B5EF4-FFF2-40B4-BE49-F238E27FC236}">
                  <a16:creationId xmlns:a16="http://schemas.microsoft.com/office/drawing/2014/main" id="{A3EDF493-43BF-770C-48B3-5BD0A1FE829A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12" y="4055633"/>
              <a:ext cx="32699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94F31E9-1C75-8497-EE6D-CE75F2DDAFA0}"/>
              </a:ext>
            </a:extLst>
          </p:cNvPr>
          <p:cNvSpPr/>
          <p:nvPr/>
        </p:nvSpPr>
        <p:spPr>
          <a:xfrm>
            <a:off x="8828350" y="1496291"/>
            <a:ext cx="76659" cy="53503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026F2D75-2565-3D2C-3DC3-4F6A22069BEF}"/>
              </a:ext>
            </a:extLst>
          </p:cNvPr>
          <p:cNvCxnSpPr>
            <a:cxnSpLocks/>
            <a:stCxn id="122" idx="2"/>
          </p:cNvCxnSpPr>
          <p:nvPr/>
        </p:nvCxnSpPr>
        <p:spPr>
          <a:xfrm flipH="1">
            <a:off x="8866679" y="2031325"/>
            <a:ext cx="1" cy="719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D7CE67AF-5AB2-44C0-4B92-0CDCB1F399DB}"/>
              </a:ext>
            </a:extLst>
          </p:cNvPr>
          <p:cNvSpPr txBox="1"/>
          <p:nvPr/>
        </p:nvSpPr>
        <p:spPr>
          <a:xfrm>
            <a:off x="8968745" y="768823"/>
            <a:ext cx="12209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FFESSM (MFT)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Désaturation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Risques</a:t>
            </a:r>
          </a:p>
          <a:p>
            <a:r>
              <a:rPr lang="fr-FR" sz="1200" dirty="0"/>
              <a:t>CDS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Matériel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695038E-B17F-9CBD-A086-7ED37DFDBE8E}"/>
              </a:ext>
            </a:extLst>
          </p:cNvPr>
          <p:cNvSpPr txBox="1"/>
          <p:nvPr/>
        </p:nvSpPr>
        <p:spPr>
          <a:xfrm>
            <a:off x="181388" y="5586145"/>
            <a:ext cx="4210158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Objectifs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Connaître les prérogatives &amp; acteurs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 matériel obligatoire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Le programme de la formation</a:t>
            </a:r>
          </a:p>
        </p:txBody>
      </p:sp>
    </p:spTree>
    <p:extLst>
      <p:ext uri="{BB962C8B-B14F-4D97-AF65-F5344CB8AC3E}">
        <p14:creationId xmlns:p14="http://schemas.microsoft.com/office/powerpoint/2010/main" val="3427730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57770D8-2D0B-7D23-FE36-F59D3A526284}"/>
              </a:ext>
            </a:extLst>
          </p:cNvPr>
          <p:cNvSpPr txBox="1"/>
          <p:nvPr/>
        </p:nvSpPr>
        <p:spPr>
          <a:xfrm>
            <a:off x="228600" y="166255"/>
            <a:ext cx="561499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Code du sport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Défini les obligations légales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322-80: Equipement matériel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322-77: Défini les aptitudes</a:t>
            </a:r>
          </a:p>
          <a:p>
            <a:r>
              <a:rPr lang="fr-FR" dirty="0"/>
              <a:t>FFESSM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Fédération française d’étude des sports sous marin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Délégataire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MFT (manuel de formation technique)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Condition d’inscription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N1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License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CACI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15 minimum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Diplômes</a:t>
            </a:r>
          </a:p>
          <a:p>
            <a:r>
              <a:rPr lang="fr-FR" dirty="0"/>
              <a:t>CMA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Confédération mondiale des activités subaquatique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FFESSM membre fondateur avec Cousteau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99800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7164</TotalTime>
  <Words>176</Words>
  <Application>Microsoft Macintosh PowerPoint</Application>
  <PresentationFormat>Grand écran</PresentationFormat>
  <Paragraphs>82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24</cp:revision>
  <dcterms:created xsi:type="dcterms:W3CDTF">2025-11-23T17:54:36Z</dcterms:created>
  <dcterms:modified xsi:type="dcterms:W3CDTF">2025-12-07T19:41:57Z</dcterms:modified>
</cp:coreProperties>
</file>
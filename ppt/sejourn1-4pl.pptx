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9" r:id="rId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97"/>
    <p:restoredTop sz="84867"/>
  </p:normalViewPr>
  <p:slideViewPr>
    <p:cSldViewPr snapToGrid="0">
      <p:cViewPr varScale="1">
        <p:scale>
          <a:sx n="117" d="100"/>
          <a:sy n="117" d="100"/>
        </p:scale>
        <p:origin x="10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61FFD-40AA-5C4C-9980-E99720D2E9B3}" type="datetimeFigureOut">
              <a:rPr lang="fr-FR" smtClean="0"/>
              <a:t>15/10/2025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FB71B7-5211-2B41-BD96-CBFFC54010AF}" type="slidenum">
              <a:rPr lang="fr-FR" smtClean="0"/>
              <a:t>‹N°›</a:t>
            </a:fld>
            <a:endParaRPr lang="fr-FR"/>
          </a:p>
        </p:txBody>
      </p:sp>
    </p:spTree>
    <p:extLst>
      <p:ext uri="{BB962C8B-B14F-4D97-AF65-F5344CB8AC3E}">
        <p14:creationId xmlns:p14="http://schemas.microsoft.com/office/powerpoint/2010/main" val="3855531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Bienvenu à cette présentation du séjour N 1. L’objectif de ce séjour est de permettre à 4 N1 validé en piscine ayant effectué une fosse à 20m d’effectuer leur 4 plongées de validation. Chaque moniteur aura la charge de 2 N 1. Nous sommes lundi, vendredi nous prendrons le TGV pour rejoindre la côte. Le club local est situé à proximité de notre hôtel où nous prendrons l’ensemble des repas et petit déjeuners. Quant au bateau, il se trouve à 5 minutes de notre hôtel. Le club assure le transfert entre la gare TGV et notre hôtel grâce à un minibus. Vendredi après notre installation à l’hôtel, nous irons au local du club pour y déposer et/ou récupérer notre matériel de plongée. On rangera notre matériel dans une caisse marquée de notre nom. Le but est d’être samedi au bateau pour 9h00 avec son matériel pour équiper son bloc et s’équiper avant de prendre la mer pour 20 minutes. Entre samedi et dimanche, nous effectuerons 4 plongées. Celles de samedi se feront sur 12 mètres tandis que celles de dimanche seront sur 20 mètres. Comme vous pouvez le voir, nous avons un bloc commun à toutes les plongées qui sont concentre les éléments les plus importants pour un N1: mise à l’eau, propulsion, évolution en palanquée et remontée. La première plongée sera l’occasion de déterminer, vérifier et ajuster le lestage. Au fond un vidage de masque pourra être demandé. Lors de la deuxième, on pourra mettre l’accent sur les signes. Lors de la troisième, on remet le vidage de masque. Enfin sur la dernière, ça sera la REC sur 10m maximum. A quai, il sera mis un accent sur l’entretien et le rangement du matériel. Dimanche soir sera l’occasion de remplir et valider le carnet de plongée avant le retour par TGV le lundi matin, le départ de l'hôtel est prévu à 9h00. </a:t>
            </a:r>
            <a:r>
              <a:rPr lang="fr-FR"/>
              <a:t>A présent, </a:t>
            </a:r>
            <a:r>
              <a:rPr lang="fr-FR" dirty="0"/>
              <a:t>je vais revenir sur le déroulement des journées de samedi et dimanche. Le petit déjeuner sera accessible à partir de 7h30. Nous devrons être avec notre caisse de matériel sur le quai à proximité du bateau pour 9h00. La première palanquée s'</a:t>
            </a:r>
            <a:r>
              <a:rPr lang="fr-FR" dirty="0" err="1"/>
              <a:t>imergera</a:t>
            </a:r>
            <a:r>
              <a:rPr lang="fr-FR" dirty="0"/>
              <a:t> vers 10h00. Le retour au port est prévu pour 11h30. Le repas, un buffet, sera accessible à partir de midi. Le rendez-vous au bateau pour l'après-midi est fixé à 14h30. Au retour, à 17h30 les moniteurs se retrouveront entre eux pour un debrief. Pour les niveaux N1, c'est quartier libre jusqu'à 19h30, l'heure du repas. Le soir, il s'agit d'un menu classique entrée, plat, dessert. Enfin je termine cette présentation avec quelques informations complémentaires: La température de l'eau est à 23 degrés et la météo s'annonce </a:t>
            </a:r>
            <a:r>
              <a:rPr lang="fr-FR" dirty="0" err="1"/>
              <a:t>ensoleilée</a:t>
            </a:r>
            <a:r>
              <a:rPr lang="fr-FR" dirty="0"/>
              <a:t> et sans vent. La visibilité sous l'eau est excellente.</a:t>
            </a:r>
          </a:p>
        </p:txBody>
      </p:sp>
      <p:sp>
        <p:nvSpPr>
          <p:cNvPr id="4" name="Espace réservé du numéro de diapositive 3"/>
          <p:cNvSpPr>
            <a:spLocks noGrp="1"/>
          </p:cNvSpPr>
          <p:nvPr>
            <p:ph type="sldNum" sz="quarter" idx="5"/>
          </p:nvPr>
        </p:nvSpPr>
        <p:spPr/>
        <p:txBody>
          <a:bodyPr/>
          <a:lstStyle/>
          <a:p>
            <a:fld id="{34FB71B7-5211-2B41-BD96-CBFFC54010AF}" type="slidenum">
              <a:rPr lang="fr-FR" smtClean="0"/>
              <a:t>1</a:t>
            </a:fld>
            <a:endParaRPr lang="fr-FR"/>
          </a:p>
        </p:txBody>
      </p:sp>
    </p:spTree>
    <p:extLst>
      <p:ext uri="{BB962C8B-B14F-4D97-AF65-F5344CB8AC3E}">
        <p14:creationId xmlns:p14="http://schemas.microsoft.com/office/powerpoint/2010/main" val="26535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69AC15-2F9E-7AB0-EB23-9306ABCD872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F920C97-0C70-354C-787B-04C3801D24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EA507B7-8A62-C1D5-9B00-EE6CD96388C1}"/>
              </a:ext>
            </a:extLst>
          </p:cNvPr>
          <p:cNvSpPr>
            <a:spLocks noGrp="1"/>
          </p:cNvSpPr>
          <p:nvPr>
            <p:ph type="dt" sz="half" idx="10"/>
          </p:nvPr>
        </p:nvSpPr>
        <p:spPr/>
        <p:txBody>
          <a:bodyPr/>
          <a:lstStyle/>
          <a:p>
            <a:fld id="{A2162964-48FF-B442-ADB9-E9DB1215FFC5}" type="datetimeFigureOut">
              <a:rPr lang="fr-FR" smtClean="0"/>
              <a:t>15/10/2025</a:t>
            </a:fld>
            <a:endParaRPr lang="fr-FR"/>
          </a:p>
        </p:txBody>
      </p:sp>
      <p:sp>
        <p:nvSpPr>
          <p:cNvPr id="5" name="Espace réservé du pied de page 4">
            <a:extLst>
              <a:ext uri="{FF2B5EF4-FFF2-40B4-BE49-F238E27FC236}">
                <a16:creationId xmlns:a16="http://schemas.microsoft.com/office/drawing/2014/main" id="{4FA25723-02D6-FC5E-57CB-49DA3A19F44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682D840-0379-1615-D920-3F5A58A90EEA}"/>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135167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B22B6A-A053-E4E5-B1F9-00A4B9CF2BD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E533891-CE9E-6AE8-970D-1D0DC2114C7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C60D288-1011-17C6-BAB5-1E43FE7EE7BF}"/>
              </a:ext>
            </a:extLst>
          </p:cNvPr>
          <p:cNvSpPr>
            <a:spLocks noGrp="1"/>
          </p:cNvSpPr>
          <p:nvPr>
            <p:ph type="dt" sz="half" idx="10"/>
          </p:nvPr>
        </p:nvSpPr>
        <p:spPr/>
        <p:txBody>
          <a:bodyPr/>
          <a:lstStyle/>
          <a:p>
            <a:fld id="{A2162964-48FF-B442-ADB9-E9DB1215FFC5}" type="datetimeFigureOut">
              <a:rPr lang="fr-FR" smtClean="0"/>
              <a:t>15/10/2025</a:t>
            </a:fld>
            <a:endParaRPr lang="fr-FR"/>
          </a:p>
        </p:txBody>
      </p:sp>
      <p:sp>
        <p:nvSpPr>
          <p:cNvPr id="5" name="Espace réservé du pied de page 4">
            <a:extLst>
              <a:ext uri="{FF2B5EF4-FFF2-40B4-BE49-F238E27FC236}">
                <a16:creationId xmlns:a16="http://schemas.microsoft.com/office/drawing/2014/main" id="{0FDE4B6F-50B3-989C-A0D9-4263E344E98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D3646D1-2D97-AF97-85EF-9EEDA7E93975}"/>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3220498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CE76B1-9240-F342-D50E-EEFDC7A7170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32B4472-0E90-8F4C-A39F-C26DF8FC1D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B4542C2-7F72-0CDF-FC19-8EECAEAFE336}"/>
              </a:ext>
            </a:extLst>
          </p:cNvPr>
          <p:cNvSpPr>
            <a:spLocks noGrp="1"/>
          </p:cNvSpPr>
          <p:nvPr>
            <p:ph type="dt" sz="half" idx="10"/>
          </p:nvPr>
        </p:nvSpPr>
        <p:spPr/>
        <p:txBody>
          <a:bodyPr/>
          <a:lstStyle/>
          <a:p>
            <a:fld id="{A2162964-48FF-B442-ADB9-E9DB1215FFC5}" type="datetimeFigureOut">
              <a:rPr lang="fr-FR" smtClean="0"/>
              <a:t>15/10/2025</a:t>
            </a:fld>
            <a:endParaRPr lang="fr-FR"/>
          </a:p>
        </p:txBody>
      </p:sp>
      <p:sp>
        <p:nvSpPr>
          <p:cNvPr id="5" name="Espace réservé du pied de page 4">
            <a:extLst>
              <a:ext uri="{FF2B5EF4-FFF2-40B4-BE49-F238E27FC236}">
                <a16:creationId xmlns:a16="http://schemas.microsoft.com/office/drawing/2014/main" id="{D8F26E37-3213-92BD-1D34-4447AFCC48B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B6BFD40-EC3B-0046-EC0A-8172595247DA}"/>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1327465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E371EC-FAB2-CB3C-B5ED-CB46DC3C636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33270E4-01F7-285B-EEE0-BA619B52E7F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93439DB-7674-469A-69ED-DE07C3CC483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543B70F-0190-EA6A-B04B-56BD43C056A7}"/>
              </a:ext>
            </a:extLst>
          </p:cNvPr>
          <p:cNvSpPr>
            <a:spLocks noGrp="1"/>
          </p:cNvSpPr>
          <p:nvPr>
            <p:ph type="dt" sz="half" idx="10"/>
          </p:nvPr>
        </p:nvSpPr>
        <p:spPr/>
        <p:txBody>
          <a:bodyPr/>
          <a:lstStyle/>
          <a:p>
            <a:fld id="{A2162964-48FF-B442-ADB9-E9DB1215FFC5}" type="datetimeFigureOut">
              <a:rPr lang="fr-FR" smtClean="0"/>
              <a:t>15/10/2025</a:t>
            </a:fld>
            <a:endParaRPr lang="fr-FR"/>
          </a:p>
        </p:txBody>
      </p:sp>
      <p:sp>
        <p:nvSpPr>
          <p:cNvPr id="6" name="Espace réservé du pied de page 5">
            <a:extLst>
              <a:ext uri="{FF2B5EF4-FFF2-40B4-BE49-F238E27FC236}">
                <a16:creationId xmlns:a16="http://schemas.microsoft.com/office/drawing/2014/main" id="{1B01FC1F-1720-D812-1006-9180AFD81F2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97AAF23-9BB5-D601-E025-9468874F2687}"/>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1632122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3EFC5E-063F-5A64-F3BF-59699053759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AF91DFD-BDCC-DB93-5F0C-9B7DB59DD9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A5F3B64-8354-81FC-838E-6DCD580F898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062BC3B-4E78-E4E9-CE9D-735F40C2B0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90B8A41-F448-FB07-2D0E-C6AE8FDAA2B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6584554-76F3-7C7B-5EFD-47FD02E4971D}"/>
              </a:ext>
            </a:extLst>
          </p:cNvPr>
          <p:cNvSpPr>
            <a:spLocks noGrp="1"/>
          </p:cNvSpPr>
          <p:nvPr>
            <p:ph type="dt" sz="half" idx="10"/>
          </p:nvPr>
        </p:nvSpPr>
        <p:spPr/>
        <p:txBody>
          <a:bodyPr/>
          <a:lstStyle/>
          <a:p>
            <a:fld id="{A2162964-48FF-B442-ADB9-E9DB1215FFC5}" type="datetimeFigureOut">
              <a:rPr lang="fr-FR" smtClean="0"/>
              <a:t>15/10/2025</a:t>
            </a:fld>
            <a:endParaRPr lang="fr-FR"/>
          </a:p>
        </p:txBody>
      </p:sp>
      <p:sp>
        <p:nvSpPr>
          <p:cNvPr id="8" name="Espace réservé du pied de page 7">
            <a:extLst>
              <a:ext uri="{FF2B5EF4-FFF2-40B4-BE49-F238E27FC236}">
                <a16:creationId xmlns:a16="http://schemas.microsoft.com/office/drawing/2014/main" id="{0B6D519B-50FE-B808-93BE-6E9CB894F6D9}"/>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B1D269D-642A-703F-326E-A191EFC907F9}"/>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262977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79E2CF-7ED7-59E7-78F6-41E74B98408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352359E8-ADE2-C5B6-1B2F-C12531B3CBB9}"/>
              </a:ext>
            </a:extLst>
          </p:cNvPr>
          <p:cNvSpPr>
            <a:spLocks noGrp="1"/>
          </p:cNvSpPr>
          <p:nvPr>
            <p:ph type="dt" sz="half" idx="10"/>
          </p:nvPr>
        </p:nvSpPr>
        <p:spPr/>
        <p:txBody>
          <a:bodyPr/>
          <a:lstStyle/>
          <a:p>
            <a:fld id="{A2162964-48FF-B442-ADB9-E9DB1215FFC5}" type="datetimeFigureOut">
              <a:rPr lang="fr-FR" smtClean="0"/>
              <a:t>15/10/2025</a:t>
            </a:fld>
            <a:endParaRPr lang="fr-FR"/>
          </a:p>
        </p:txBody>
      </p:sp>
      <p:sp>
        <p:nvSpPr>
          <p:cNvPr id="4" name="Espace réservé du pied de page 3">
            <a:extLst>
              <a:ext uri="{FF2B5EF4-FFF2-40B4-BE49-F238E27FC236}">
                <a16:creationId xmlns:a16="http://schemas.microsoft.com/office/drawing/2014/main" id="{E96DBC21-79FF-B1A7-728A-2A2865B52B8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76F6051-ED27-9D12-E32F-72D4B4FC95A1}"/>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3631588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E9C047B-1105-576E-BB5F-E3C74B891D26}"/>
              </a:ext>
            </a:extLst>
          </p:cNvPr>
          <p:cNvSpPr>
            <a:spLocks noGrp="1"/>
          </p:cNvSpPr>
          <p:nvPr>
            <p:ph type="dt" sz="half" idx="10"/>
          </p:nvPr>
        </p:nvSpPr>
        <p:spPr/>
        <p:txBody>
          <a:bodyPr/>
          <a:lstStyle/>
          <a:p>
            <a:fld id="{A2162964-48FF-B442-ADB9-E9DB1215FFC5}" type="datetimeFigureOut">
              <a:rPr lang="fr-FR" smtClean="0"/>
              <a:t>15/10/2025</a:t>
            </a:fld>
            <a:endParaRPr lang="fr-FR"/>
          </a:p>
        </p:txBody>
      </p:sp>
      <p:sp>
        <p:nvSpPr>
          <p:cNvPr id="3" name="Espace réservé du pied de page 2">
            <a:extLst>
              <a:ext uri="{FF2B5EF4-FFF2-40B4-BE49-F238E27FC236}">
                <a16:creationId xmlns:a16="http://schemas.microsoft.com/office/drawing/2014/main" id="{B97F1442-0E91-19A1-0A23-000C8C19AF6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D265620F-BE9A-FBB6-A6B6-270A9415A22E}"/>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2065287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631F50-4F8F-8617-18E7-D03CDB678BC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C890FAA9-AA21-1505-D58A-319C64A72A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54F6815-D71C-F3B0-2C27-DFD7D0E8EF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6341961-D7B8-A4DD-F9C6-DC9F56D30FFB}"/>
              </a:ext>
            </a:extLst>
          </p:cNvPr>
          <p:cNvSpPr>
            <a:spLocks noGrp="1"/>
          </p:cNvSpPr>
          <p:nvPr>
            <p:ph type="dt" sz="half" idx="10"/>
          </p:nvPr>
        </p:nvSpPr>
        <p:spPr/>
        <p:txBody>
          <a:bodyPr/>
          <a:lstStyle/>
          <a:p>
            <a:fld id="{A2162964-48FF-B442-ADB9-E9DB1215FFC5}" type="datetimeFigureOut">
              <a:rPr lang="fr-FR" smtClean="0"/>
              <a:t>15/10/2025</a:t>
            </a:fld>
            <a:endParaRPr lang="fr-FR"/>
          </a:p>
        </p:txBody>
      </p:sp>
      <p:sp>
        <p:nvSpPr>
          <p:cNvPr id="6" name="Espace réservé du pied de page 5">
            <a:extLst>
              <a:ext uri="{FF2B5EF4-FFF2-40B4-BE49-F238E27FC236}">
                <a16:creationId xmlns:a16="http://schemas.microsoft.com/office/drawing/2014/main" id="{249D8F1E-454F-877A-8AA1-E2AF524EFE7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E41CB8F-695A-F4D3-6096-E7842D702809}"/>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3507053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453551-3194-6A78-F9EB-6F6AC6D570F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A1755E6-4BF5-43C9-697E-5450002250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5513E2B-98CC-490A-8177-32E56F78B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2EE05CE-CC7F-FCD2-3D38-70CA1A98979E}"/>
              </a:ext>
            </a:extLst>
          </p:cNvPr>
          <p:cNvSpPr>
            <a:spLocks noGrp="1"/>
          </p:cNvSpPr>
          <p:nvPr>
            <p:ph type="dt" sz="half" idx="10"/>
          </p:nvPr>
        </p:nvSpPr>
        <p:spPr/>
        <p:txBody>
          <a:bodyPr/>
          <a:lstStyle/>
          <a:p>
            <a:fld id="{A2162964-48FF-B442-ADB9-E9DB1215FFC5}" type="datetimeFigureOut">
              <a:rPr lang="fr-FR" smtClean="0"/>
              <a:t>15/10/2025</a:t>
            </a:fld>
            <a:endParaRPr lang="fr-FR"/>
          </a:p>
        </p:txBody>
      </p:sp>
      <p:sp>
        <p:nvSpPr>
          <p:cNvPr id="6" name="Espace réservé du pied de page 5">
            <a:extLst>
              <a:ext uri="{FF2B5EF4-FFF2-40B4-BE49-F238E27FC236}">
                <a16:creationId xmlns:a16="http://schemas.microsoft.com/office/drawing/2014/main" id="{83AD8C10-A04D-6738-BE3B-919401A2BA1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34F2F1-9D94-49BD-2594-D9A00AF7DECF}"/>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1456171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F6BD3B-4501-31BF-1147-CB7A59CACB3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E391CF0-E05F-6846-247F-1667ED45A57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CE3197D-17BB-671A-91F1-E195A58B3F7C}"/>
              </a:ext>
            </a:extLst>
          </p:cNvPr>
          <p:cNvSpPr>
            <a:spLocks noGrp="1"/>
          </p:cNvSpPr>
          <p:nvPr>
            <p:ph type="dt" sz="half" idx="10"/>
          </p:nvPr>
        </p:nvSpPr>
        <p:spPr/>
        <p:txBody>
          <a:bodyPr/>
          <a:lstStyle/>
          <a:p>
            <a:fld id="{A2162964-48FF-B442-ADB9-E9DB1215FFC5}" type="datetimeFigureOut">
              <a:rPr lang="fr-FR" smtClean="0"/>
              <a:t>15/10/2025</a:t>
            </a:fld>
            <a:endParaRPr lang="fr-FR"/>
          </a:p>
        </p:txBody>
      </p:sp>
      <p:sp>
        <p:nvSpPr>
          <p:cNvPr id="5" name="Espace réservé du pied de page 4">
            <a:extLst>
              <a:ext uri="{FF2B5EF4-FFF2-40B4-BE49-F238E27FC236}">
                <a16:creationId xmlns:a16="http://schemas.microsoft.com/office/drawing/2014/main" id="{75EE5A5D-9006-CFEA-3814-A9ADF2B756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577A93-3B3D-EED0-A871-92CA7E111B2E}"/>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1948897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955FB91-A790-4D0E-FC11-72136AAC75E0}"/>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AE46840-BBB0-91BC-F1E9-CF3BB3C1A30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107BDC8-288E-F60C-D7E3-6F79C7FB76B1}"/>
              </a:ext>
            </a:extLst>
          </p:cNvPr>
          <p:cNvSpPr>
            <a:spLocks noGrp="1"/>
          </p:cNvSpPr>
          <p:nvPr>
            <p:ph type="dt" sz="half" idx="10"/>
          </p:nvPr>
        </p:nvSpPr>
        <p:spPr/>
        <p:txBody>
          <a:bodyPr/>
          <a:lstStyle/>
          <a:p>
            <a:fld id="{A2162964-48FF-B442-ADB9-E9DB1215FFC5}" type="datetimeFigureOut">
              <a:rPr lang="fr-FR" smtClean="0"/>
              <a:t>15/10/2025</a:t>
            </a:fld>
            <a:endParaRPr lang="fr-FR"/>
          </a:p>
        </p:txBody>
      </p:sp>
      <p:sp>
        <p:nvSpPr>
          <p:cNvPr id="5" name="Espace réservé du pied de page 4">
            <a:extLst>
              <a:ext uri="{FF2B5EF4-FFF2-40B4-BE49-F238E27FC236}">
                <a16:creationId xmlns:a16="http://schemas.microsoft.com/office/drawing/2014/main" id="{99D1564F-0EAB-21F9-8061-C8C84B2BF4F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FF30C1A-25A0-5BEF-AA63-9A0F250243C2}"/>
              </a:ext>
            </a:extLst>
          </p:cNvPr>
          <p:cNvSpPr>
            <a:spLocks noGrp="1"/>
          </p:cNvSpPr>
          <p:nvPr>
            <p:ph type="sldNum" sz="quarter" idx="12"/>
          </p:nvPr>
        </p:nvSpPr>
        <p:spPr/>
        <p:txBody>
          <a:bodyPr/>
          <a:lstStyle/>
          <a:p>
            <a:fld id="{E81B955D-3F29-3D44-8890-49D35BF3EF10}" type="slidenum">
              <a:rPr lang="fr-FR" smtClean="0"/>
              <a:t>‹N°›</a:t>
            </a:fld>
            <a:endParaRPr lang="fr-FR"/>
          </a:p>
        </p:txBody>
      </p:sp>
    </p:spTree>
    <p:extLst>
      <p:ext uri="{BB962C8B-B14F-4D97-AF65-F5344CB8AC3E}">
        <p14:creationId xmlns:p14="http://schemas.microsoft.com/office/powerpoint/2010/main" val="2049423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7D0CF59-DB30-DAA5-B277-BB642DA1E5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ED14CE7B-D5CB-F92C-4FFD-410FD8D12A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368F307-E163-90F9-E60B-8BA0EAA329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162964-48FF-B442-ADB9-E9DB1215FFC5}" type="datetimeFigureOut">
              <a:rPr lang="fr-FR" smtClean="0"/>
              <a:t>15/10/2025</a:t>
            </a:fld>
            <a:endParaRPr lang="fr-FR"/>
          </a:p>
        </p:txBody>
      </p:sp>
      <p:sp>
        <p:nvSpPr>
          <p:cNvPr id="5" name="Espace réservé du pied de page 4">
            <a:extLst>
              <a:ext uri="{FF2B5EF4-FFF2-40B4-BE49-F238E27FC236}">
                <a16:creationId xmlns:a16="http://schemas.microsoft.com/office/drawing/2014/main" id="{094C8767-DAC1-ADC6-D4C3-D7A047B3A9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007C143-938B-F217-2EF4-972C5DD5AF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1B955D-3F29-3D44-8890-49D35BF3EF10}" type="slidenum">
              <a:rPr lang="fr-FR" smtClean="0"/>
              <a:t>‹N°›</a:t>
            </a:fld>
            <a:endParaRPr lang="fr-FR"/>
          </a:p>
        </p:txBody>
      </p:sp>
    </p:spTree>
    <p:extLst>
      <p:ext uri="{BB962C8B-B14F-4D97-AF65-F5344CB8AC3E}">
        <p14:creationId xmlns:p14="http://schemas.microsoft.com/office/powerpoint/2010/main" val="365460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a:extLst>
              <a:ext uri="{FF2B5EF4-FFF2-40B4-BE49-F238E27FC236}">
                <a16:creationId xmlns:a16="http://schemas.microsoft.com/office/drawing/2014/main" id="{2109600A-93DD-1FEE-F592-1F036BE54CDB}"/>
              </a:ext>
            </a:extLst>
          </p:cNvPr>
          <p:cNvGraphicFramePr>
            <a:graphicFrameLocks noGrp="1"/>
          </p:cNvGraphicFramePr>
          <p:nvPr>
            <p:extLst>
              <p:ext uri="{D42A27DB-BD31-4B8C-83A1-F6EECF244321}">
                <p14:modId xmlns:p14="http://schemas.microsoft.com/office/powerpoint/2010/main" val="2188885772"/>
              </p:ext>
            </p:extLst>
          </p:nvPr>
        </p:nvGraphicFramePr>
        <p:xfrm>
          <a:off x="5578879" y="497782"/>
          <a:ext cx="5189542" cy="4980436"/>
        </p:xfrm>
        <a:graphic>
          <a:graphicData uri="http://schemas.openxmlformats.org/drawingml/2006/table">
            <a:tbl>
              <a:tblPr firstRow="1" bandRow="1">
                <a:tableStyleId>{5C22544A-7EE6-4342-B048-85BDC9FD1C3A}</a:tableStyleId>
              </a:tblPr>
              <a:tblGrid>
                <a:gridCol w="768668">
                  <a:extLst>
                    <a:ext uri="{9D8B030D-6E8A-4147-A177-3AD203B41FA5}">
                      <a16:colId xmlns:a16="http://schemas.microsoft.com/office/drawing/2014/main" val="1224792426"/>
                    </a:ext>
                  </a:extLst>
                </a:gridCol>
                <a:gridCol w="2210437">
                  <a:extLst>
                    <a:ext uri="{9D8B030D-6E8A-4147-A177-3AD203B41FA5}">
                      <a16:colId xmlns:a16="http://schemas.microsoft.com/office/drawing/2014/main" val="348916069"/>
                    </a:ext>
                  </a:extLst>
                </a:gridCol>
                <a:gridCol w="2210437">
                  <a:extLst>
                    <a:ext uri="{9D8B030D-6E8A-4147-A177-3AD203B41FA5}">
                      <a16:colId xmlns:a16="http://schemas.microsoft.com/office/drawing/2014/main" val="1524678273"/>
                    </a:ext>
                  </a:extLst>
                </a:gridCol>
              </a:tblGrid>
              <a:tr h="457348">
                <a:tc>
                  <a:txBody>
                    <a:bodyPr/>
                    <a:lstStyle/>
                    <a:p>
                      <a:endParaRPr lang="fr-FR" dirty="0"/>
                    </a:p>
                  </a:txBody>
                  <a:tcPr/>
                </a:tc>
                <a:tc>
                  <a:txBody>
                    <a:bodyPr/>
                    <a:lstStyle/>
                    <a:p>
                      <a:pPr algn="ctr"/>
                      <a:r>
                        <a:rPr lang="fr-FR" dirty="0"/>
                        <a:t>Samedi</a:t>
                      </a:r>
                    </a:p>
                  </a:txBody>
                  <a:tcPr/>
                </a:tc>
                <a:tc>
                  <a:txBody>
                    <a:bodyPr/>
                    <a:lstStyle/>
                    <a:p>
                      <a:pPr algn="ctr"/>
                      <a:r>
                        <a:rPr lang="fr-FR" dirty="0"/>
                        <a:t>Dimanche</a:t>
                      </a:r>
                    </a:p>
                  </a:txBody>
                  <a:tcPr/>
                </a:tc>
                <a:extLst>
                  <a:ext uri="{0D108BD9-81ED-4DB2-BD59-A6C34878D82A}">
                    <a16:rowId xmlns:a16="http://schemas.microsoft.com/office/drawing/2014/main" val="1324259806"/>
                  </a:ext>
                </a:extLst>
              </a:tr>
              <a:tr h="205592">
                <a:tc>
                  <a:txBody>
                    <a:bodyPr/>
                    <a:lstStyle/>
                    <a:p>
                      <a:r>
                        <a:rPr lang="fr-FR" sz="1400" dirty="0"/>
                        <a:t>7h30</a:t>
                      </a:r>
                    </a:p>
                  </a:txBody>
                  <a:tcPr/>
                </a:tc>
                <a:tc>
                  <a:txBody>
                    <a:bodyPr/>
                    <a:lstStyle/>
                    <a:p>
                      <a:r>
                        <a:rPr lang="fr-FR" sz="1400" dirty="0"/>
                        <a:t>Petit déjeuner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Petit déjeuner</a:t>
                      </a:r>
                    </a:p>
                  </a:txBody>
                  <a:tcPr/>
                </a:tc>
                <a:extLst>
                  <a:ext uri="{0D108BD9-81ED-4DB2-BD59-A6C34878D82A}">
                    <a16:rowId xmlns:a16="http://schemas.microsoft.com/office/drawing/2014/main" val="949987163"/>
                  </a:ext>
                </a:extLst>
              </a:tr>
              <a:tr h="1442893">
                <a:tc>
                  <a:txBody>
                    <a:bodyPr/>
                    <a:lstStyle/>
                    <a:p>
                      <a:r>
                        <a:rPr lang="fr-FR" sz="1600" dirty="0"/>
                        <a:t>9h00</a:t>
                      </a:r>
                    </a:p>
                  </a:txBody>
                  <a:tcPr/>
                </a:tc>
                <a:tc>
                  <a:txBody>
                    <a:bodyPr/>
                    <a:lstStyle/>
                    <a:p>
                      <a:pPr algn="ctr"/>
                      <a:r>
                        <a:rPr lang="fr-FR" sz="1600" dirty="0"/>
                        <a:t>Plongée 1</a:t>
                      </a:r>
                    </a:p>
                    <a:p>
                      <a:pPr algn="ctr"/>
                      <a:r>
                        <a:rPr lang="fr-FR" sz="1400" dirty="0"/>
                        <a:t>12m</a:t>
                      </a:r>
                    </a:p>
                    <a:p>
                      <a:r>
                        <a:rPr lang="fr-FR" sz="1400" dirty="0"/>
                        <a:t>Lestage</a:t>
                      </a:r>
                    </a:p>
                    <a:p>
                      <a:r>
                        <a:rPr lang="fr-FR" sz="1400" dirty="0"/>
                        <a:t>VDM</a:t>
                      </a:r>
                    </a:p>
                    <a:p>
                      <a:r>
                        <a:rPr lang="fr-FR" sz="1400" dirty="0"/>
                        <a:t>B.C</a:t>
                      </a:r>
                    </a:p>
                  </a:txBody>
                  <a:tcPr/>
                </a:tc>
                <a:tc>
                  <a:txBody>
                    <a:bodyPr/>
                    <a:lstStyle/>
                    <a:p>
                      <a:pPr algn="ctr"/>
                      <a:r>
                        <a:rPr lang="fr-FR" sz="1600" dirty="0"/>
                        <a:t>Plongée 3</a:t>
                      </a:r>
                    </a:p>
                    <a:p>
                      <a:pPr algn="ctr"/>
                      <a:r>
                        <a:rPr lang="fr-FR" sz="1400" dirty="0"/>
                        <a:t>20m</a:t>
                      </a:r>
                    </a:p>
                    <a:p>
                      <a:pPr algn="l"/>
                      <a:r>
                        <a:rPr lang="fr-FR" sz="1400" dirty="0"/>
                        <a:t>VDM</a:t>
                      </a:r>
                    </a:p>
                    <a:p>
                      <a:pPr algn="l"/>
                      <a:r>
                        <a:rPr lang="fr-FR" sz="1400" dirty="0"/>
                        <a:t>B.C.</a:t>
                      </a:r>
                    </a:p>
                  </a:txBody>
                  <a:tcPr/>
                </a:tc>
                <a:extLst>
                  <a:ext uri="{0D108BD9-81ED-4DB2-BD59-A6C34878D82A}">
                    <a16:rowId xmlns:a16="http://schemas.microsoft.com/office/drawing/2014/main" val="1490336253"/>
                  </a:ext>
                </a:extLst>
              </a:tr>
              <a:tr h="246239">
                <a:tc>
                  <a:txBody>
                    <a:bodyPr/>
                    <a:lstStyle/>
                    <a:p>
                      <a:r>
                        <a:rPr lang="fr-FR" sz="1400" dirty="0"/>
                        <a:t>12h00</a:t>
                      </a:r>
                    </a:p>
                  </a:txBody>
                  <a:tcPr/>
                </a:tc>
                <a:tc>
                  <a:txBody>
                    <a:bodyPr/>
                    <a:lstStyle/>
                    <a:p>
                      <a:r>
                        <a:rPr lang="fr-FR" sz="1400" dirty="0"/>
                        <a:t>Repas</a:t>
                      </a:r>
                    </a:p>
                  </a:txBody>
                  <a:tcPr/>
                </a:tc>
                <a:tc>
                  <a:txBody>
                    <a:bodyPr/>
                    <a:lstStyle/>
                    <a:p>
                      <a:r>
                        <a:rPr lang="fr-FR" sz="1400" dirty="0"/>
                        <a:t>Repas</a:t>
                      </a:r>
                    </a:p>
                  </a:txBody>
                  <a:tcPr/>
                </a:tc>
                <a:extLst>
                  <a:ext uri="{0D108BD9-81ED-4DB2-BD59-A6C34878D82A}">
                    <a16:rowId xmlns:a16="http://schemas.microsoft.com/office/drawing/2014/main" val="2729465631"/>
                  </a:ext>
                </a:extLst>
              </a:tr>
              <a:tr h="1810699">
                <a:tc>
                  <a:txBody>
                    <a:bodyPr/>
                    <a:lstStyle/>
                    <a:p>
                      <a:r>
                        <a:rPr lang="fr-FR" sz="1600" dirty="0"/>
                        <a:t>14h30</a:t>
                      </a:r>
                    </a:p>
                  </a:txBody>
                  <a:tcPr/>
                </a:tc>
                <a:tc>
                  <a:txBody>
                    <a:bodyPr/>
                    <a:lstStyle/>
                    <a:p>
                      <a:pPr algn="ctr"/>
                      <a:r>
                        <a:rPr lang="fr-FR" sz="1600" dirty="0"/>
                        <a:t>Plongée 2</a:t>
                      </a:r>
                    </a:p>
                    <a:p>
                      <a:pPr algn="ctr"/>
                      <a:r>
                        <a:rPr lang="fr-FR" sz="1400" dirty="0"/>
                        <a:t>12m</a:t>
                      </a:r>
                    </a:p>
                    <a:p>
                      <a:r>
                        <a:rPr lang="fr-FR" sz="1400" dirty="0"/>
                        <a:t>Signes</a:t>
                      </a:r>
                    </a:p>
                    <a:p>
                      <a:r>
                        <a:rPr lang="fr-FR" sz="1400" dirty="0"/>
                        <a:t>B.C.</a:t>
                      </a:r>
                    </a:p>
                  </a:txBody>
                  <a:tcPr/>
                </a:tc>
                <a:tc>
                  <a:txBody>
                    <a:bodyPr/>
                    <a:lstStyle/>
                    <a:p>
                      <a:pPr algn="ctr"/>
                      <a:r>
                        <a:rPr lang="fr-FR" sz="1600" dirty="0"/>
                        <a:t>Plongée 4</a:t>
                      </a:r>
                    </a:p>
                    <a:p>
                      <a:pPr algn="ctr"/>
                      <a:r>
                        <a:rPr lang="fr-FR" sz="1400" dirty="0"/>
                        <a:t>20m</a:t>
                      </a:r>
                    </a:p>
                    <a:p>
                      <a:pPr algn="l"/>
                      <a:r>
                        <a:rPr lang="fr-FR" sz="1400" dirty="0"/>
                        <a:t>REC</a:t>
                      </a:r>
                    </a:p>
                    <a:p>
                      <a:pPr algn="l"/>
                      <a:r>
                        <a:rPr lang="fr-FR" sz="1400" dirty="0"/>
                        <a:t>B.C</a:t>
                      </a:r>
                    </a:p>
                  </a:txBody>
                  <a:tcPr/>
                </a:tc>
                <a:extLst>
                  <a:ext uri="{0D108BD9-81ED-4DB2-BD59-A6C34878D82A}">
                    <a16:rowId xmlns:a16="http://schemas.microsoft.com/office/drawing/2014/main" val="4111650527"/>
                  </a:ext>
                </a:extLst>
              </a:tr>
              <a:tr h="324616">
                <a:tc>
                  <a:txBody>
                    <a:bodyPr/>
                    <a:lstStyle/>
                    <a:p>
                      <a:r>
                        <a:rPr lang="fr-FR" sz="1600" dirty="0"/>
                        <a:t>17h30</a:t>
                      </a:r>
                    </a:p>
                  </a:txBody>
                  <a:tcPr/>
                </a:tc>
                <a:tc>
                  <a:txBody>
                    <a:bodyPr/>
                    <a:lstStyle/>
                    <a:p>
                      <a:r>
                        <a:rPr lang="fr-FR" sz="1600" dirty="0"/>
                        <a:t>Debrief moniteurs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Debrief moniteurs</a:t>
                      </a:r>
                    </a:p>
                  </a:txBody>
                  <a:tcPr/>
                </a:tc>
                <a:extLst>
                  <a:ext uri="{0D108BD9-81ED-4DB2-BD59-A6C34878D82A}">
                    <a16:rowId xmlns:a16="http://schemas.microsoft.com/office/drawing/2014/main" val="2655640843"/>
                  </a:ext>
                </a:extLst>
              </a:tr>
              <a:tr h="324616">
                <a:tc>
                  <a:txBody>
                    <a:bodyPr/>
                    <a:lstStyle/>
                    <a:p>
                      <a:r>
                        <a:rPr lang="fr-FR" sz="1400" dirty="0"/>
                        <a:t>19h30</a:t>
                      </a:r>
                    </a:p>
                  </a:txBody>
                  <a:tcPr/>
                </a:tc>
                <a:tc>
                  <a:txBody>
                    <a:bodyPr/>
                    <a:lstStyle/>
                    <a:p>
                      <a:r>
                        <a:rPr lang="fr-FR" sz="1400" dirty="0"/>
                        <a:t>Repas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Repas</a:t>
                      </a:r>
                    </a:p>
                  </a:txBody>
                  <a:tcPr/>
                </a:tc>
                <a:extLst>
                  <a:ext uri="{0D108BD9-81ED-4DB2-BD59-A6C34878D82A}">
                    <a16:rowId xmlns:a16="http://schemas.microsoft.com/office/drawing/2014/main" val="4083839430"/>
                  </a:ext>
                </a:extLst>
              </a:tr>
            </a:tbl>
          </a:graphicData>
        </a:graphic>
      </p:graphicFrame>
      <p:sp>
        <p:nvSpPr>
          <p:cNvPr id="2" name="ZoneTexte 1">
            <a:extLst>
              <a:ext uri="{FF2B5EF4-FFF2-40B4-BE49-F238E27FC236}">
                <a16:creationId xmlns:a16="http://schemas.microsoft.com/office/drawing/2014/main" id="{5D0E774A-3B90-136A-9BC6-60A604DD09CB}"/>
              </a:ext>
            </a:extLst>
          </p:cNvPr>
          <p:cNvSpPr txBox="1"/>
          <p:nvPr/>
        </p:nvSpPr>
        <p:spPr>
          <a:xfrm>
            <a:off x="0" y="46903"/>
            <a:ext cx="12192000" cy="369332"/>
          </a:xfrm>
          <a:prstGeom prst="rect">
            <a:avLst/>
          </a:prstGeom>
          <a:noFill/>
        </p:spPr>
        <p:txBody>
          <a:bodyPr wrap="square" rtlCol="0">
            <a:spAutoFit/>
          </a:bodyPr>
          <a:lstStyle/>
          <a:p>
            <a:pPr algn="ctr"/>
            <a:r>
              <a:rPr lang="fr-FR" dirty="0"/>
              <a:t>Séjour N1: Bateau Bounty sur Petit chaudron</a:t>
            </a:r>
          </a:p>
        </p:txBody>
      </p:sp>
      <p:sp>
        <p:nvSpPr>
          <p:cNvPr id="3" name="ZoneTexte 2">
            <a:extLst>
              <a:ext uri="{FF2B5EF4-FFF2-40B4-BE49-F238E27FC236}">
                <a16:creationId xmlns:a16="http://schemas.microsoft.com/office/drawing/2014/main" id="{CAB6CC73-A033-E436-635E-C10B6F4B5C53}"/>
              </a:ext>
            </a:extLst>
          </p:cNvPr>
          <p:cNvSpPr txBox="1"/>
          <p:nvPr/>
        </p:nvSpPr>
        <p:spPr>
          <a:xfrm>
            <a:off x="165808" y="3075652"/>
            <a:ext cx="2585066" cy="1846659"/>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fr-FR" b="1" dirty="0"/>
              <a:t>Site: Petit chaudron</a:t>
            </a:r>
          </a:p>
          <a:p>
            <a:pPr marL="285750" indent="-285750">
              <a:buFont typeface="Arial" panose="020B0604020202020204" pitchFamily="34" charset="0"/>
              <a:buChar char="•"/>
            </a:pPr>
            <a:r>
              <a:rPr lang="fr-FR" sz="1600" dirty="0"/>
              <a:t>Crypte abritée</a:t>
            </a:r>
          </a:p>
          <a:p>
            <a:pPr marL="285750" indent="-285750">
              <a:buFont typeface="Arial" panose="020B0604020202020204" pitchFamily="34" charset="0"/>
              <a:buChar char="•"/>
            </a:pPr>
            <a:r>
              <a:rPr lang="fr-FR" sz="1600" dirty="0"/>
              <a:t>2 plateaux: 12m et 20m</a:t>
            </a:r>
          </a:p>
          <a:p>
            <a:pPr marL="285750" indent="-285750">
              <a:buFont typeface="Arial" panose="020B0604020202020204" pitchFamily="34" charset="0"/>
              <a:buChar char="•"/>
            </a:pPr>
            <a:r>
              <a:rPr lang="fr-FR" sz="1600" dirty="0"/>
              <a:t>Tombant</a:t>
            </a:r>
          </a:p>
          <a:p>
            <a:pPr marL="285750" indent="-285750">
              <a:buFont typeface="Arial" panose="020B0604020202020204" pitchFamily="34" charset="0"/>
              <a:buChar char="•"/>
            </a:pPr>
            <a:r>
              <a:rPr lang="fr-FR" sz="1600" dirty="0"/>
              <a:t>Eau: 23 degrés</a:t>
            </a:r>
          </a:p>
          <a:p>
            <a:pPr marL="285750" indent="-285750">
              <a:buFont typeface="Arial" panose="020B0604020202020204" pitchFamily="34" charset="0"/>
              <a:buChar char="•"/>
            </a:pPr>
            <a:r>
              <a:rPr lang="fr-FR" sz="1600" dirty="0"/>
              <a:t>Soleil pas de vent</a:t>
            </a:r>
          </a:p>
          <a:p>
            <a:pPr marL="285750" indent="-285750">
              <a:buFont typeface="Arial" panose="020B0604020202020204" pitchFamily="34" charset="0"/>
              <a:buChar char="•"/>
            </a:pPr>
            <a:r>
              <a:rPr lang="fr-FR" sz="1600" dirty="0"/>
              <a:t>Pas de courant</a:t>
            </a:r>
          </a:p>
        </p:txBody>
      </p:sp>
      <p:sp>
        <p:nvSpPr>
          <p:cNvPr id="6" name="Rectangle : coins arrondis 5">
            <a:extLst>
              <a:ext uri="{FF2B5EF4-FFF2-40B4-BE49-F238E27FC236}">
                <a16:creationId xmlns:a16="http://schemas.microsoft.com/office/drawing/2014/main" id="{FF29B90B-E008-FAF6-E1B6-8893D9A4C09F}"/>
              </a:ext>
            </a:extLst>
          </p:cNvPr>
          <p:cNvSpPr/>
          <p:nvPr/>
        </p:nvSpPr>
        <p:spPr>
          <a:xfrm>
            <a:off x="6364277" y="5587961"/>
            <a:ext cx="2168665"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Samedi</a:t>
            </a:r>
          </a:p>
        </p:txBody>
      </p:sp>
      <p:sp>
        <p:nvSpPr>
          <p:cNvPr id="7" name="Rectangle : coins arrondis 6">
            <a:extLst>
              <a:ext uri="{FF2B5EF4-FFF2-40B4-BE49-F238E27FC236}">
                <a16:creationId xmlns:a16="http://schemas.microsoft.com/office/drawing/2014/main" id="{C56A6EE9-9F14-202C-140F-1282DABFF7B4}"/>
              </a:ext>
            </a:extLst>
          </p:cNvPr>
          <p:cNvSpPr/>
          <p:nvPr/>
        </p:nvSpPr>
        <p:spPr>
          <a:xfrm>
            <a:off x="8599756" y="5587961"/>
            <a:ext cx="2168665"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Dimanche</a:t>
            </a:r>
          </a:p>
        </p:txBody>
      </p:sp>
      <p:sp>
        <p:nvSpPr>
          <p:cNvPr id="8" name="Rectangle : coins arrondis 7">
            <a:extLst>
              <a:ext uri="{FF2B5EF4-FFF2-40B4-BE49-F238E27FC236}">
                <a16:creationId xmlns:a16="http://schemas.microsoft.com/office/drawing/2014/main" id="{2E110DA7-1F67-4217-899A-1668713C1C62}"/>
              </a:ext>
            </a:extLst>
          </p:cNvPr>
          <p:cNvSpPr/>
          <p:nvPr/>
        </p:nvSpPr>
        <p:spPr>
          <a:xfrm>
            <a:off x="4911865" y="5587961"/>
            <a:ext cx="1385598"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Vendredi</a:t>
            </a:r>
          </a:p>
        </p:txBody>
      </p:sp>
      <p:sp>
        <p:nvSpPr>
          <p:cNvPr id="9" name="Rectangle : coins arrondis 8">
            <a:extLst>
              <a:ext uri="{FF2B5EF4-FFF2-40B4-BE49-F238E27FC236}">
                <a16:creationId xmlns:a16="http://schemas.microsoft.com/office/drawing/2014/main" id="{61EA7791-6BE2-EBA6-E15D-4BEB788F7152}"/>
              </a:ext>
            </a:extLst>
          </p:cNvPr>
          <p:cNvSpPr/>
          <p:nvPr/>
        </p:nvSpPr>
        <p:spPr>
          <a:xfrm>
            <a:off x="10835235" y="5587963"/>
            <a:ext cx="1270449"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Lundi</a:t>
            </a:r>
          </a:p>
        </p:txBody>
      </p:sp>
      <p:sp>
        <p:nvSpPr>
          <p:cNvPr id="10" name="Rectangle : coins arrondis 9">
            <a:extLst>
              <a:ext uri="{FF2B5EF4-FFF2-40B4-BE49-F238E27FC236}">
                <a16:creationId xmlns:a16="http://schemas.microsoft.com/office/drawing/2014/main" id="{454CF99E-97F2-E3F5-4485-A6782E77EE8B}"/>
              </a:ext>
            </a:extLst>
          </p:cNvPr>
          <p:cNvSpPr/>
          <p:nvPr/>
        </p:nvSpPr>
        <p:spPr>
          <a:xfrm>
            <a:off x="2530244" y="5599789"/>
            <a:ext cx="1500159"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Lundi</a:t>
            </a:r>
          </a:p>
        </p:txBody>
      </p:sp>
      <p:sp>
        <p:nvSpPr>
          <p:cNvPr id="11" name="ZoneTexte 10">
            <a:extLst>
              <a:ext uri="{FF2B5EF4-FFF2-40B4-BE49-F238E27FC236}">
                <a16:creationId xmlns:a16="http://schemas.microsoft.com/office/drawing/2014/main" id="{35EB7D97-D14D-B1AF-DA1A-AB936983B4F4}"/>
              </a:ext>
            </a:extLst>
          </p:cNvPr>
          <p:cNvSpPr txBox="1"/>
          <p:nvPr/>
        </p:nvSpPr>
        <p:spPr>
          <a:xfrm>
            <a:off x="10835235" y="5887367"/>
            <a:ext cx="1270448" cy="338554"/>
          </a:xfrm>
          <a:prstGeom prst="rect">
            <a:avLst/>
          </a:prstGeom>
          <a:noFill/>
        </p:spPr>
        <p:txBody>
          <a:bodyPr wrap="square" rtlCol="0">
            <a:spAutoFit/>
          </a:bodyPr>
          <a:lstStyle/>
          <a:p>
            <a:r>
              <a:rPr lang="fr-FR" sz="1600" dirty="0"/>
              <a:t>Retour TGV</a:t>
            </a:r>
          </a:p>
        </p:txBody>
      </p:sp>
      <p:sp>
        <p:nvSpPr>
          <p:cNvPr id="12" name="ZoneTexte 11">
            <a:extLst>
              <a:ext uri="{FF2B5EF4-FFF2-40B4-BE49-F238E27FC236}">
                <a16:creationId xmlns:a16="http://schemas.microsoft.com/office/drawing/2014/main" id="{BA9ED153-F957-2F69-E7B1-3A68CE9C5D31}"/>
              </a:ext>
            </a:extLst>
          </p:cNvPr>
          <p:cNvSpPr txBox="1"/>
          <p:nvPr/>
        </p:nvSpPr>
        <p:spPr>
          <a:xfrm>
            <a:off x="2530244" y="5939033"/>
            <a:ext cx="1500160" cy="338554"/>
          </a:xfrm>
          <a:prstGeom prst="rect">
            <a:avLst/>
          </a:prstGeom>
          <a:noFill/>
        </p:spPr>
        <p:txBody>
          <a:bodyPr wrap="square" rtlCol="0">
            <a:spAutoFit/>
          </a:bodyPr>
          <a:lstStyle/>
          <a:p>
            <a:r>
              <a:rPr lang="fr-FR" sz="1600" dirty="0"/>
              <a:t>Présentation</a:t>
            </a:r>
          </a:p>
        </p:txBody>
      </p:sp>
      <p:sp>
        <p:nvSpPr>
          <p:cNvPr id="13" name="ZoneTexte 12">
            <a:extLst>
              <a:ext uri="{FF2B5EF4-FFF2-40B4-BE49-F238E27FC236}">
                <a16:creationId xmlns:a16="http://schemas.microsoft.com/office/drawing/2014/main" id="{BCB30179-9F1F-242C-F77E-FF86BD33F909}"/>
              </a:ext>
            </a:extLst>
          </p:cNvPr>
          <p:cNvSpPr txBox="1"/>
          <p:nvPr/>
        </p:nvSpPr>
        <p:spPr>
          <a:xfrm>
            <a:off x="4832536" y="5893626"/>
            <a:ext cx="1464927" cy="830997"/>
          </a:xfrm>
          <a:prstGeom prst="rect">
            <a:avLst/>
          </a:prstGeom>
          <a:noFill/>
        </p:spPr>
        <p:txBody>
          <a:bodyPr wrap="square" rtlCol="0">
            <a:spAutoFit/>
          </a:bodyPr>
          <a:lstStyle/>
          <a:p>
            <a:pPr marL="285750" indent="-285750">
              <a:buFont typeface="Arial" panose="020B0604020202020204" pitchFamily="34" charset="0"/>
              <a:buChar char="•"/>
            </a:pPr>
            <a:r>
              <a:rPr lang="fr-FR" sz="1600" dirty="0"/>
              <a:t>Aller TGV</a:t>
            </a:r>
          </a:p>
          <a:p>
            <a:pPr marL="285750" indent="-285750">
              <a:buFont typeface="Arial" panose="020B0604020202020204" pitchFamily="34" charset="0"/>
              <a:buChar char="•"/>
            </a:pPr>
            <a:r>
              <a:rPr lang="fr-FR" sz="1600" dirty="0"/>
              <a:t>Installation</a:t>
            </a:r>
          </a:p>
          <a:p>
            <a:pPr marL="285750" indent="-285750">
              <a:buFont typeface="Arial" panose="020B0604020202020204" pitchFamily="34" charset="0"/>
              <a:buChar char="•"/>
            </a:pPr>
            <a:r>
              <a:rPr lang="fr-FR" sz="1600" dirty="0"/>
              <a:t>Matériel</a:t>
            </a:r>
          </a:p>
        </p:txBody>
      </p:sp>
      <p:sp>
        <p:nvSpPr>
          <p:cNvPr id="14" name="ZoneTexte 13">
            <a:extLst>
              <a:ext uri="{FF2B5EF4-FFF2-40B4-BE49-F238E27FC236}">
                <a16:creationId xmlns:a16="http://schemas.microsoft.com/office/drawing/2014/main" id="{05687229-B2A2-469D-2B2E-0706F0E476CE}"/>
              </a:ext>
            </a:extLst>
          </p:cNvPr>
          <p:cNvSpPr txBox="1"/>
          <p:nvPr/>
        </p:nvSpPr>
        <p:spPr>
          <a:xfrm>
            <a:off x="4097217" y="5040981"/>
            <a:ext cx="814647" cy="1015663"/>
          </a:xfrm>
          <a:prstGeom prst="rect">
            <a:avLst/>
          </a:prstGeom>
          <a:noFill/>
        </p:spPr>
        <p:txBody>
          <a:bodyPr wrap="none" rtlCol="0">
            <a:spAutoFit/>
          </a:bodyPr>
          <a:lstStyle/>
          <a:p>
            <a:r>
              <a:rPr lang="fr-FR" sz="6000" dirty="0"/>
              <a:t>…</a:t>
            </a:r>
          </a:p>
        </p:txBody>
      </p:sp>
      <p:sp>
        <p:nvSpPr>
          <p:cNvPr id="15" name="ZoneTexte 14">
            <a:extLst>
              <a:ext uri="{FF2B5EF4-FFF2-40B4-BE49-F238E27FC236}">
                <a16:creationId xmlns:a16="http://schemas.microsoft.com/office/drawing/2014/main" id="{0F1C91D7-3E1D-96BA-3D14-7B6769FC692A}"/>
              </a:ext>
            </a:extLst>
          </p:cNvPr>
          <p:cNvSpPr txBox="1"/>
          <p:nvPr/>
        </p:nvSpPr>
        <p:spPr>
          <a:xfrm>
            <a:off x="1715596" y="5040981"/>
            <a:ext cx="814647" cy="1015663"/>
          </a:xfrm>
          <a:prstGeom prst="rect">
            <a:avLst/>
          </a:prstGeom>
          <a:noFill/>
        </p:spPr>
        <p:txBody>
          <a:bodyPr wrap="none" rtlCol="0">
            <a:spAutoFit/>
          </a:bodyPr>
          <a:lstStyle/>
          <a:p>
            <a:r>
              <a:rPr lang="fr-FR" sz="6000" dirty="0"/>
              <a:t>…</a:t>
            </a:r>
          </a:p>
        </p:txBody>
      </p:sp>
      <p:sp>
        <p:nvSpPr>
          <p:cNvPr id="16" name="Rectangle : coins arrondis 15">
            <a:extLst>
              <a:ext uri="{FF2B5EF4-FFF2-40B4-BE49-F238E27FC236}">
                <a16:creationId xmlns:a16="http://schemas.microsoft.com/office/drawing/2014/main" id="{9236B619-1E97-DDD7-DE83-03550EA36F82}"/>
              </a:ext>
            </a:extLst>
          </p:cNvPr>
          <p:cNvSpPr/>
          <p:nvPr/>
        </p:nvSpPr>
        <p:spPr>
          <a:xfrm>
            <a:off x="137523" y="5587961"/>
            <a:ext cx="1500159" cy="2994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t>1 mois plutôt</a:t>
            </a:r>
          </a:p>
        </p:txBody>
      </p:sp>
      <p:sp>
        <p:nvSpPr>
          <p:cNvPr id="17" name="ZoneTexte 16">
            <a:extLst>
              <a:ext uri="{FF2B5EF4-FFF2-40B4-BE49-F238E27FC236}">
                <a16:creationId xmlns:a16="http://schemas.microsoft.com/office/drawing/2014/main" id="{EBE0DDDD-745F-5278-57CE-8D7C261AFC9B}"/>
              </a:ext>
            </a:extLst>
          </p:cNvPr>
          <p:cNvSpPr txBox="1"/>
          <p:nvPr/>
        </p:nvSpPr>
        <p:spPr>
          <a:xfrm>
            <a:off x="126422" y="5949579"/>
            <a:ext cx="1500160" cy="338554"/>
          </a:xfrm>
          <a:prstGeom prst="rect">
            <a:avLst/>
          </a:prstGeom>
          <a:noFill/>
        </p:spPr>
        <p:txBody>
          <a:bodyPr wrap="square" rtlCol="0">
            <a:spAutoFit/>
          </a:bodyPr>
          <a:lstStyle/>
          <a:p>
            <a:r>
              <a:rPr lang="fr-FR" sz="1600" dirty="0"/>
              <a:t>Administratif</a:t>
            </a:r>
          </a:p>
        </p:txBody>
      </p:sp>
      <p:sp>
        <p:nvSpPr>
          <p:cNvPr id="18" name="ZoneTexte 17">
            <a:extLst>
              <a:ext uri="{FF2B5EF4-FFF2-40B4-BE49-F238E27FC236}">
                <a16:creationId xmlns:a16="http://schemas.microsoft.com/office/drawing/2014/main" id="{73253DDA-E62B-42B9-D822-00A14F07B3BC}"/>
              </a:ext>
            </a:extLst>
          </p:cNvPr>
          <p:cNvSpPr txBox="1"/>
          <p:nvPr/>
        </p:nvSpPr>
        <p:spPr>
          <a:xfrm>
            <a:off x="6316108" y="5922293"/>
            <a:ext cx="2216833" cy="584775"/>
          </a:xfrm>
          <a:prstGeom prst="rect">
            <a:avLst/>
          </a:prstGeom>
          <a:noFill/>
        </p:spPr>
        <p:txBody>
          <a:bodyPr wrap="square" rtlCol="0">
            <a:spAutoFit/>
          </a:bodyPr>
          <a:lstStyle/>
          <a:p>
            <a:pPr marL="285750" indent="-285750">
              <a:buFont typeface="Arial" panose="020B0604020202020204" pitchFamily="34" charset="0"/>
              <a:buChar char="•"/>
            </a:pPr>
            <a:r>
              <a:rPr lang="fr-FR" sz="1600" dirty="0"/>
              <a:t>Plongées</a:t>
            </a:r>
          </a:p>
          <a:p>
            <a:pPr marL="285750" indent="-285750">
              <a:buFont typeface="Arial" panose="020B0604020202020204" pitchFamily="34" charset="0"/>
              <a:buChar char="•"/>
            </a:pPr>
            <a:r>
              <a:rPr lang="fr-FR" sz="1600" dirty="0"/>
              <a:t>Matériel</a:t>
            </a:r>
          </a:p>
        </p:txBody>
      </p:sp>
      <p:sp>
        <p:nvSpPr>
          <p:cNvPr id="19" name="ZoneTexte 18">
            <a:extLst>
              <a:ext uri="{FF2B5EF4-FFF2-40B4-BE49-F238E27FC236}">
                <a16:creationId xmlns:a16="http://schemas.microsoft.com/office/drawing/2014/main" id="{A680933B-960C-BDFB-A11E-628A22191D4D}"/>
              </a:ext>
            </a:extLst>
          </p:cNvPr>
          <p:cNvSpPr txBox="1"/>
          <p:nvPr/>
        </p:nvSpPr>
        <p:spPr>
          <a:xfrm>
            <a:off x="8516872" y="5922293"/>
            <a:ext cx="2216833" cy="830997"/>
          </a:xfrm>
          <a:prstGeom prst="rect">
            <a:avLst/>
          </a:prstGeom>
          <a:noFill/>
        </p:spPr>
        <p:txBody>
          <a:bodyPr wrap="square" rtlCol="0">
            <a:spAutoFit/>
          </a:bodyPr>
          <a:lstStyle/>
          <a:p>
            <a:pPr marL="285750" indent="-285750">
              <a:buFont typeface="Arial" panose="020B0604020202020204" pitchFamily="34" charset="0"/>
              <a:buChar char="•"/>
            </a:pPr>
            <a:r>
              <a:rPr lang="fr-FR" sz="1600" dirty="0"/>
              <a:t>Plongées</a:t>
            </a:r>
          </a:p>
          <a:p>
            <a:pPr marL="285750" indent="-285750">
              <a:buFont typeface="Arial" panose="020B0604020202020204" pitchFamily="34" charset="0"/>
              <a:buChar char="•"/>
            </a:pPr>
            <a:r>
              <a:rPr lang="fr-FR" sz="1600" dirty="0"/>
              <a:t>Carnet</a:t>
            </a:r>
          </a:p>
          <a:p>
            <a:pPr marL="285750" indent="-285750">
              <a:buFont typeface="Arial" panose="020B0604020202020204" pitchFamily="34" charset="0"/>
              <a:buChar char="•"/>
            </a:pPr>
            <a:r>
              <a:rPr lang="fr-FR" sz="1600" dirty="0"/>
              <a:t>Matériel</a:t>
            </a:r>
          </a:p>
        </p:txBody>
      </p:sp>
      <p:sp>
        <p:nvSpPr>
          <p:cNvPr id="20" name="ZoneTexte 19">
            <a:extLst>
              <a:ext uri="{FF2B5EF4-FFF2-40B4-BE49-F238E27FC236}">
                <a16:creationId xmlns:a16="http://schemas.microsoft.com/office/drawing/2014/main" id="{4168F553-E8FD-1D63-72AA-9D4B9053FA2D}"/>
              </a:ext>
            </a:extLst>
          </p:cNvPr>
          <p:cNvSpPr txBox="1"/>
          <p:nvPr/>
        </p:nvSpPr>
        <p:spPr>
          <a:xfrm>
            <a:off x="181374" y="580413"/>
            <a:ext cx="2585067" cy="1107996"/>
          </a:xfrm>
          <a:prstGeom prst="rect">
            <a:avLst/>
          </a:prstGeom>
          <a:solidFill>
            <a:schemeClr val="accent2">
              <a:lumMod val="20000"/>
              <a:lumOff val="80000"/>
            </a:schemeClr>
          </a:solidFill>
          <a:ln>
            <a:solidFill>
              <a:schemeClr val="accent2">
                <a:lumMod val="75000"/>
              </a:schemeClr>
            </a:solidFill>
          </a:ln>
        </p:spPr>
        <p:txBody>
          <a:bodyPr wrap="none" rtlCol="0">
            <a:spAutoFit/>
          </a:bodyPr>
          <a:lstStyle/>
          <a:p>
            <a:pPr algn="ctr"/>
            <a:r>
              <a:rPr lang="fr-FR" b="1" dirty="0"/>
              <a:t>Contexte</a:t>
            </a:r>
          </a:p>
          <a:p>
            <a:pPr marL="285750" indent="-285750">
              <a:buFont typeface="Arial" panose="020B0604020202020204" pitchFamily="34" charset="0"/>
              <a:buChar char="•"/>
            </a:pPr>
            <a:r>
              <a:rPr lang="fr-FR" sz="1600" dirty="0"/>
              <a:t>4 N1 - validation piscine</a:t>
            </a:r>
          </a:p>
          <a:p>
            <a:pPr marL="285750" indent="-285750">
              <a:buFont typeface="Arial" panose="020B0604020202020204" pitchFamily="34" charset="0"/>
              <a:buChar char="•"/>
            </a:pPr>
            <a:r>
              <a:rPr lang="fr-FR" sz="1600" dirty="0"/>
              <a:t>1 fosse à 20m</a:t>
            </a:r>
          </a:p>
          <a:p>
            <a:pPr marL="285750" indent="-285750">
              <a:buFont typeface="Arial" panose="020B0604020202020204" pitchFamily="34" charset="0"/>
              <a:buChar char="•"/>
            </a:pPr>
            <a:r>
              <a:rPr lang="fr-FR" sz="1600" dirty="0"/>
              <a:t>2 E2</a:t>
            </a:r>
          </a:p>
        </p:txBody>
      </p:sp>
      <p:sp>
        <p:nvSpPr>
          <p:cNvPr id="21" name="ZoneTexte 20">
            <a:extLst>
              <a:ext uri="{FF2B5EF4-FFF2-40B4-BE49-F238E27FC236}">
                <a16:creationId xmlns:a16="http://schemas.microsoft.com/office/drawing/2014/main" id="{E43B56B3-EF17-2898-C13A-B43005CF0BF5}"/>
              </a:ext>
            </a:extLst>
          </p:cNvPr>
          <p:cNvSpPr txBox="1"/>
          <p:nvPr/>
        </p:nvSpPr>
        <p:spPr>
          <a:xfrm>
            <a:off x="181374" y="1812644"/>
            <a:ext cx="2585067" cy="1107996"/>
          </a:xfrm>
          <a:prstGeom prst="rect">
            <a:avLst/>
          </a:prstGeom>
          <a:solidFill>
            <a:schemeClr val="accent4">
              <a:lumMod val="20000"/>
              <a:lumOff val="80000"/>
            </a:schemeClr>
          </a:solidFill>
          <a:ln>
            <a:solidFill>
              <a:schemeClr val="accent1">
                <a:lumMod val="75000"/>
              </a:schemeClr>
            </a:solidFill>
          </a:ln>
        </p:spPr>
        <p:txBody>
          <a:bodyPr wrap="square" rtlCol="0">
            <a:spAutoFit/>
          </a:bodyPr>
          <a:lstStyle/>
          <a:p>
            <a:pPr algn="ctr"/>
            <a:r>
              <a:rPr lang="fr-FR" b="1" dirty="0"/>
              <a:t>Logement</a:t>
            </a:r>
          </a:p>
          <a:p>
            <a:pPr marL="285750" indent="-285750">
              <a:buFont typeface="Arial" panose="020B0604020202020204" pitchFamily="34" charset="0"/>
              <a:buChar char="•"/>
            </a:pPr>
            <a:r>
              <a:rPr lang="fr-FR" sz="1600" dirty="0"/>
              <a:t>Hôtel, </a:t>
            </a:r>
          </a:p>
          <a:p>
            <a:pPr marL="285750" indent="-285750">
              <a:buFont typeface="Arial" panose="020B0604020202020204" pitchFamily="34" charset="0"/>
              <a:buChar char="•"/>
            </a:pPr>
            <a:r>
              <a:rPr lang="fr-FR" sz="1600" dirty="0"/>
              <a:t>5 min bateau / club</a:t>
            </a:r>
          </a:p>
          <a:p>
            <a:pPr marL="285750" indent="-285750">
              <a:buFont typeface="Arial" panose="020B0604020202020204" pitchFamily="34" charset="0"/>
              <a:buChar char="•"/>
            </a:pPr>
            <a:r>
              <a:rPr lang="fr-FR" sz="1600" dirty="0"/>
              <a:t>Repas: hôtel</a:t>
            </a:r>
          </a:p>
        </p:txBody>
      </p:sp>
      <p:sp>
        <p:nvSpPr>
          <p:cNvPr id="22" name="ZoneTexte 21">
            <a:extLst>
              <a:ext uri="{FF2B5EF4-FFF2-40B4-BE49-F238E27FC236}">
                <a16:creationId xmlns:a16="http://schemas.microsoft.com/office/drawing/2014/main" id="{AB42E386-3486-54DD-0A6F-D435B0D2EA6C}"/>
              </a:ext>
            </a:extLst>
          </p:cNvPr>
          <p:cNvSpPr txBox="1"/>
          <p:nvPr/>
        </p:nvSpPr>
        <p:spPr>
          <a:xfrm>
            <a:off x="2964734" y="1812644"/>
            <a:ext cx="2400285" cy="1354217"/>
          </a:xfrm>
          <a:prstGeom prst="rect">
            <a:avLst/>
          </a:prstGeom>
          <a:solidFill>
            <a:schemeClr val="bg2">
              <a:lumMod val="90000"/>
            </a:schemeClr>
          </a:solidFill>
          <a:ln>
            <a:solidFill>
              <a:schemeClr val="bg2">
                <a:lumMod val="25000"/>
              </a:schemeClr>
            </a:solidFill>
          </a:ln>
        </p:spPr>
        <p:txBody>
          <a:bodyPr wrap="square" rtlCol="0">
            <a:spAutoFit/>
          </a:bodyPr>
          <a:lstStyle/>
          <a:p>
            <a:pPr algn="ctr"/>
            <a:r>
              <a:rPr lang="fr-FR" dirty="0"/>
              <a:t>B.C.</a:t>
            </a:r>
          </a:p>
          <a:p>
            <a:pPr marL="285750" indent="-285750">
              <a:buFont typeface="Arial" panose="020B0604020202020204" pitchFamily="34" charset="0"/>
              <a:buChar char="•"/>
            </a:pPr>
            <a:r>
              <a:rPr lang="fr-FR" sz="1600" dirty="0"/>
              <a:t>Mise à l’eau</a:t>
            </a:r>
          </a:p>
          <a:p>
            <a:pPr marL="285750" indent="-285750">
              <a:buFont typeface="Arial" panose="020B0604020202020204" pitchFamily="34" charset="0"/>
              <a:buChar char="•"/>
            </a:pPr>
            <a:r>
              <a:rPr lang="fr-FR" sz="1600" dirty="0"/>
              <a:t>Propulsion</a:t>
            </a:r>
          </a:p>
          <a:p>
            <a:pPr marL="285750" indent="-285750">
              <a:buFont typeface="Arial" panose="020B0604020202020204" pitchFamily="34" charset="0"/>
              <a:buChar char="•"/>
            </a:pPr>
            <a:r>
              <a:rPr lang="fr-FR" sz="1600" dirty="0"/>
              <a:t>Evolution palanquée</a:t>
            </a:r>
          </a:p>
          <a:p>
            <a:pPr marL="285750" indent="-285750">
              <a:buFont typeface="Arial" panose="020B0604020202020204" pitchFamily="34" charset="0"/>
              <a:buChar char="•"/>
            </a:pPr>
            <a:r>
              <a:rPr lang="fr-FR" sz="1600" dirty="0"/>
              <a:t>Remontée</a:t>
            </a:r>
          </a:p>
        </p:txBody>
      </p:sp>
      <p:pic>
        <p:nvPicPr>
          <p:cNvPr id="5" name="sejourn1">
            <a:hlinkClick r:id="" action="ppaction://media"/>
            <a:extLst>
              <a:ext uri="{FF2B5EF4-FFF2-40B4-BE49-F238E27FC236}">
                <a16:creationId xmlns:a16="http://schemas.microsoft.com/office/drawing/2014/main" id="{3D7E94E2-DFD2-6741-9415-BC7C1C661D6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873923" y="4228181"/>
            <a:ext cx="812800" cy="812800"/>
          </a:xfrm>
          <a:prstGeom prst="rect">
            <a:avLst/>
          </a:prstGeom>
        </p:spPr>
      </p:pic>
    </p:spTree>
    <p:extLst>
      <p:ext uri="{BB962C8B-B14F-4D97-AF65-F5344CB8AC3E}">
        <p14:creationId xmlns:p14="http://schemas.microsoft.com/office/powerpoint/2010/main" val="2469936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90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6708</TotalTime>
  <Words>652</Words>
  <Application>Microsoft Macintosh PowerPoint</Application>
  <PresentationFormat>Grand écran</PresentationFormat>
  <Paragraphs>75</Paragraphs>
  <Slides>1</Slides>
  <Notes>1</Notes>
  <HiddenSlides>0</HiddenSlides>
  <MMClips>1</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Aptos</vt:lpstr>
      <vt:lpstr>Aptos Display</vt:lpstr>
      <vt:lpstr>Arial</vt:lpstr>
      <vt:lpstr>Thème Office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Olivier Artigue</dc:creator>
  <cp:lastModifiedBy>Olivier Artigue</cp:lastModifiedBy>
  <cp:revision>21</cp:revision>
  <dcterms:created xsi:type="dcterms:W3CDTF">2025-09-29T11:28:50Z</dcterms:created>
  <dcterms:modified xsi:type="dcterms:W3CDTF">2025-10-15T12:54:17Z</dcterms:modified>
</cp:coreProperties>
</file>